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 — 솔루션 5종과 시장 근거 3가지. 제작·노출·판매·성과 흐름으로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LAB 통합 요약 — 단독 1장으로도 사용 가능. 5개 솔루션의 역할, 데이터 연결, 대상별 활용.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솔루션 이미지맵 — 단독 1장 배포용. 커머스허브/MI 화면은 확보 후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MI는 AI 솔루션이 아닌 데이터 인프라·운영 자동화 영역. 6종 솔루션이 공유하는 수집·정규화·집계 기반이 자체 기술임을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pic>
        <p:nvPicPr>
          <p:cNvPr id="4" name="Image 0" descr="/home/user/mplanit/ai-solution/assets/png/logo-mplan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399" y="419099"/>
            <a:ext cx="1095372" cy="36303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29677" y="438149"/>
            <a:ext cx="2628893" cy="266699"/>
          </a:xfrm>
          <a:prstGeom prst="roundRect">
            <a:avLst>
              <a:gd name="adj" fmla="val 41143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029677" y="438149"/>
            <a:ext cx="262889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솔루션 소개서 · 2026.09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33399" y="1219197"/>
            <a:ext cx="8572479" cy="1047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0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 · 노출 · 판매 · 성과
</a:t>
            </a:r>
            <a:pPr indent="0" marL="0">
              <a:lnSpc>
                <a:spcPct val="116000"/>
              </a:lnSpc>
              <a:buNone/>
            </a:pPr>
            <a:r>
              <a:rPr lang="en-US" sz="3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광고 실무 전 과정의 AI 전환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33399" y="2362194"/>
            <a:ext cx="11048972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솔루션 5종 + 데이터 인프라 1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  —  M Ai Platform · AI LAB · 커머스허브 · MI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33399" y="2724143"/>
            <a:ext cx="2085970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3399" y="2724143"/>
            <a:ext cx="208597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Banner Fit · Reels Studio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2619368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90818" y="2724143"/>
            <a:ext cx="1495421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0818" y="2724143"/>
            <a:ext cx="1495421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GEO Metric Care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286239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457689" y="2724143"/>
            <a:ext cx="904873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57689" y="2724143"/>
            <a:ext cx="90487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커머스허브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5362562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534011" y="2724143"/>
            <a:ext cx="904873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34011" y="2724143"/>
            <a:ext cx="904873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애드리포트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438884" y="2724143"/>
            <a:ext cx="171450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10333" y="2724143"/>
            <a:ext cx="1318257" cy="266699"/>
          </a:xfrm>
          <a:prstGeom prst="roundRect">
            <a:avLst>
              <a:gd name="adj" fmla="val 34286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10333" y="2724143"/>
            <a:ext cx="1318257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기반  </a:t>
            </a:r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MI · 데이터 인프라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33399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7698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7698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952498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47698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 FIT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647698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 생성 · 규격 변형 · 레이어 편집 · 영상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647698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647698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라이트 · 에디터 2모드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2400294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514594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514594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2819393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2514594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REELS STUDIO</a:t>
            </a:r>
            <a:endParaRPr lang="en-US" sz="650" dirty="0"/>
          </a:p>
        </p:txBody>
      </p:sp>
      <p:sp>
        <p:nvSpPr>
          <p:cNvPr id="36" name="Text 33"/>
          <p:cNvSpPr txBox="1"/>
          <p:nvPr/>
        </p:nvSpPr>
        <p:spPr>
          <a:xfrm>
            <a:off x="2514594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입력 · 컷 승인형 숏폼 제작</a:t>
            </a:r>
            <a:endParaRPr lang="en-US" sz="750" dirty="0"/>
          </a:p>
        </p:txBody>
      </p:sp>
      <p:sp>
        <p:nvSpPr>
          <p:cNvPr id="37" name="Shape 34"/>
          <p:cNvSpPr/>
          <p:nvPr/>
        </p:nvSpPr>
        <p:spPr>
          <a:xfrm>
            <a:off x="2514594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2514594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컷 승인형 렌더</a:t>
            </a:r>
            <a:endParaRPr lang="en-US" sz="700" dirty="0"/>
          </a:p>
        </p:txBody>
      </p:sp>
      <p:sp>
        <p:nvSpPr>
          <p:cNvPr id="39" name="Shape 36"/>
          <p:cNvSpPr/>
          <p:nvPr/>
        </p:nvSpPr>
        <p:spPr>
          <a:xfrm>
            <a:off x="4267189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381489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381489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3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4686288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메트릭 케어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4381489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METRIC CARE</a:t>
            </a:r>
            <a:endParaRPr lang="en-US" sz="650" dirty="0"/>
          </a:p>
        </p:txBody>
      </p:sp>
      <p:sp>
        <p:nvSpPr>
          <p:cNvPr id="44" name="Text 41"/>
          <p:cNvSpPr txBox="1"/>
          <p:nvPr/>
        </p:nvSpPr>
        <p:spPr>
          <a:xfrm>
            <a:off x="4381489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검색 노출 진단 · 개선 가이드</a:t>
            </a:r>
            <a:endParaRPr lang="en-US" sz="750" dirty="0"/>
          </a:p>
        </p:txBody>
      </p:sp>
      <p:sp>
        <p:nvSpPr>
          <p:cNvPr id="45" name="Shape 42"/>
          <p:cNvSpPr/>
          <p:nvPr/>
        </p:nvSpPr>
        <p:spPr>
          <a:xfrm>
            <a:off x="4381489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4381489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종합 · SEO · GEO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6134085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248384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248384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4</a:t>
            </a:r>
            <a:endParaRPr lang="en-US" sz="900" dirty="0"/>
          </a:p>
        </p:txBody>
      </p:sp>
      <p:sp>
        <p:nvSpPr>
          <p:cNvPr id="50" name="Text 47"/>
          <p:cNvSpPr txBox="1"/>
          <p:nvPr/>
        </p:nvSpPr>
        <p:spPr>
          <a:xfrm>
            <a:off x="6553184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6248384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COMMERCE HUB</a:t>
            </a:r>
            <a:endParaRPr lang="en-US" sz="650" dirty="0"/>
          </a:p>
        </p:txBody>
      </p:sp>
      <p:sp>
        <p:nvSpPr>
          <p:cNvPr id="52" name="Text 49"/>
          <p:cNvSpPr txBox="1"/>
          <p:nvPr/>
        </p:nvSpPr>
        <p:spPr>
          <a:xfrm>
            <a:off x="6248384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마켓 주문 · 정산 · 재고 통합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248384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54" name="Text 51"/>
          <p:cNvSpPr txBox="1"/>
          <p:nvPr/>
        </p:nvSpPr>
        <p:spPr>
          <a:xfrm>
            <a:off x="6248384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 주문 · 06:30 정산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8000980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115280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8115280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5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8420079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8115280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AD REPORT</a:t>
            </a:r>
            <a:endParaRPr lang="en-US" sz="650" dirty="0"/>
          </a:p>
        </p:txBody>
      </p:sp>
      <p:sp>
        <p:nvSpPr>
          <p:cNvPr id="60" name="Text 57"/>
          <p:cNvSpPr txBox="1"/>
          <p:nvPr/>
        </p:nvSpPr>
        <p:spPr>
          <a:xfrm>
            <a:off x="8115280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14개 매체 성과 · ROAS · 알림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8115280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62" name="Text 59"/>
          <p:cNvSpPr txBox="1"/>
          <p:nvPr/>
        </p:nvSpPr>
        <p:spPr>
          <a:xfrm>
            <a:off x="8115280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 이상 즉시 알림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9867875" y="3181342"/>
            <a:ext cx="1771646" cy="1714496"/>
          </a:xfrm>
          <a:prstGeom prst="roundRect">
            <a:avLst>
              <a:gd name="adj" fmla="val 3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982175" y="3333742"/>
            <a:ext cx="228599" cy="228599"/>
          </a:xfrm>
          <a:prstGeom prst="roundRect">
            <a:avLst>
              <a:gd name="adj" fmla="val 40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9982175" y="3333742"/>
            <a:ext cx="228599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6</a:t>
            </a:r>
            <a:endParaRPr lang="en-US" sz="900" dirty="0"/>
          </a:p>
        </p:txBody>
      </p:sp>
      <p:sp>
        <p:nvSpPr>
          <p:cNvPr id="66" name="Text 63"/>
          <p:cNvSpPr txBox="1"/>
          <p:nvPr/>
        </p:nvSpPr>
        <p:spPr>
          <a:xfrm>
            <a:off x="10286974" y="3333742"/>
            <a:ext cx="125729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9982175" y="3619491"/>
            <a:ext cx="15430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DATA INFRA · AI 솔루션 아님</a:t>
            </a:r>
            <a:endParaRPr lang="en-US" sz="650" dirty="0"/>
          </a:p>
        </p:txBody>
      </p:sp>
      <p:sp>
        <p:nvSpPr>
          <p:cNvPr id="68" name="Text 65"/>
          <p:cNvSpPr txBox="1"/>
          <p:nvPr/>
        </p:nvSpPr>
        <p:spPr>
          <a:xfrm>
            <a:off x="9982175" y="3809990"/>
            <a:ext cx="1543046" cy="666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자동입찰 · 대량 리포트 · 데이터 인프라</a:t>
            </a:r>
            <a:endParaRPr lang="en-US" sz="750" dirty="0"/>
          </a:p>
        </p:txBody>
      </p:sp>
      <p:sp>
        <p:nvSpPr>
          <p:cNvPr id="69" name="Shape 66"/>
          <p:cNvSpPr/>
          <p:nvPr/>
        </p:nvSpPr>
        <p:spPr>
          <a:xfrm>
            <a:off x="9982175" y="4552939"/>
            <a:ext cx="1543046" cy="0"/>
          </a:xfrm>
          <a:prstGeom prst="line">
            <a:avLst/>
          </a:prstGeom>
          <a:noFill/>
          <a:ln w="6350">
            <a:solidFill>
              <a:srgbClr val="CFDCEE"/>
            </a:solidFill>
            <a:prstDash val="dash"/>
          </a:ln>
        </p:spPr>
      </p:sp>
      <p:sp>
        <p:nvSpPr>
          <p:cNvPr id="70" name="Text 67"/>
          <p:cNvSpPr txBox="1"/>
          <p:nvPr/>
        </p:nvSpPr>
        <p:spPr>
          <a:xfrm>
            <a:off x="9982175" y="4610088"/>
            <a:ext cx="15430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기술 기반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533399" y="5124437"/>
            <a:ext cx="92582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연동 광고 매체 14</a:t>
            </a:r>
            <a:endParaRPr lang="en-US" sz="750" dirty="0"/>
          </a:p>
        </p:txBody>
      </p:sp>
      <p:sp>
        <p:nvSpPr>
          <p:cNvPr id="72" name="Shape 69"/>
          <p:cNvSpPr/>
          <p:nvPr/>
        </p:nvSpPr>
        <p:spPr>
          <a:xfrm>
            <a:off x="1497326" y="5124437"/>
            <a:ext cx="843913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3" name="Image 1" descr="/home/user/mplanit/ai-solution/assets/png/icon-na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001" y="5176825"/>
            <a:ext cx="104775" cy="104775"/>
          </a:xfrm>
          <a:prstGeom prst="rect">
            <a:avLst/>
          </a:prstGeom>
        </p:spPr>
      </p:pic>
      <p:sp>
        <p:nvSpPr>
          <p:cNvPr id="74" name="Text 70"/>
          <p:cNvSpPr txBox="1"/>
          <p:nvPr/>
        </p:nvSpPr>
        <p:spPr>
          <a:xfrm>
            <a:off x="1687826" y="5124437"/>
            <a:ext cx="634363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</a:t>
            </a:r>
            <a:endParaRPr lang="en-US" sz="750" dirty="0"/>
          </a:p>
        </p:txBody>
      </p:sp>
      <p:sp>
        <p:nvSpPr>
          <p:cNvPr id="75" name="Shape 71"/>
          <p:cNvSpPr/>
          <p:nvPr/>
        </p:nvSpPr>
        <p:spPr>
          <a:xfrm>
            <a:off x="2398389" y="5124437"/>
            <a:ext cx="4076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2474589" y="5200637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2560314" y="5124437"/>
            <a:ext cx="21716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GFA</a:t>
            </a:r>
            <a:endParaRPr lang="en-US" sz="750" dirty="0"/>
          </a:p>
        </p:txBody>
      </p:sp>
      <p:sp>
        <p:nvSpPr>
          <p:cNvPr id="78" name="Shape 74"/>
          <p:cNvSpPr/>
          <p:nvPr/>
        </p:nvSpPr>
        <p:spPr>
          <a:xfrm>
            <a:off x="2863208" y="5124437"/>
            <a:ext cx="46100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2939408" y="5200637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3025132" y="5124437"/>
            <a:ext cx="27050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NOSP</a:t>
            </a:r>
            <a:endParaRPr lang="en-US" sz="750" dirty="0"/>
          </a:p>
        </p:txBody>
      </p:sp>
      <p:sp>
        <p:nvSpPr>
          <p:cNvPr id="81" name="Shape 77"/>
          <p:cNvSpPr/>
          <p:nvPr/>
        </p:nvSpPr>
        <p:spPr>
          <a:xfrm>
            <a:off x="3381367" y="5124437"/>
            <a:ext cx="83057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3457566" y="5200637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3543291" y="5124437"/>
            <a:ext cx="640078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카카오모먼트</a:t>
            </a:r>
            <a:endParaRPr lang="en-US" sz="750" dirty="0"/>
          </a:p>
        </p:txBody>
      </p:sp>
      <p:sp>
        <p:nvSpPr>
          <p:cNvPr id="84" name="Shape 80"/>
          <p:cNvSpPr/>
          <p:nvPr/>
        </p:nvSpPr>
        <p:spPr>
          <a:xfrm>
            <a:off x="4269094" y="5124437"/>
            <a:ext cx="733423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4345294" y="5200637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4431019" y="5124437"/>
            <a:ext cx="542924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카카오페이</a:t>
            </a:r>
            <a:endParaRPr lang="en-US" sz="750" dirty="0"/>
          </a:p>
        </p:txBody>
      </p:sp>
      <p:sp>
        <p:nvSpPr>
          <p:cNvPr id="87" name="Shape 83"/>
          <p:cNvSpPr/>
          <p:nvPr/>
        </p:nvSpPr>
        <p:spPr>
          <a:xfrm>
            <a:off x="5059667" y="5124437"/>
            <a:ext cx="83819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88" name="Image 2" descr="/home/user/mplanit/ai-solution/assets/png/icon-googlea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342" y="5176825"/>
            <a:ext cx="104775" cy="104775"/>
          </a:xfrm>
          <a:prstGeom prst="rect">
            <a:avLst/>
          </a:prstGeom>
        </p:spPr>
      </p:pic>
      <p:sp>
        <p:nvSpPr>
          <p:cNvPr id="89" name="Text 84"/>
          <p:cNvSpPr txBox="1"/>
          <p:nvPr/>
        </p:nvSpPr>
        <p:spPr>
          <a:xfrm>
            <a:off x="5250167" y="5124437"/>
            <a:ext cx="628648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Google Ads</a:t>
            </a:r>
            <a:endParaRPr lang="en-US" sz="750" dirty="0"/>
          </a:p>
        </p:txBody>
      </p:sp>
      <p:sp>
        <p:nvSpPr>
          <p:cNvPr id="90" name="Shape 85"/>
          <p:cNvSpPr/>
          <p:nvPr/>
        </p:nvSpPr>
        <p:spPr>
          <a:xfrm>
            <a:off x="5955015" y="5124437"/>
            <a:ext cx="49910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91" name="Image 3" descr="/home/user/mplanit/ai-solution/assets/png/icon-m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1690" y="5176825"/>
            <a:ext cx="104775" cy="104775"/>
          </a:xfrm>
          <a:prstGeom prst="rect">
            <a:avLst/>
          </a:prstGeom>
        </p:spPr>
      </p:pic>
      <p:sp>
        <p:nvSpPr>
          <p:cNvPr id="92" name="Text 86"/>
          <p:cNvSpPr txBox="1"/>
          <p:nvPr/>
        </p:nvSpPr>
        <p:spPr>
          <a:xfrm>
            <a:off x="6145515" y="5124437"/>
            <a:ext cx="28955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메타</a:t>
            </a:r>
            <a:endParaRPr lang="en-US" sz="750" dirty="0"/>
          </a:p>
        </p:txBody>
      </p:sp>
      <p:sp>
        <p:nvSpPr>
          <p:cNvPr id="93" name="Shape 87"/>
          <p:cNvSpPr/>
          <p:nvPr/>
        </p:nvSpPr>
        <p:spPr>
          <a:xfrm>
            <a:off x="6511274" y="5124437"/>
            <a:ext cx="49910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94" name="Image 4" descr="/home/user/mplanit/ai-solution/assets/png/icon-tikt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7949" y="5176825"/>
            <a:ext cx="104775" cy="104775"/>
          </a:xfrm>
          <a:prstGeom prst="rect">
            <a:avLst/>
          </a:prstGeom>
        </p:spPr>
      </p:pic>
      <p:sp>
        <p:nvSpPr>
          <p:cNvPr id="95" name="Text 88"/>
          <p:cNvSpPr txBox="1"/>
          <p:nvPr/>
        </p:nvSpPr>
        <p:spPr>
          <a:xfrm>
            <a:off x="6701773" y="5124437"/>
            <a:ext cx="28955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틱톡</a:t>
            </a:r>
            <a:endParaRPr lang="en-US" sz="750" dirty="0"/>
          </a:p>
        </p:txBody>
      </p:sp>
      <p:sp>
        <p:nvSpPr>
          <p:cNvPr id="96" name="Shape 89"/>
          <p:cNvSpPr/>
          <p:nvPr/>
        </p:nvSpPr>
        <p:spPr>
          <a:xfrm>
            <a:off x="7067532" y="5124437"/>
            <a:ext cx="63626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7" name="Shape 90"/>
          <p:cNvSpPr/>
          <p:nvPr/>
        </p:nvSpPr>
        <p:spPr>
          <a:xfrm>
            <a:off x="7143732" y="5200637"/>
            <a:ext cx="57150" cy="57150"/>
          </a:xfrm>
          <a:prstGeom prst="ellipse">
            <a:avLst/>
          </a:prstGeom>
          <a:solidFill>
            <a:srgbClr val="F76B15"/>
          </a:solidFill>
          <a:ln w="12700">
            <a:solidFill>
              <a:srgbClr val="F76B15"/>
            </a:solidFill>
            <a:prstDash val="solid"/>
          </a:ln>
        </p:spPr>
      </p:sp>
      <p:sp>
        <p:nvSpPr>
          <p:cNvPr id="98" name="Text 91"/>
          <p:cNvSpPr txBox="1"/>
          <p:nvPr/>
        </p:nvSpPr>
        <p:spPr>
          <a:xfrm>
            <a:off x="7229457" y="5124437"/>
            <a:ext cx="44576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크리테오</a:t>
            </a:r>
            <a:endParaRPr lang="en-US" sz="750" dirty="0"/>
          </a:p>
        </p:txBody>
      </p:sp>
      <p:sp>
        <p:nvSpPr>
          <p:cNvPr id="99" name="Shape 92"/>
          <p:cNvSpPr/>
          <p:nvPr/>
        </p:nvSpPr>
        <p:spPr>
          <a:xfrm>
            <a:off x="7760951" y="5124437"/>
            <a:ext cx="539114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0" name="Shape 93"/>
          <p:cNvSpPr/>
          <p:nvPr/>
        </p:nvSpPr>
        <p:spPr>
          <a:xfrm>
            <a:off x="7837150" y="5200637"/>
            <a:ext cx="57150" cy="5715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7922875" y="5124437"/>
            <a:ext cx="348614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타불라</a:t>
            </a:r>
            <a:endParaRPr lang="en-US" sz="750" dirty="0"/>
          </a:p>
        </p:txBody>
      </p:sp>
      <p:sp>
        <p:nvSpPr>
          <p:cNvPr id="102" name="Shape 95"/>
          <p:cNvSpPr/>
          <p:nvPr/>
        </p:nvSpPr>
        <p:spPr>
          <a:xfrm>
            <a:off x="8357214" y="5124437"/>
            <a:ext cx="78485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03" name="Image 5" descr="/home/user/mplanit/ai-solution/assets/png/icon-app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3889" y="5176825"/>
            <a:ext cx="104775" cy="104775"/>
          </a:xfrm>
          <a:prstGeom prst="rect">
            <a:avLst/>
          </a:prstGeom>
        </p:spPr>
      </p:pic>
      <p:sp>
        <p:nvSpPr>
          <p:cNvPr id="104" name="Text 96"/>
          <p:cNvSpPr txBox="1"/>
          <p:nvPr/>
        </p:nvSpPr>
        <p:spPr>
          <a:xfrm>
            <a:off x="8547714" y="5124437"/>
            <a:ext cx="57530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Apple Ads</a:t>
            </a:r>
            <a:endParaRPr lang="en-US" sz="750" dirty="0"/>
          </a:p>
        </p:txBody>
      </p:sp>
      <p:sp>
        <p:nvSpPr>
          <p:cNvPr id="105" name="Shape 97"/>
          <p:cNvSpPr/>
          <p:nvPr/>
        </p:nvSpPr>
        <p:spPr>
          <a:xfrm>
            <a:off x="9199222" y="5124437"/>
            <a:ext cx="4419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6" name="Shape 98"/>
          <p:cNvSpPr/>
          <p:nvPr/>
        </p:nvSpPr>
        <p:spPr>
          <a:xfrm>
            <a:off x="9275422" y="5200637"/>
            <a:ext cx="57150" cy="57150"/>
          </a:xfrm>
          <a:prstGeom prst="ellipse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107" name="Text 99"/>
          <p:cNvSpPr txBox="1"/>
          <p:nvPr/>
        </p:nvSpPr>
        <p:spPr>
          <a:xfrm>
            <a:off x="9361147" y="5124437"/>
            <a:ext cx="25145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당근</a:t>
            </a:r>
            <a:endParaRPr lang="en-US" sz="750" dirty="0"/>
          </a:p>
        </p:txBody>
      </p:sp>
      <p:sp>
        <p:nvSpPr>
          <p:cNvPr id="108" name="Shape 100"/>
          <p:cNvSpPr/>
          <p:nvPr/>
        </p:nvSpPr>
        <p:spPr>
          <a:xfrm>
            <a:off x="9698331" y="5124437"/>
            <a:ext cx="539114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9" name="Shape 101"/>
          <p:cNvSpPr/>
          <p:nvPr/>
        </p:nvSpPr>
        <p:spPr>
          <a:xfrm>
            <a:off x="9774531" y="5200637"/>
            <a:ext cx="57150" cy="57150"/>
          </a:xfrm>
          <a:prstGeom prst="ellipse">
            <a:avLst/>
          </a:prstGeom>
          <a:solidFill>
            <a:srgbClr val="6B7A90"/>
          </a:solidFill>
          <a:ln w="12700">
            <a:solidFill>
              <a:srgbClr val="6B7A90"/>
            </a:solidFill>
            <a:prstDash val="solid"/>
          </a:ln>
        </p:spPr>
      </p:sp>
      <p:sp>
        <p:nvSpPr>
          <p:cNvPr id="110" name="Text 102"/>
          <p:cNvSpPr txBox="1"/>
          <p:nvPr/>
        </p:nvSpPr>
        <p:spPr>
          <a:xfrm>
            <a:off x="9860255" y="5124437"/>
            <a:ext cx="348614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모비온</a:t>
            </a:r>
            <a:endParaRPr lang="en-US" sz="750" dirty="0"/>
          </a:p>
        </p:txBody>
      </p:sp>
      <p:sp>
        <p:nvSpPr>
          <p:cNvPr id="111" name="Shape 103"/>
          <p:cNvSpPr/>
          <p:nvPr/>
        </p:nvSpPr>
        <p:spPr>
          <a:xfrm>
            <a:off x="10294594" y="5124437"/>
            <a:ext cx="63626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2" name="Shape 104"/>
          <p:cNvSpPr/>
          <p:nvPr/>
        </p:nvSpPr>
        <p:spPr>
          <a:xfrm>
            <a:off x="10370794" y="5200637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113" name="Text 105"/>
          <p:cNvSpPr txBox="1"/>
          <p:nvPr/>
        </p:nvSpPr>
        <p:spPr>
          <a:xfrm>
            <a:off x="10456519" y="5124437"/>
            <a:ext cx="44576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토스애즈</a:t>
            </a:r>
            <a:endParaRPr lang="en-US" sz="750" dirty="0"/>
          </a:p>
        </p:txBody>
      </p:sp>
      <p:sp>
        <p:nvSpPr>
          <p:cNvPr id="114" name="Text 106"/>
          <p:cNvSpPr txBox="1"/>
          <p:nvPr/>
        </p:nvSpPr>
        <p:spPr>
          <a:xfrm>
            <a:off x="10988013" y="5124437"/>
            <a:ext cx="624838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 채널 7</a:t>
            </a:r>
            <a:endParaRPr lang="en-US" sz="750" dirty="0"/>
          </a:p>
        </p:txBody>
      </p:sp>
      <p:sp>
        <p:nvSpPr>
          <p:cNvPr id="115" name="Shape 107"/>
          <p:cNvSpPr/>
          <p:nvPr/>
        </p:nvSpPr>
        <p:spPr>
          <a:xfrm>
            <a:off x="533399" y="5391137"/>
            <a:ext cx="88772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116" name="Image 6" descr="/home/user/mplanit/ai-solution/assets/png/icon-nav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0073" y="5443524"/>
            <a:ext cx="104775" cy="104775"/>
          </a:xfrm>
          <a:prstGeom prst="rect">
            <a:avLst/>
          </a:prstGeom>
        </p:spPr>
      </p:pic>
      <p:sp>
        <p:nvSpPr>
          <p:cNvPr id="117" name="Text 108"/>
          <p:cNvSpPr txBox="1"/>
          <p:nvPr/>
        </p:nvSpPr>
        <p:spPr>
          <a:xfrm>
            <a:off x="723898" y="5391137"/>
            <a:ext cx="678178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스마트스토어</a:t>
            </a:r>
            <a:endParaRPr lang="en-US" sz="750" dirty="0"/>
          </a:p>
        </p:txBody>
      </p:sp>
      <p:sp>
        <p:nvSpPr>
          <p:cNvPr id="118" name="Shape 109"/>
          <p:cNvSpPr/>
          <p:nvPr/>
        </p:nvSpPr>
        <p:spPr>
          <a:xfrm>
            <a:off x="1478276" y="5391137"/>
            <a:ext cx="4419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9" name="Shape 110"/>
          <p:cNvSpPr/>
          <p:nvPr/>
        </p:nvSpPr>
        <p:spPr>
          <a:xfrm>
            <a:off x="1554476" y="5467336"/>
            <a:ext cx="57150" cy="57150"/>
          </a:xfrm>
          <a:prstGeom prst="ellipse">
            <a:avLst/>
          </a:prstGeom>
          <a:solidFill>
            <a:srgbClr val="C4161C"/>
          </a:solidFill>
          <a:ln w="12700">
            <a:solidFill>
              <a:srgbClr val="C4161C"/>
            </a:solidFill>
            <a:prstDash val="solid"/>
          </a:ln>
        </p:spPr>
      </p:sp>
      <p:sp>
        <p:nvSpPr>
          <p:cNvPr id="120" name="Text 111"/>
          <p:cNvSpPr txBox="1"/>
          <p:nvPr/>
        </p:nvSpPr>
        <p:spPr>
          <a:xfrm>
            <a:off x="1640201" y="5391137"/>
            <a:ext cx="25145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쿠팡</a:t>
            </a:r>
            <a:endParaRPr lang="en-US" sz="750" dirty="0"/>
          </a:p>
        </p:txBody>
      </p:sp>
      <p:sp>
        <p:nvSpPr>
          <p:cNvPr id="121" name="Shape 112"/>
          <p:cNvSpPr/>
          <p:nvPr/>
        </p:nvSpPr>
        <p:spPr>
          <a:xfrm>
            <a:off x="1977385" y="5391137"/>
            <a:ext cx="54863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2" name="Shape 113"/>
          <p:cNvSpPr/>
          <p:nvPr/>
        </p:nvSpPr>
        <p:spPr>
          <a:xfrm>
            <a:off x="2053585" y="5467336"/>
            <a:ext cx="57150" cy="57150"/>
          </a:xfrm>
          <a:prstGeom prst="ellipse">
            <a:avLst/>
          </a:prstGeom>
          <a:solidFill>
            <a:srgbClr val="1B5FAA"/>
          </a:solidFill>
          <a:ln w="12700">
            <a:solidFill>
              <a:srgbClr val="1B5FAA"/>
            </a:solidFill>
            <a:prstDash val="solid"/>
          </a:ln>
        </p:spPr>
      </p:sp>
      <p:sp>
        <p:nvSpPr>
          <p:cNvPr id="123" name="Text 114"/>
          <p:cNvSpPr txBox="1"/>
          <p:nvPr/>
        </p:nvSpPr>
        <p:spPr>
          <a:xfrm>
            <a:off x="2139310" y="5391137"/>
            <a:ext cx="35813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카페24</a:t>
            </a:r>
            <a:endParaRPr lang="en-US" sz="750" dirty="0"/>
          </a:p>
        </p:txBody>
      </p:sp>
      <p:sp>
        <p:nvSpPr>
          <p:cNvPr id="124" name="Shape 115"/>
          <p:cNvSpPr/>
          <p:nvPr/>
        </p:nvSpPr>
        <p:spPr>
          <a:xfrm>
            <a:off x="2583174" y="5391137"/>
            <a:ext cx="54863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5" name="Shape 116"/>
          <p:cNvSpPr/>
          <p:nvPr/>
        </p:nvSpPr>
        <p:spPr>
          <a:xfrm>
            <a:off x="2659373" y="5467336"/>
            <a:ext cx="57150" cy="57150"/>
          </a:xfrm>
          <a:prstGeom prst="ellipse">
            <a:avLst/>
          </a:prstGeom>
          <a:solidFill>
            <a:srgbClr val="FF0038"/>
          </a:solidFill>
          <a:ln w="12700">
            <a:solidFill>
              <a:srgbClr val="FF0038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2745098" y="5391137"/>
            <a:ext cx="35813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11번가</a:t>
            </a:r>
            <a:endParaRPr lang="en-US" sz="750" dirty="0"/>
          </a:p>
        </p:txBody>
      </p:sp>
      <p:sp>
        <p:nvSpPr>
          <p:cNvPr id="127" name="Shape 118"/>
          <p:cNvSpPr/>
          <p:nvPr/>
        </p:nvSpPr>
        <p:spPr>
          <a:xfrm>
            <a:off x="3188962" y="5391137"/>
            <a:ext cx="63626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28" name="Shape 119"/>
          <p:cNvSpPr/>
          <p:nvPr/>
        </p:nvSpPr>
        <p:spPr>
          <a:xfrm>
            <a:off x="3265162" y="5467336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129" name="Text 120"/>
          <p:cNvSpPr txBox="1"/>
          <p:nvPr/>
        </p:nvSpPr>
        <p:spPr>
          <a:xfrm>
            <a:off x="3350887" y="5391137"/>
            <a:ext cx="44576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토스쇼핑</a:t>
            </a:r>
            <a:endParaRPr lang="en-US" sz="750" dirty="0"/>
          </a:p>
        </p:txBody>
      </p:sp>
      <p:sp>
        <p:nvSpPr>
          <p:cNvPr id="130" name="Shape 121"/>
          <p:cNvSpPr/>
          <p:nvPr/>
        </p:nvSpPr>
        <p:spPr>
          <a:xfrm>
            <a:off x="3882380" y="5391137"/>
            <a:ext cx="74294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1" name="Shape 122"/>
          <p:cNvSpPr/>
          <p:nvPr/>
        </p:nvSpPr>
        <p:spPr>
          <a:xfrm>
            <a:off x="3958580" y="5467336"/>
            <a:ext cx="57150" cy="57150"/>
          </a:xfrm>
          <a:prstGeom prst="ellipse">
            <a:avLst/>
          </a:prstGeom>
          <a:solidFill>
            <a:srgbClr val="00A650"/>
          </a:solidFill>
          <a:ln w="12700">
            <a:solidFill>
              <a:srgbClr val="00A650"/>
            </a:solidFill>
            <a:prstDash val="solid"/>
          </a:ln>
        </p:spPr>
      </p:sp>
      <p:sp>
        <p:nvSpPr>
          <p:cNvPr id="132" name="Text 123"/>
          <p:cNvSpPr txBox="1"/>
          <p:nvPr/>
        </p:nvSpPr>
        <p:spPr>
          <a:xfrm>
            <a:off x="4044305" y="5391137"/>
            <a:ext cx="55244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G마켓·옥션</a:t>
            </a:r>
            <a:endParaRPr lang="en-US" sz="750" dirty="0"/>
          </a:p>
        </p:txBody>
      </p:sp>
      <p:sp>
        <p:nvSpPr>
          <p:cNvPr id="133" name="Shape 124"/>
          <p:cNvSpPr/>
          <p:nvPr/>
        </p:nvSpPr>
        <p:spPr>
          <a:xfrm>
            <a:off x="4682478" y="5391137"/>
            <a:ext cx="123824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4" name="Shape 125"/>
          <p:cNvSpPr/>
          <p:nvPr/>
        </p:nvSpPr>
        <p:spPr>
          <a:xfrm>
            <a:off x="4758678" y="5467336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35" name="Text 126"/>
          <p:cNvSpPr txBox="1"/>
          <p:nvPr/>
        </p:nvSpPr>
        <p:spPr>
          <a:xfrm>
            <a:off x="4844403" y="5391137"/>
            <a:ext cx="1047747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톡스토어 (승인 대기)</a:t>
            </a:r>
            <a:endParaRPr lang="en-US" sz="750" dirty="0"/>
          </a:p>
        </p:txBody>
      </p:sp>
      <p:sp>
        <p:nvSpPr>
          <p:cNvPr id="136" name="Text 127"/>
          <p:cNvSpPr txBox="1"/>
          <p:nvPr/>
        </p:nvSpPr>
        <p:spPr>
          <a:xfrm>
            <a:off x="533399" y="5772136"/>
            <a:ext cx="111251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공개 프로젝트 </a:t>
            </a:r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삼성전자 DS · AIA생명 · 쿠쿠전자    </a:t>
            </a:r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공식 파트너 </a:t>
            </a:r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네이버 · 카카오 · 크리테오 — 공식 홈페이지 공개 기준</a:t>
            </a:r>
            <a:endParaRPr lang="en-US" sz="750" dirty="0"/>
          </a:p>
        </p:txBody>
      </p:sp>
      <p:sp>
        <p:nvSpPr>
          <p:cNvPr id="137" name="Shape 128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38" name="Text 129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엠플랜잇 AIU본부 · M Ai Platform · AI LAB · mplanit.co.kr</a:t>
            </a:r>
            <a:endParaRPr lang="en-US" sz="800" dirty="0"/>
          </a:p>
        </p:txBody>
      </p:sp>
      <p:sp>
        <p:nvSpPr>
          <p:cNvPr id="139" name="Text 130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01 / 08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SOLUTION ARCHITECTURE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AI 솔루션 통합 구조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소재에서 매출까지 한 줄로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솔루션 5종(M Ai Platform · AI LAB · 커머스허브) + 데이터 인프라 1(MI) — 수집부터 판단까지 단일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요약 1장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333497"/>
            <a:ext cx="3648066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333497"/>
            <a:ext cx="364806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만들고 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CREATE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86239" y="1333497"/>
            <a:ext cx="3648066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86239" y="1333497"/>
            <a:ext cx="364806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관리하고 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MANAGE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039080" y="1333497"/>
            <a:ext cx="3648066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12700">
            <a:solidFill>
              <a:srgbClr val="EAF1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9080" y="1333497"/>
            <a:ext cx="3648066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운영·성과  </a:t>
            </a:r>
            <a:pPr algn="ctr"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OPERATE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33399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 제작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3399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3399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8648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895470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21" name="Text 19"/>
          <p:cNvSpPr txBox="1"/>
          <p:nvPr/>
        </p:nvSpPr>
        <p:spPr>
          <a:xfrm>
            <a:off x="628648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입력 6단계 / 대화형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28648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628648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규격 23종+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28648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628648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레이어 분리 · PSD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628648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628648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모델 2종 선택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2400294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 제작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400294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00294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495544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3762366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495544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→ AI 질문 완성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2495544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2495544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기획 5단계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495544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2495544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컷 승인형 디렉팅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495544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2495544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엔진 2종 선택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4267189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 노출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267189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267189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362439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케어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5629261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LAB</a:t>
            </a:r>
            <a:endParaRPr lang="en-US" sz="650" dirty="0"/>
          </a:p>
        </p:txBody>
      </p:sp>
      <p:sp>
        <p:nvSpPr>
          <p:cNvPr id="45" name="Text 43"/>
          <p:cNvSpPr txBox="1"/>
          <p:nvPr/>
        </p:nvSpPr>
        <p:spPr>
          <a:xfrm>
            <a:off x="4362439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점수 3종 진단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362439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7" name="Text 45"/>
          <p:cNvSpPr txBox="1"/>
          <p:nvPr/>
        </p:nvSpPr>
        <p:spPr>
          <a:xfrm>
            <a:off x="4362439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엔진 4종 점검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362439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49" name="Text 47"/>
          <p:cNvSpPr txBox="1"/>
          <p:nvPr/>
        </p:nvSpPr>
        <p:spPr>
          <a:xfrm>
            <a:off x="4362439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개선 가이드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362439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1" name="Text 49"/>
          <p:cNvSpPr txBox="1"/>
          <p:nvPr/>
        </p:nvSpPr>
        <p:spPr>
          <a:xfrm>
            <a:off x="4362439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월 1~2회 재측정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6134085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 판매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134085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134085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229334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7496156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Hub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6229334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채널 7개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229334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59" name="Text 57"/>
          <p:cNvSpPr txBox="1"/>
          <p:nvPr/>
        </p:nvSpPr>
        <p:spPr>
          <a:xfrm>
            <a:off x="6229334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주문 매시 수집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229334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1" name="Text 59"/>
          <p:cNvSpPr txBox="1"/>
          <p:nvPr/>
        </p:nvSpPr>
        <p:spPr>
          <a:xfrm>
            <a:off x="6229334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06:30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229334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63" name="Text 61"/>
          <p:cNvSpPr txBox="1"/>
          <p:nvPr/>
        </p:nvSpPr>
        <p:spPr>
          <a:xfrm>
            <a:off x="6229334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SKU 재고 · 원가</a:t>
            </a:r>
            <a:endParaRPr lang="en-US" sz="750" dirty="0"/>
          </a:p>
        </p:txBody>
      </p:sp>
      <p:sp>
        <p:nvSpPr>
          <p:cNvPr id="64" name="Text 62"/>
          <p:cNvSpPr txBox="1"/>
          <p:nvPr/>
        </p:nvSpPr>
        <p:spPr>
          <a:xfrm>
            <a:off x="8000980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05 성과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8000980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000980" y="1771646"/>
            <a:ext cx="1781171" cy="266699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8096230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950" dirty="0"/>
          </a:p>
        </p:txBody>
      </p:sp>
      <p:sp>
        <p:nvSpPr>
          <p:cNvPr id="68" name="Text 66"/>
          <p:cNvSpPr txBox="1"/>
          <p:nvPr/>
        </p:nvSpPr>
        <p:spPr>
          <a:xfrm>
            <a:off x="9363052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 Ai</a:t>
            </a:r>
            <a:endParaRPr lang="en-US" sz="650" dirty="0"/>
          </a:p>
        </p:txBody>
      </p:sp>
      <p:sp>
        <p:nvSpPr>
          <p:cNvPr id="69" name="Text 67"/>
          <p:cNvSpPr txBox="1"/>
          <p:nvPr/>
        </p:nvSpPr>
        <p:spPr>
          <a:xfrm>
            <a:off x="8096230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매체 14개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8096230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71" name="Text 69"/>
          <p:cNvSpPr txBox="1"/>
          <p:nvPr/>
        </p:nvSpPr>
        <p:spPr>
          <a:xfrm>
            <a:off x="8096230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일 · 매체 · 캠페인 · 키워드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8096230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73" name="Text 71"/>
          <p:cNvSpPr txBox="1"/>
          <p:nvPr/>
        </p:nvSpPr>
        <p:spPr>
          <a:xfrm>
            <a:off x="8096230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ROAS · 목표 진척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8096230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8096230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알림 · 정기 리포트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9867875" y="1600196"/>
            <a:ext cx="17811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기반 · 데이터 인프라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9867875" y="1771646"/>
            <a:ext cx="1781171" cy="1504946"/>
          </a:xfrm>
          <a:prstGeom prst="roundRect">
            <a:avLst>
              <a:gd name="adj" fmla="val 3646"/>
            </a:avLst>
          </a:prstGeom>
          <a:solidFill>
            <a:srgbClr val="FFFFFF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67875" y="1771646"/>
            <a:ext cx="1781171" cy="266699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963125" y="1771646"/>
            <a:ext cx="1285872" cy="266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11229947" y="1828795"/>
            <a:ext cx="323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E6F6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Infra</a:t>
            </a:r>
            <a:endParaRPr lang="en-US" sz="650" dirty="0"/>
          </a:p>
        </p:txBody>
      </p:sp>
      <p:sp>
        <p:nvSpPr>
          <p:cNvPr id="81" name="Text 79"/>
          <p:cNvSpPr txBox="1"/>
          <p:nvPr/>
        </p:nvSpPr>
        <p:spPr>
          <a:xfrm>
            <a:off x="9963125" y="2114545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네이버 자동입찰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9963125" y="2333619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83" name="Text 81"/>
          <p:cNvSpPr txBox="1"/>
          <p:nvPr/>
        </p:nvSpPr>
        <p:spPr>
          <a:xfrm>
            <a:off x="9963125" y="2390769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다계정 통합 리포트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9963125" y="2609843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85" name="Text 83"/>
          <p:cNvSpPr txBox="1"/>
          <p:nvPr/>
        </p:nvSpPr>
        <p:spPr>
          <a:xfrm>
            <a:off x="9963125" y="2666993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통합 데이터 분석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9963125" y="2886068"/>
            <a:ext cx="1590671" cy="0"/>
          </a:xfrm>
          <a:prstGeom prst="line">
            <a:avLst/>
          </a:prstGeom>
          <a:noFill/>
          <a:ln w="6350">
            <a:solidFill>
              <a:srgbClr val="E3EAF4"/>
            </a:solidFill>
            <a:prstDash val="dash"/>
          </a:ln>
        </p:spPr>
      </p:sp>
      <p:sp>
        <p:nvSpPr>
          <p:cNvPr id="87" name="Text 85"/>
          <p:cNvSpPr txBox="1"/>
          <p:nvPr/>
        </p:nvSpPr>
        <p:spPr>
          <a:xfrm>
            <a:off x="9963125" y="2943218"/>
            <a:ext cx="1590671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수집 · 정규화 인프라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533399" y="3352792"/>
            <a:ext cx="11125172" cy="704848"/>
          </a:xfrm>
          <a:prstGeom prst="roundRect">
            <a:avLst>
              <a:gd name="adj" fmla="val 6487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66748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781048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소재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1048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 · 영상 산출물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2628893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819393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2933693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2933693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 집행 + AI 검색 인용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4781538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4972038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5086337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주문</a:t>
            </a:r>
            <a:endParaRPr lang="en-US" sz="900" dirty="0"/>
          </a:p>
        </p:txBody>
      </p:sp>
      <p:sp>
        <p:nvSpPr>
          <p:cNvPr id="99" name="Text 97"/>
          <p:cNvSpPr txBox="1"/>
          <p:nvPr/>
        </p:nvSpPr>
        <p:spPr>
          <a:xfrm>
            <a:off x="5086337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채널 매출 집계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6934183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7124682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7238982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7238982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광고비 + 전환매출 결합</a:t>
            </a:r>
            <a:endParaRPr lang="en-US" sz="750" dirty="0"/>
          </a:p>
        </p:txBody>
      </p:sp>
      <p:sp>
        <p:nvSpPr>
          <p:cNvPr id="104" name="Text 102"/>
          <p:cNvSpPr txBox="1"/>
          <p:nvPr/>
        </p:nvSpPr>
        <p:spPr>
          <a:xfrm>
            <a:off x="9086827" y="3486141"/>
            <a:ext cx="19050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77327" y="3486141"/>
            <a:ext cx="1962145" cy="438149"/>
          </a:xfrm>
          <a:prstGeom prst="roundRect">
            <a:avLst>
              <a:gd name="adj" fmla="val 1252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9391627" y="354329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판단</a:t>
            </a:r>
            <a:endParaRPr lang="en-US" sz="900" dirty="0"/>
          </a:p>
        </p:txBody>
      </p:sp>
      <p:sp>
        <p:nvSpPr>
          <p:cNvPr id="107" name="Text 105"/>
          <p:cNvSpPr txBox="1"/>
          <p:nvPr/>
        </p:nvSpPr>
        <p:spPr>
          <a:xfrm>
            <a:off x="9391627" y="3714741"/>
            <a:ext cx="17335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ROAS 기준 예산 배분</a:t>
            </a:r>
            <a:endParaRPr lang="en-US" sz="750" dirty="0"/>
          </a:p>
        </p:txBody>
      </p:sp>
      <p:sp>
        <p:nvSpPr>
          <p:cNvPr id="108" name="Shape 106"/>
          <p:cNvSpPr/>
          <p:nvPr/>
        </p:nvSpPr>
        <p:spPr>
          <a:xfrm>
            <a:off x="533399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685798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브랜드 · 마케팅팀</a:t>
            </a:r>
            <a:endParaRPr lang="en-US" sz="1000" dirty="0"/>
          </a:p>
        </p:txBody>
      </p:sp>
      <p:sp>
        <p:nvSpPr>
          <p:cNvPr id="110" name="Text 108"/>
          <p:cNvSpPr txBox="1"/>
          <p:nvPr/>
        </p:nvSpPr>
        <p:spPr>
          <a:xfrm>
            <a:off x="685798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배너핏 + 릴스 + GEO 케어 + 애드리포트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4286239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4438639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그로스 · 커머스팀</a:t>
            </a:r>
            <a:endParaRPr lang="en-US" sz="1000" dirty="0"/>
          </a:p>
        </p:txBody>
      </p:sp>
      <p:sp>
        <p:nvSpPr>
          <p:cNvPr id="113" name="Text 111"/>
          <p:cNvSpPr txBox="1"/>
          <p:nvPr/>
        </p:nvSpPr>
        <p:spPr>
          <a:xfrm>
            <a:off x="4438639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커머스허브 + MI + 애드리포트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8039080" y="4229089"/>
            <a:ext cx="3638541" cy="761998"/>
          </a:xfrm>
          <a:prstGeom prst="roundRect">
            <a:avLst>
              <a:gd name="adj" fmla="val 7200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8191480" y="4362439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소상공인 · 1인 기업</a:t>
            </a:r>
            <a:endParaRPr lang="en-US" sz="1000" dirty="0"/>
          </a:p>
        </p:txBody>
      </p:sp>
      <p:sp>
        <p:nvSpPr>
          <p:cNvPr id="116" name="Text 114"/>
          <p:cNvSpPr txBox="1"/>
          <p:nvPr/>
        </p:nvSpPr>
        <p:spPr>
          <a:xfrm>
            <a:off x="8191480" y="4571989"/>
            <a:ext cx="333374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확장 방향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533399" y="5105387"/>
            <a:ext cx="11125172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33399" y="51053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666748" y="5172062"/>
            <a:ext cx="108775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판매와 광고를 한곳에서 — 광고비가 실제로 얼마를 팔았는지 확인</a:t>
            </a:r>
            <a:endParaRPr lang="en-US" sz="1000" dirty="0"/>
          </a:p>
        </p:txBody>
      </p:sp>
      <p:sp>
        <p:nvSpPr>
          <p:cNvPr id="120" name="Text 118"/>
          <p:cNvSpPr txBox="1"/>
          <p:nvPr/>
        </p:nvSpPr>
        <p:spPr>
          <a:xfrm>
            <a:off x="666748" y="5353037"/>
            <a:ext cx="1087752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채널마다 접속·다운로드·옮겨적기 없이, 주문과 광고비가 같은 기준으로 합쳐집니다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※ 서비스 포트폴리오 구성도이며 솔루션 간 자동 통합 아키텍처를 뜻하지 않습니다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Solution Architecture · 통합 구조 요약</a:t>
            </a:r>
            <a:endParaRPr lang="en-US" sz="800" dirty="0"/>
          </a:p>
        </p:txBody>
      </p:sp>
      <p:sp>
        <p:nvSpPr>
          <p:cNvPr id="123" name="Text 121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02 / 08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SOLUTION MAP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솔루션 이미지맵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화면으로 보는 6종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제작 → 노출 → 판매 → 성과 · AI 솔루션 5종 + 데이터 인프라(MI) 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장 요약 · 배포용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11" name="Image 0" descr="/home/user/mplanit/ai-solution/assets/png/bannerfit-edito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3399" y="1409696"/>
            <a:ext cx="3600441" cy="140969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33399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6748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6748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</a:t>
            </a:r>
            <a:endParaRPr lang="en-US" sz="700" dirty="0"/>
          </a:p>
        </p:txBody>
      </p:sp>
      <p:sp>
        <p:nvSpPr>
          <p:cNvPr id="15" name="Text 12"/>
          <p:cNvSpPr txBox="1"/>
          <p:nvPr/>
        </p:nvSpPr>
        <p:spPr>
          <a:xfrm>
            <a:off x="1085847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배너핏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66748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시안 생성 · 매체 규격 변형 · 레이어 편집 · 영상 전환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666748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banner-fit.mplanit.co.kr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4286239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19" name="Image 1" descr="/home/user/mplanit/ai-solution/assets/png/reels-ide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86239" y="1409696"/>
            <a:ext cx="3600441" cy="1409696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286239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419589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419589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제작</a:t>
            </a:r>
            <a:endParaRPr lang="en-US" sz="700" dirty="0"/>
          </a:p>
        </p:txBody>
      </p:sp>
      <p:sp>
        <p:nvSpPr>
          <p:cNvPr id="23" name="Text 19"/>
          <p:cNvSpPr txBox="1"/>
          <p:nvPr/>
        </p:nvSpPr>
        <p:spPr>
          <a:xfrm>
            <a:off x="4838688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릴스 스튜디오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419589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· 기획 5단계 · 컷 승인형 렌더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4419589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reel-studio.mplanit.co.kr</a:t>
            </a:r>
            <a:endParaRPr lang="en-US" sz="700" dirty="0"/>
          </a:p>
        </p:txBody>
      </p:sp>
      <p:sp>
        <p:nvSpPr>
          <p:cNvPr id="26" name="Shape 22"/>
          <p:cNvSpPr/>
          <p:nvPr/>
        </p:nvSpPr>
        <p:spPr>
          <a:xfrm>
            <a:off x="8039080" y="1409696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27" name="Image 2" descr="/home/user/mplanit/ai-solution/assets/png/geo-resul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39080" y="1409696"/>
            <a:ext cx="3600441" cy="1409696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8039080" y="2819393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172430" y="2952743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172430" y="2952743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노출</a:t>
            </a:r>
            <a:endParaRPr lang="en-US" sz="700" dirty="0"/>
          </a:p>
        </p:txBody>
      </p:sp>
      <p:sp>
        <p:nvSpPr>
          <p:cNvPr id="31" name="Text 26"/>
          <p:cNvSpPr txBox="1"/>
          <p:nvPr/>
        </p:nvSpPr>
        <p:spPr>
          <a:xfrm>
            <a:off x="8591529" y="2933693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지오 메트릭 케어</a:t>
            </a:r>
            <a:endParaRPr lang="en-US" sz="1100" dirty="0"/>
          </a:p>
        </p:txBody>
      </p:sp>
      <p:sp>
        <p:nvSpPr>
          <p:cNvPr id="32" name="Text 27"/>
          <p:cNvSpPr txBox="1"/>
          <p:nvPr/>
        </p:nvSpPr>
        <p:spPr>
          <a:xfrm>
            <a:off x="8172430" y="3181342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종합 · SEO · GEO 점수 진단 · 개선 가이드 · 정기 재측정</a:t>
            </a:r>
            <a:endParaRPr lang="en-US" sz="800" dirty="0"/>
          </a:p>
        </p:txBody>
      </p:sp>
      <p:sp>
        <p:nvSpPr>
          <p:cNvPr id="33" name="Text 28"/>
          <p:cNvSpPr txBox="1"/>
          <p:nvPr/>
        </p:nvSpPr>
        <p:spPr>
          <a:xfrm>
            <a:off x="8172430" y="3505191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geo.mplanit.co.kr</a:t>
            </a:r>
            <a:endParaRPr lang="en-US" sz="700" dirty="0"/>
          </a:p>
        </p:txBody>
      </p:sp>
      <p:sp>
        <p:nvSpPr>
          <p:cNvPr id="34" name="Shape 29"/>
          <p:cNvSpPr/>
          <p:nvPr/>
        </p:nvSpPr>
        <p:spPr>
          <a:xfrm>
            <a:off x="533399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sp>
        <p:nvSpPr>
          <p:cNvPr id="35" name="Shape 30"/>
          <p:cNvSpPr/>
          <p:nvPr/>
        </p:nvSpPr>
        <p:spPr>
          <a:xfrm>
            <a:off x="533399" y="3943340"/>
            <a:ext cx="3600441" cy="1409696"/>
          </a:xfrm>
          <a:prstGeom prst="rect">
            <a:avLst/>
          </a:prstGeom>
          <a:solidFill>
            <a:srgbClr val="F3F7FC"/>
          </a:solidFill>
          <a:ln w="12700">
            <a:solidFill>
              <a:srgbClr val="F3F7FC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533399" y="3943340"/>
            <a:ext cx="3600441" cy="1409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화면 — 준비 중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533399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666748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66748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판매</a:t>
            </a:r>
            <a:endParaRPr lang="en-US" sz="700" dirty="0"/>
          </a:p>
        </p:txBody>
      </p:sp>
      <p:sp>
        <p:nvSpPr>
          <p:cNvPr id="40" name="Text 35"/>
          <p:cNvSpPr txBox="1"/>
          <p:nvPr/>
        </p:nvSpPr>
        <p:spPr>
          <a:xfrm>
            <a:off x="1085847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</a:t>
            </a:r>
            <a:endParaRPr lang="en-US" sz="1100" dirty="0"/>
          </a:p>
        </p:txBody>
      </p:sp>
      <p:sp>
        <p:nvSpPr>
          <p:cNvPr id="41" name="Text 36"/>
          <p:cNvSpPr txBox="1"/>
          <p:nvPr/>
        </p:nvSpPr>
        <p:spPr>
          <a:xfrm>
            <a:off x="666748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7개 마켓 주문 · 배송 · 정산 · 재고 · 광고비 통합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666748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정산 · 매출 · 재고 · 배송 · 광고비 · 설정</a:t>
            </a:r>
            <a:endParaRPr lang="en-US" sz="700" dirty="0"/>
          </a:p>
        </p:txBody>
      </p:sp>
      <p:sp>
        <p:nvSpPr>
          <p:cNvPr id="43" name="Shape 38"/>
          <p:cNvSpPr/>
          <p:nvPr/>
        </p:nvSpPr>
        <p:spPr>
          <a:xfrm>
            <a:off x="4286239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pic>
        <p:nvPicPr>
          <p:cNvPr id="44" name="Image 3" descr="/home/user/mplanit/ai-solution/assets/png/adreport-dashboar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86239" y="3943340"/>
            <a:ext cx="3600441" cy="140969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4286239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4419589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419589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성과</a:t>
            </a:r>
            <a:endParaRPr lang="en-US" sz="700" dirty="0"/>
          </a:p>
        </p:txBody>
      </p:sp>
      <p:sp>
        <p:nvSpPr>
          <p:cNvPr id="48" name="Text 42"/>
          <p:cNvSpPr txBox="1"/>
          <p:nvPr/>
        </p:nvSpPr>
        <p:spPr>
          <a:xfrm>
            <a:off x="4838688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</a:t>
            </a:r>
            <a:endParaRPr lang="en-US" sz="1100" dirty="0"/>
          </a:p>
        </p:txBody>
      </p:sp>
      <p:sp>
        <p:nvSpPr>
          <p:cNvPr id="49" name="Text 43"/>
          <p:cNvSpPr txBox="1"/>
          <p:nvPr/>
        </p:nvSpPr>
        <p:spPr>
          <a:xfrm>
            <a:off x="4419589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14개 매체 집행 · 목표 진척 · ROAS · 이상 알림</a:t>
            </a:r>
            <a:endParaRPr lang="en-US" sz="800" dirty="0"/>
          </a:p>
        </p:txBody>
      </p:sp>
      <p:sp>
        <p:nvSpPr>
          <p:cNvPr id="50" name="Text 44"/>
          <p:cNvSpPr txBox="1"/>
          <p:nvPr/>
        </p:nvSpPr>
        <p:spPr>
          <a:xfrm>
            <a:off x="4419589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대시보드 · 목표/실시간 현황</a:t>
            </a:r>
            <a:endParaRPr lang="en-US" sz="700" dirty="0"/>
          </a:p>
        </p:txBody>
      </p:sp>
      <p:sp>
        <p:nvSpPr>
          <p:cNvPr id="51" name="Shape 45"/>
          <p:cNvSpPr/>
          <p:nvPr/>
        </p:nvSpPr>
        <p:spPr>
          <a:xfrm>
            <a:off x="8039080" y="3943340"/>
            <a:ext cx="3600441" cy="2381244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01600" dist="38100" dir="5400000">
              <a:srgbClr val="0F1B2E">
                <a:alpha val="8000"/>
              </a:srgbClr>
            </a:outerShdw>
          </a:effectLst>
        </p:spPr>
      </p:sp>
      <p:sp>
        <p:nvSpPr>
          <p:cNvPr id="52" name="Shape 46"/>
          <p:cNvSpPr/>
          <p:nvPr/>
        </p:nvSpPr>
        <p:spPr>
          <a:xfrm>
            <a:off x="8039080" y="3943340"/>
            <a:ext cx="3600441" cy="1409696"/>
          </a:xfrm>
          <a:prstGeom prst="rect">
            <a:avLst/>
          </a:prstGeom>
          <a:solidFill>
            <a:srgbClr val="F3F7FC"/>
          </a:solidFill>
          <a:ln w="12700">
            <a:solidFill>
              <a:srgbClr val="F3F7FC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8039080" y="3943340"/>
            <a:ext cx="3600441" cy="1409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 화면 — 준비 중</a:t>
            </a:r>
            <a:endParaRPr lang="en-US" sz="900" dirty="0"/>
          </a:p>
        </p:txBody>
      </p:sp>
      <p:sp>
        <p:nvSpPr>
          <p:cNvPr id="54" name="Shape 48"/>
          <p:cNvSpPr/>
          <p:nvPr/>
        </p:nvSpPr>
        <p:spPr>
          <a:xfrm>
            <a:off x="8039080" y="5353037"/>
            <a:ext cx="3600441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8172430" y="5486386"/>
            <a:ext cx="361949" cy="161925"/>
          </a:xfrm>
          <a:prstGeom prst="roundRect">
            <a:avLst>
              <a:gd name="adj" fmla="val 56471"/>
            </a:avLst>
          </a:prstGeom>
          <a:solidFill>
            <a:srgbClr val="399BC1"/>
          </a:solidFill>
          <a:ln w="12700">
            <a:solidFill>
              <a:srgbClr val="399BC1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72430" y="5486386"/>
            <a:ext cx="3619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기반</a:t>
            </a:r>
            <a:endParaRPr lang="en-US" sz="700" dirty="0"/>
          </a:p>
        </p:txBody>
      </p:sp>
      <p:sp>
        <p:nvSpPr>
          <p:cNvPr id="57" name="Text 51"/>
          <p:cNvSpPr txBox="1"/>
          <p:nvPr/>
        </p:nvSpPr>
        <p:spPr>
          <a:xfrm>
            <a:off x="8591529" y="5467336"/>
            <a:ext cx="29146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</a:t>
            </a:r>
            <a:endParaRPr lang="en-US" sz="1100" dirty="0"/>
          </a:p>
        </p:txBody>
      </p:sp>
      <p:sp>
        <p:nvSpPr>
          <p:cNvPr id="58" name="Text 52"/>
          <p:cNvSpPr txBox="1"/>
          <p:nvPr/>
        </p:nvSpPr>
        <p:spPr>
          <a:xfrm>
            <a:off x="8172430" y="5714986"/>
            <a:ext cx="3333742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자동입찰 · 대량 통합 리포트 · 통합 데이터 분석 · 인프라 구성 (AI 솔루션 아님)</a:t>
            </a:r>
            <a:endParaRPr lang="en-US" sz="800" dirty="0"/>
          </a:p>
        </p:txBody>
      </p:sp>
      <p:sp>
        <p:nvSpPr>
          <p:cNvPr id="59" name="Text 53"/>
          <p:cNvSpPr txBox="1"/>
          <p:nvPr/>
        </p:nvSpPr>
        <p:spPr>
          <a:xfrm>
            <a:off x="8172430" y="6038835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엠플랜잇 자체 기술 기반</a:t>
            </a:r>
            <a:endParaRPr lang="en-US" sz="700" dirty="0"/>
          </a:p>
        </p:txBody>
      </p:sp>
      <p:sp>
        <p:nvSpPr>
          <p:cNvPr id="60" name="Shape 54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Solution Map · 화면 기준 요약</a:t>
            </a:r>
            <a:endParaRPr lang="en-US" sz="800" dirty="0"/>
          </a:p>
        </p:txBody>
      </p:sp>
      <p:sp>
        <p:nvSpPr>
          <p:cNvPr id="62" name="Text 56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03 / 08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 CREATIVE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 Fit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배너 1장이 아닌 캠페인 한 세트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시안 생성 · 규격 변형 · 레이어 편집 · 영상 전환, 한 도구 안에서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banner-fit.mplanit.co.kr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한 번 입력으로 즉시 생성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이미지 + 요청 한 줄 → 배경 · 카피 · 레이아웃 동시 산출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매체 규격 자동 대응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23개 이상 매체 규격 · 안전 영역 · 텍스트 비율 내장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디자이너 워크플로 연결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텍스트 · 로고 · 배경 분리 PSD → 포토샵에서 바로 수정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레이어 분해 편집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피사체 · 텍스트 자동 분리 → 브라우저에서 재배치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52939"/>
            <a:ext cx="1249677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3399" y="4552939"/>
            <a:ext cx="1249677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라이트 · 에디터 2모드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840225" y="4552939"/>
            <a:ext cx="2449824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840225" y="4552939"/>
            <a:ext cx="2449824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Gemini(나노 바나나) · ChatGPT 2.0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33399" y="4838688"/>
            <a:ext cx="2289804" cy="209549"/>
          </a:xfrm>
          <a:prstGeom prst="roundRect">
            <a:avLst>
              <a:gd name="adj" fmla="val 43637"/>
            </a:avLst>
          </a:prstGeom>
          <a:solidFill>
            <a:srgbClr val="F5F8FC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3399" y="4838688"/>
            <a:ext cx="2289804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크리에이티브 생성 · 사이즈 변형 · 영상 생성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33399" y="5219687"/>
            <a:ext cx="35813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화면 — 운영 중 Banner Fit 실제 캡처. 편집 화면 시안은 당사 집행 소재.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457689" y="1562096"/>
            <a:ext cx="2666993" cy="1652679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34" name="Image 0" descr="/home/user/mplanit/ai-solution/assets/png/bannerfit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6739" y="1581146"/>
            <a:ext cx="2628893" cy="1614579"/>
          </a:xfrm>
          <a:prstGeom prst="rect">
            <a:avLst/>
          </a:prstGeom>
        </p:spPr>
      </p:pic>
      <p:sp>
        <p:nvSpPr>
          <p:cNvPr id="35" name="Shape 32"/>
          <p:cNvSpPr/>
          <p:nvPr/>
        </p:nvSpPr>
        <p:spPr>
          <a:xfrm>
            <a:off x="4476739" y="3033800"/>
            <a:ext cx="136969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524364" y="3033800"/>
            <a:ext cx="13696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라이트 모드 · 6단계 입력</a:t>
            </a:r>
            <a:endParaRPr lang="en-US" sz="750" dirty="0"/>
          </a:p>
        </p:txBody>
      </p:sp>
      <p:sp>
        <p:nvSpPr>
          <p:cNvPr id="37" name="Shape 34"/>
          <p:cNvSpPr/>
          <p:nvPr/>
        </p:nvSpPr>
        <p:spPr>
          <a:xfrm>
            <a:off x="7200882" y="1504946"/>
            <a:ext cx="4362439" cy="2088557"/>
          </a:xfrm>
          <a:prstGeom prst="roundRect">
            <a:avLst>
              <a:gd name="adj" fmla="val 262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38" name="Image 1" descr="/home/user/mplanit/ai-solution/assets/png/bannerfit-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932" y="1523996"/>
            <a:ext cx="4324339" cy="2050457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7219932" y="3412529"/>
            <a:ext cx="136969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267557" y="3412529"/>
            <a:ext cx="13696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에디터 모드 · 한 줄 지시</a:t>
            </a:r>
            <a:endParaRPr lang="en-US" sz="750" dirty="0"/>
          </a:p>
        </p:txBody>
      </p:sp>
      <p:sp>
        <p:nvSpPr>
          <p:cNvPr id="41" name="Shape 37"/>
          <p:cNvSpPr/>
          <p:nvPr/>
        </p:nvSpPr>
        <p:spPr>
          <a:xfrm>
            <a:off x="5124437" y="3371842"/>
            <a:ext cx="5753086" cy="2747956"/>
          </a:xfrm>
          <a:prstGeom prst="roundRect">
            <a:avLst>
              <a:gd name="adj" fmla="val 199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2" name="Image 2" descr="/home/user/mplanit/ai-solution/assets/png/bannerfit-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487" y="3390892"/>
            <a:ext cx="5714986" cy="2709856"/>
          </a:xfrm>
          <a:prstGeom prst="rect">
            <a:avLst/>
          </a:prstGeom>
        </p:spPr>
      </p:pic>
      <p:sp>
        <p:nvSpPr>
          <p:cNvPr id="43" name="Shape 38"/>
          <p:cNvSpPr/>
          <p:nvPr/>
        </p:nvSpPr>
        <p:spPr>
          <a:xfrm>
            <a:off x="5143487" y="5938823"/>
            <a:ext cx="1863085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5191112" y="5938823"/>
            <a:ext cx="18630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③ 레이어 편집 · 사이즈 변형 · 다운로드</a:t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Banner Fit · 배너핏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04 / 08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 VIDEO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Reels Studio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프롬프트 대신 질문 응답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한 줄 아이디어 → AI 초안 → 컷 승인 → 렌더, 5단계 진행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reel-studio.mplanit.co.kr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프롬프트 없이 시작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대상 · 목적 · 메시지 질문형 대화 → 스타일 · 컷 구성은 AI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초안 스토리보드 자동 생성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대본 · 키프레임 포함 콘티 전체를 먼저 제안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컷 단위 승인형 디렉팅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컷 재생성 · 키프레임 교체 · 순서 변경 — 컷 간 일관성 유지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승인한 만큼만 비용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대본 · 키프레임 무료 · 승인된 성공 컷만 차감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2449824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3399" y="4514839"/>
            <a:ext cx="2449824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쇼츠 9:16 · 유튜브 16:9 · 인스타 1:1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33399" y="4800588"/>
            <a:ext cx="1889755" cy="209549"/>
          </a:xfrm>
          <a:prstGeom prst="roundRect">
            <a:avLst>
              <a:gd name="adj" fmla="val 43637"/>
            </a:avLst>
          </a:prstGeom>
          <a:solidFill>
            <a:srgbClr val="EAF1FC"/>
          </a:solidFill>
          <a:ln w="6350">
            <a:solidFill>
              <a:srgbClr val="EAF1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3399" y="4800588"/>
            <a:ext cx="188975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짧게 2컷 · 기본 4컷 · 길게 7컷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480304" y="4800588"/>
            <a:ext cx="1889755" cy="209549"/>
          </a:xfrm>
          <a:prstGeom prst="roundRect">
            <a:avLst>
              <a:gd name="adj" fmla="val 43637"/>
            </a:avLst>
          </a:prstGeom>
          <a:solidFill>
            <a:srgbClr val="F5F8FC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480304" y="4800588"/>
            <a:ext cx="1889755" cy="209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VEO 3.1 / Gemini Omni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3399" y="5105387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3399" y="5105387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66748" y="5172062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'만들기'가 아니라 '다듬기'부터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66748" y="5353037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AI가 대본·키프레임 포함 콘티 전체를 먼저 제안 · 승인한 컷만 과금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533399" y="5619736"/>
            <a:ext cx="3581391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참고 — 국내 숏폼 외주 단가 15만~200만원, 기간 2~3주(크몽 단가 가이드 기준).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4457689" y="1581146"/>
            <a:ext cx="2895593" cy="1609721"/>
          </a:xfrm>
          <a:prstGeom prst="roundRect">
            <a:avLst>
              <a:gd name="adj" fmla="val 3408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38" name="Image 0" descr="/home/user/mplanit/ai-solution/assets/png/reels-id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6739" y="1600196"/>
            <a:ext cx="2857493" cy="1571621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4476739" y="3009892"/>
            <a:ext cx="129920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524364" y="3009892"/>
            <a:ext cx="12992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한 줄 아이디어 + 5단계</a:t>
            </a:r>
            <a:endParaRPr lang="en-US" sz="750" dirty="0"/>
          </a:p>
        </p:txBody>
      </p:sp>
      <p:sp>
        <p:nvSpPr>
          <p:cNvPr id="41" name="Shape 38"/>
          <p:cNvSpPr/>
          <p:nvPr/>
        </p:nvSpPr>
        <p:spPr>
          <a:xfrm>
            <a:off x="7505681" y="1504946"/>
            <a:ext cx="4057640" cy="2436425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2" name="Image 1" descr="/home/user/mplanit/ai-solution/assets/png/reels-sty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31" y="1523996"/>
            <a:ext cx="4019540" cy="2398326"/>
          </a:xfrm>
          <a:prstGeom prst="rect">
            <a:avLst/>
          </a:prstGeom>
        </p:spPr>
      </p:pic>
      <p:sp>
        <p:nvSpPr>
          <p:cNvPr id="43" name="Shape 39"/>
          <p:cNvSpPr/>
          <p:nvPr/>
        </p:nvSpPr>
        <p:spPr>
          <a:xfrm>
            <a:off x="7524731" y="3760397"/>
            <a:ext cx="1087752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7572356" y="3760397"/>
            <a:ext cx="10877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표현 · 스타일 선택</a:t>
            </a:r>
            <a:endParaRPr lang="en-US" sz="750" dirty="0"/>
          </a:p>
        </p:txBody>
      </p:sp>
      <p:sp>
        <p:nvSpPr>
          <p:cNvPr id="45" name="Shape 41"/>
          <p:cNvSpPr/>
          <p:nvPr/>
        </p:nvSpPr>
        <p:spPr>
          <a:xfrm>
            <a:off x="5029187" y="3638541"/>
            <a:ext cx="4991088" cy="238664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6" name="Image 2" descr="/home/user/mplanit/ai-solution/assets/png/reels-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37" y="3657591"/>
            <a:ext cx="4952988" cy="2348542"/>
          </a:xfrm>
          <a:prstGeom prst="rect">
            <a:avLst/>
          </a:prstGeom>
        </p:spPr>
      </p:pic>
      <p:sp>
        <p:nvSpPr>
          <p:cNvPr id="47" name="Shape 42"/>
          <p:cNvSpPr/>
          <p:nvPr/>
        </p:nvSpPr>
        <p:spPr>
          <a:xfrm>
            <a:off x="5048237" y="5844208"/>
            <a:ext cx="2356479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5095862" y="5844208"/>
            <a:ext cx="23564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③ 배너 영상 · VEO 3.1 / Gemini Omni</a:t>
            </a:r>
            <a:endParaRPr lang="en-US" sz="750" dirty="0"/>
          </a:p>
        </p:txBody>
      </p:sp>
      <p:sp>
        <p:nvSpPr>
          <p:cNvPr id="49" name="Shape 44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Reels Studio · 릴스 스튜디오</a:t>
            </a:r>
            <a:endParaRPr lang="en-US" sz="800" dirty="0"/>
          </a:p>
        </p:txBody>
      </p:sp>
      <p:sp>
        <p:nvSpPr>
          <p:cNvPr id="51" name="Text 46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 VISIBILITY · AI LAB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 Metric Care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브랜드 노출을 진단하고 개선하는 GEO 솔루션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GEO — ChatGPT · 네이버 AI 등 AI 답변에 브랜드가 언급·추천되도록 최적화하는 전략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geo.mplanit.co.kr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가독성 진단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AI가 읽고 인용하기 쉬운 사이트인지 점검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AI 브리핑 대응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국내 고객 접점인 네이버 AI까지 통합 점검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브랜드 신뢰도 분석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홈페이지 · 블로그 · 카페 등 AI 참조 채널 분석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개선 가이드 제공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노출 저해 요인 도출 → 개선 방향 제시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52939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3399" y="4552939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6748" y="4619613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AI가 추천하는 브랜드, 지금 준비하세요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6748" y="4800588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종합 · SEO · GEO 점수 진단 (80↑ 인용 가능 · 70점대 기본 · 60↓ 개선 필요)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33399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9123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제로클릭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19123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오가닉 유입 20~30% 급감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1752596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838320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추천 누락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838320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답변 후보군에서 제외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2971793" y="5086337"/>
            <a:ext cx="1142997" cy="4571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57517" y="5143487"/>
            <a:ext cx="9715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42318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정보 왜곡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3057517" y="5276837"/>
            <a:ext cx="97154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6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잘못된 정보로 신뢰 하락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4648188" y="1504946"/>
            <a:ext cx="4514839" cy="2630878"/>
          </a:xfrm>
          <a:prstGeom prst="roundRect">
            <a:avLst>
              <a:gd name="adj" fmla="val 2085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0" name="Image 0" descr="/home/user/mplanit/ai-solution/assets/png/geo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38" y="1523996"/>
            <a:ext cx="4476739" cy="2592778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4667238" y="3954849"/>
            <a:ext cx="1299207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714863" y="3954849"/>
            <a:ext cx="12992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URL 입력 → 분석 시작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5695936" y="3314692"/>
            <a:ext cx="5372087" cy="2802883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44" name="Image 1" descr="/home/user/mplanit/ai-solution/assets/png/geo-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4986" y="3333742"/>
            <a:ext cx="5333987" cy="2764783"/>
          </a:xfrm>
          <a:prstGeom prst="rect">
            <a:avLst/>
          </a:prstGeom>
        </p:spPr>
      </p:pic>
      <p:sp>
        <p:nvSpPr>
          <p:cNvPr id="45" name="Shape 41"/>
          <p:cNvSpPr/>
          <p:nvPr/>
        </p:nvSpPr>
        <p:spPr>
          <a:xfrm>
            <a:off x="5714986" y="5936600"/>
            <a:ext cx="2990843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762611" y="5936600"/>
            <a:ext cx="299084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분석 결과 — 자사 진단(종합 84 / SEO 95 / GEO 72)</a:t>
            </a:r>
            <a:endParaRPr lang="en-US" sz="750" dirty="0"/>
          </a:p>
        </p:txBody>
      </p:sp>
      <p:sp>
        <p:nvSpPr>
          <p:cNvPr id="47" name="Text 43"/>
          <p:cNvSpPr txBox="1"/>
          <p:nvPr/>
        </p:nvSpPr>
        <p:spPr>
          <a:xfrm>
            <a:off x="533399" y="5619736"/>
            <a:ext cx="3581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점수는 자체 진단 기준입니다 — 실제 AI 답변 노출·인용률이나 검색순위를 뜻하지 않습니다.</a:t>
            </a:r>
            <a:endParaRPr lang="en-US" sz="700" dirty="0"/>
          </a:p>
        </p:txBody>
      </p:sp>
      <p:sp>
        <p:nvSpPr>
          <p:cNvPr id="48" name="Shape 44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LAB · GEO Metric Care Solution — 흥국화재 TM 제안 장표(2026.09) 기준</a:t>
            </a:r>
            <a:endParaRPr lang="en-US" sz="800" dirty="0"/>
          </a:p>
        </p:txBody>
      </p:sp>
      <p:sp>
        <p:nvSpPr>
          <p:cNvPr id="50" name="Text 46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06 / 08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 COMMERCE · 05 PERFORMANCE · M AI PLATFORM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+ 애드리포트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매출과 광고비 단일 기준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AI 자동 소재 제작 · 실시간 통합 리포트 분석 — AD REPORT · AD MONITOR · COMMERCE HUB · SETTINGS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운영 중 · 카카오쇼핑 승인 대기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428746"/>
            <a:ext cx="3581391" cy="1638296"/>
          </a:xfrm>
          <a:prstGeom prst="roundRect">
            <a:avLst>
              <a:gd name="adj" fmla="val 3349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798" y="1543046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커머스허브  </a:t>
            </a:r>
            <a:pPr indent="0" marL="0">
              <a:buNone/>
            </a:pPr>
            <a:r>
              <a:rPr lang="en-US" sz="7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COMMERCE HUB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798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1048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판매 채널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781048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7개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790696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85945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주문 수집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1885945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895593" y="1790696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90843" y="1847845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수집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2990843" y="1962145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06:30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66748" y="2266944"/>
            <a:ext cx="88772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22" name="Image 0" descr="/home/user/mplanit/ai-solution/assets/png/icon-na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423" y="2319332"/>
            <a:ext cx="104775" cy="10477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857248" y="2266944"/>
            <a:ext cx="678178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스마트스토어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1611626" y="2266944"/>
            <a:ext cx="4419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687826" y="2343144"/>
            <a:ext cx="57150" cy="57150"/>
          </a:xfrm>
          <a:prstGeom prst="ellipse">
            <a:avLst/>
          </a:prstGeom>
          <a:solidFill>
            <a:srgbClr val="C4161C"/>
          </a:solidFill>
          <a:ln w="12700">
            <a:solidFill>
              <a:srgbClr val="C4161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773551" y="2266944"/>
            <a:ext cx="25145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쿠팡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2110735" y="2266944"/>
            <a:ext cx="54863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186935" y="2343144"/>
            <a:ext cx="57150" cy="57150"/>
          </a:xfrm>
          <a:prstGeom prst="ellipse">
            <a:avLst/>
          </a:prstGeom>
          <a:solidFill>
            <a:srgbClr val="1B5FAA"/>
          </a:solidFill>
          <a:ln w="12700">
            <a:solidFill>
              <a:srgbClr val="1B5FA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72659" y="2266944"/>
            <a:ext cx="35813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카페24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2716523" y="2266944"/>
            <a:ext cx="54863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92723" y="2343144"/>
            <a:ext cx="57150" cy="57150"/>
          </a:xfrm>
          <a:prstGeom prst="ellipse">
            <a:avLst/>
          </a:prstGeom>
          <a:solidFill>
            <a:srgbClr val="FF0038"/>
          </a:solidFill>
          <a:ln w="12700">
            <a:solidFill>
              <a:srgbClr val="FF003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878448" y="2266944"/>
            <a:ext cx="35813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11번가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3322312" y="2266944"/>
            <a:ext cx="63626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398512" y="2343144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484236" y="2266944"/>
            <a:ext cx="44576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토스쇼핑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666748" y="2533644"/>
            <a:ext cx="74294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42948" y="2609843"/>
            <a:ext cx="57150" cy="57150"/>
          </a:xfrm>
          <a:prstGeom prst="ellipse">
            <a:avLst/>
          </a:prstGeom>
          <a:solidFill>
            <a:srgbClr val="00A650"/>
          </a:solidFill>
          <a:ln w="12700">
            <a:solidFill>
              <a:srgbClr val="00A65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8673" y="2533644"/>
            <a:ext cx="55244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G마켓·옥션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1466846" y="2533644"/>
            <a:ext cx="1238247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543046" y="2609843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628771" y="2533644"/>
            <a:ext cx="1047747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톡스토어 (승인 대기)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85798" y="2819393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메뉴 —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정산 · 매출 · 재고 · 배송 · 광고비 · 설정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533399" y="3238492"/>
            <a:ext cx="3581391" cy="2057395"/>
          </a:xfrm>
          <a:prstGeom prst="roundRect">
            <a:avLst>
              <a:gd name="adj" fmla="val 2667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798" y="3352792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애드리포트  </a:t>
            </a:r>
            <a:pPr indent="0" marL="0">
              <a:buNone/>
            </a:pPr>
            <a:r>
              <a:rPr lang="en-US" sz="7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AD REPORT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685798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81048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매체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781048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14개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790696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1885945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실적 수집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1885945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매시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2895593" y="3600441"/>
            <a:ext cx="1028697" cy="400049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990843" y="3657591"/>
            <a:ext cx="8572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리포트 유형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2990843" y="3771891"/>
            <a:ext cx="8572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2가지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666748" y="4076690"/>
            <a:ext cx="843913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55" name="Image 1" descr="/home/user/mplanit/ai-solution/assets/png/icon-na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23" y="4129077"/>
            <a:ext cx="104775" cy="104775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57248" y="4076690"/>
            <a:ext cx="634363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</a:t>
            </a:r>
            <a:endParaRPr lang="en-US" sz="750" dirty="0"/>
          </a:p>
        </p:txBody>
      </p:sp>
      <p:sp>
        <p:nvSpPr>
          <p:cNvPr id="57" name="Shape 53"/>
          <p:cNvSpPr/>
          <p:nvPr/>
        </p:nvSpPr>
        <p:spPr>
          <a:xfrm>
            <a:off x="1567811" y="4076690"/>
            <a:ext cx="40766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1644011" y="4152890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729736" y="4076690"/>
            <a:ext cx="21716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GFA</a:t>
            </a:r>
            <a:endParaRPr lang="en-US" sz="750" dirty="0"/>
          </a:p>
        </p:txBody>
      </p:sp>
      <p:sp>
        <p:nvSpPr>
          <p:cNvPr id="60" name="Shape 56"/>
          <p:cNvSpPr/>
          <p:nvPr/>
        </p:nvSpPr>
        <p:spPr>
          <a:xfrm>
            <a:off x="2032630" y="4076690"/>
            <a:ext cx="46100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2108830" y="4152890"/>
            <a:ext cx="57150" cy="57150"/>
          </a:xfrm>
          <a:prstGeom prst="ellipse">
            <a:avLst/>
          </a:prstGeom>
          <a:solidFill>
            <a:srgbClr val="03C75A"/>
          </a:solidFill>
          <a:ln w="12700">
            <a:solidFill>
              <a:srgbClr val="03C75A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194555" y="4076690"/>
            <a:ext cx="27050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NOSP</a:t>
            </a:r>
            <a:endParaRPr lang="en-US" sz="750" dirty="0"/>
          </a:p>
        </p:txBody>
      </p:sp>
      <p:sp>
        <p:nvSpPr>
          <p:cNvPr id="63" name="Shape 59"/>
          <p:cNvSpPr/>
          <p:nvPr/>
        </p:nvSpPr>
        <p:spPr>
          <a:xfrm>
            <a:off x="2550789" y="4076690"/>
            <a:ext cx="83057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2626988" y="4152890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2712713" y="4076690"/>
            <a:ext cx="640078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카카오모먼트</a:t>
            </a:r>
            <a:endParaRPr lang="en-US" sz="750" dirty="0"/>
          </a:p>
        </p:txBody>
      </p:sp>
      <p:sp>
        <p:nvSpPr>
          <p:cNvPr id="66" name="Shape 62"/>
          <p:cNvSpPr/>
          <p:nvPr/>
        </p:nvSpPr>
        <p:spPr>
          <a:xfrm>
            <a:off x="666748" y="4343389"/>
            <a:ext cx="733423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42948" y="4419589"/>
            <a:ext cx="57150" cy="57150"/>
          </a:xfrm>
          <a:prstGeom prst="ellipse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828673" y="4343389"/>
            <a:ext cx="542924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카카오페이</a:t>
            </a:r>
            <a:endParaRPr lang="en-US" sz="750" dirty="0"/>
          </a:p>
        </p:txBody>
      </p:sp>
      <p:sp>
        <p:nvSpPr>
          <p:cNvPr id="69" name="Shape 65"/>
          <p:cNvSpPr/>
          <p:nvPr/>
        </p:nvSpPr>
        <p:spPr>
          <a:xfrm>
            <a:off x="1457321" y="4343389"/>
            <a:ext cx="83819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0" name="Image 2" descr="/home/user/mplanit/ai-solution/assets/png/icon-googlea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996" y="4395777"/>
            <a:ext cx="104775" cy="104775"/>
          </a:xfrm>
          <a:prstGeom prst="rect">
            <a:avLst/>
          </a:prstGeom>
        </p:spPr>
      </p:pic>
      <p:sp>
        <p:nvSpPr>
          <p:cNvPr id="71" name="Text 66"/>
          <p:cNvSpPr txBox="1"/>
          <p:nvPr/>
        </p:nvSpPr>
        <p:spPr>
          <a:xfrm>
            <a:off x="1647821" y="4343389"/>
            <a:ext cx="628648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Google Ads</a:t>
            </a:r>
            <a:endParaRPr lang="en-US" sz="750" dirty="0"/>
          </a:p>
        </p:txBody>
      </p:sp>
      <p:sp>
        <p:nvSpPr>
          <p:cNvPr id="72" name="Shape 67"/>
          <p:cNvSpPr/>
          <p:nvPr/>
        </p:nvSpPr>
        <p:spPr>
          <a:xfrm>
            <a:off x="2352669" y="4343389"/>
            <a:ext cx="49910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3" name="Image 3" descr="/home/user/mplanit/ai-solution/assets/png/icon-m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9344" y="4395777"/>
            <a:ext cx="104775" cy="104775"/>
          </a:xfrm>
          <a:prstGeom prst="rect">
            <a:avLst/>
          </a:prstGeom>
        </p:spPr>
      </p:pic>
      <p:sp>
        <p:nvSpPr>
          <p:cNvPr id="74" name="Text 68"/>
          <p:cNvSpPr txBox="1"/>
          <p:nvPr/>
        </p:nvSpPr>
        <p:spPr>
          <a:xfrm>
            <a:off x="2543169" y="4343389"/>
            <a:ext cx="28955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메타</a:t>
            </a:r>
            <a:endParaRPr lang="en-US" sz="750" dirty="0"/>
          </a:p>
        </p:txBody>
      </p:sp>
      <p:sp>
        <p:nvSpPr>
          <p:cNvPr id="75" name="Shape 69"/>
          <p:cNvSpPr/>
          <p:nvPr/>
        </p:nvSpPr>
        <p:spPr>
          <a:xfrm>
            <a:off x="2908928" y="4343389"/>
            <a:ext cx="49910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76" name="Image 4" descr="/home/user/mplanit/ai-solution/assets/png/icon-tikt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5603" y="4395777"/>
            <a:ext cx="104775" cy="104775"/>
          </a:xfrm>
          <a:prstGeom prst="rect">
            <a:avLst/>
          </a:prstGeom>
        </p:spPr>
      </p:pic>
      <p:sp>
        <p:nvSpPr>
          <p:cNvPr id="77" name="Text 70"/>
          <p:cNvSpPr txBox="1"/>
          <p:nvPr/>
        </p:nvSpPr>
        <p:spPr>
          <a:xfrm>
            <a:off x="3099427" y="4343389"/>
            <a:ext cx="28955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틱톡</a:t>
            </a:r>
            <a:endParaRPr lang="en-US" sz="750" dirty="0"/>
          </a:p>
        </p:txBody>
      </p:sp>
      <p:sp>
        <p:nvSpPr>
          <p:cNvPr id="78" name="Shape 71"/>
          <p:cNvSpPr/>
          <p:nvPr/>
        </p:nvSpPr>
        <p:spPr>
          <a:xfrm>
            <a:off x="666748" y="4610088"/>
            <a:ext cx="63626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9" name="Shape 72"/>
          <p:cNvSpPr/>
          <p:nvPr/>
        </p:nvSpPr>
        <p:spPr>
          <a:xfrm>
            <a:off x="742948" y="4686288"/>
            <a:ext cx="57150" cy="57150"/>
          </a:xfrm>
          <a:prstGeom prst="ellipse">
            <a:avLst/>
          </a:prstGeom>
          <a:solidFill>
            <a:srgbClr val="F76B15"/>
          </a:solidFill>
          <a:ln w="12700">
            <a:solidFill>
              <a:srgbClr val="F76B15"/>
            </a:solidFill>
            <a:prstDash val="solid"/>
          </a:ln>
        </p:spPr>
      </p:sp>
      <p:sp>
        <p:nvSpPr>
          <p:cNvPr id="80" name="Text 73"/>
          <p:cNvSpPr txBox="1"/>
          <p:nvPr/>
        </p:nvSpPr>
        <p:spPr>
          <a:xfrm>
            <a:off x="828673" y="4610088"/>
            <a:ext cx="44576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크리테오</a:t>
            </a:r>
            <a:endParaRPr lang="en-US" sz="750" dirty="0"/>
          </a:p>
        </p:txBody>
      </p:sp>
      <p:sp>
        <p:nvSpPr>
          <p:cNvPr id="81" name="Shape 74"/>
          <p:cNvSpPr/>
          <p:nvPr/>
        </p:nvSpPr>
        <p:spPr>
          <a:xfrm>
            <a:off x="1360167" y="4610088"/>
            <a:ext cx="539114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2" name="Shape 75"/>
          <p:cNvSpPr/>
          <p:nvPr/>
        </p:nvSpPr>
        <p:spPr>
          <a:xfrm>
            <a:off x="1436366" y="4686288"/>
            <a:ext cx="57150" cy="57150"/>
          </a:xfrm>
          <a:prstGeom prst="ellipse">
            <a:avLst/>
          </a:prstGeom>
          <a:solidFill>
            <a:srgbClr val="0B4F8A"/>
          </a:solidFill>
          <a:ln w="12700">
            <a:solidFill>
              <a:srgbClr val="0B4F8A"/>
            </a:solidFill>
            <a:prstDash val="solid"/>
          </a:ln>
        </p:spPr>
      </p:sp>
      <p:sp>
        <p:nvSpPr>
          <p:cNvPr id="83" name="Text 76"/>
          <p:cNvSpPr txBox="1"/>
          <p:nvPr/>
        </p:nvSpPr>
        <p:spPr>
          <a:xfrm>
            <a:off x="1522091" y="4610088"/>
            <a:ext cx="348614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타불라</a:t>
            </a:r>
            <a:endParaRPr lang="en-US" sz="750" dirty="0"/>
          </a:p>
        </p:txBody>
      </p:sp>
      <p:sp>
        <p:nvSpPr>
          <p:cNvPr id="84" name="Shape 77"/>
          <p:cNvSpPr/>
          <p:nvPr/>
        </p:nvSpPr>
        <p:spPr>
          <a:xfrm>
            <a:off x="1956430" y="4610088"/>
            <a:ext cx="78485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pic>
        <p:nvPicPr>
          <p:cNvPr id="85" name="Image 5" descr="/home/user/mplanit/ai-solution/assets/png/icon-app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23105" y="4662476"/>
            <a:ext cx="104775" cy="104775"/>
          </a:xfrm>
          <a:prstGeom prst="rect">
            <a:avLst/>
          </a:prstGeom>
        </p:spPr>
      </p:pic>
      <p:sp>
        <p:nvSpPr>
          <p:cNvPr id="86" name="Text 78"/>
          <p:cNvSpPr txBox="1"/>
          <p:nvPr/>
        </p:nvSpPr>
        <p:spPr>
          <a:xfrm>
            <a:off x="2146930" y="4610088"/>
            <a:ext cx="57530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Apple Ads</a:t>
            </a:r>
            <a:endParaRPr lang="en-US" sz="750" dirty="0"/>
          </a:p>
        </p:txBody>
      </p:sp>
      <p:sp>
        <p:nvSpPr>
          <p:cNvPr id="87" name="Shape 79"/>
          <p:cNvSpPr/>
          <p:nvPr/>
        </p:nvSpPr>
        <p:spPr>
          <a:xfrm>
            <a:off x="2798438" y="4610088"/>
            <a:ext cx="441959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8" name="Shape 80"/>
          <p:cNvSpPr/>
          <p:nvPr/>
        </p:nvSpPr>
        <p:spPr>
          <a:xfrm>
            <a:off x="2874638" y="4686288"/>
            <a:ext cx="57150" cy="57150"/>
          </a:xfrm>
          <a:prstGeom prst="ellipse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89" name="Text 81"/>
          <p:cNvSpPr txBox="1"/>
          <p:nvPr/>
        </p:nvSpPr>
        <p:spPr>
          <a:xfrm>
            <a:off x="2960363" y="4610088"/>
            <a:ext cx="25145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당근</a:t>
            </a:r>
            <a:endParaRPr lang="en-US" sz="750" dirty="0"/>
          </a:p>
        </p:txBody>
      </p:sp>
      <p:sp>
        <p:nvSpPr>
          <p:cNvPr id="90" name="Shape 82"/>
          <p:cNvSpPr/>
          <p:nvPr/>
        </p:nvSpPr>
        <p:spPr>
          <a:xfrm>
            <a:off x="3297547" y="4610088"/>
            <a:ext cx="539114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1" name="Shape 83"/>
          <p:cNvSpPr/>
          <p:nvPr/>
        </p:nvSpPr>
        <p:spPr>
          <a:xfrm>
            <a:off x="3373747" y="4686288"/>
            <a:ext cx="57150" cy="57150"/>
          </a:xfrm>
          <a:prstGeom prst="ellipse">
            <a:avLst/>
          </a:prstGeom>
          <a:solidFill>
            <a:srgbClr val="6B7A90"/>
          </a:solidFill>
          <a:ln w="12700">
            <a:solidFill>
              <a:srgbClr val="6B7A90"/>
            </a:solidFill>
            <a:prstDash val="solid"/>
          </a:ln>
        </p:spPr>
      </p:sp>
      <p:sp>
        <p:nvSpPr>
          <p:cNvPr id="92" name="Text 84"/>
          <p:cNvSpPr txBox="1"/>
          <p:nvPr/>
        </p:nvSpPr>
        <p:spPr>
          <a:xfrm>
            <a:off x="3459471" y="4610088"/>
            <a:ext cx="348614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모비온</a:t>
            </a:r>
            <a:endParaRPr lang="en-US" sz="750" dirty="0"/>
          </a:p>
        </p:txBody>
      </p:sp>
      <p:sp>
        <p:nvSpPr>
          <p:cNvPr id="93" name="Shape 85"/>
          <p:cNvSpPr/>
          <p:nvPr/>
        </p:nvSpPr>
        <p:spPr>
          <a:xfrm>
            <a:off x="666748" y="4876788"/>
            <a:ext cx="636268" cy="209549"/>
          </a:xfrm>
          <a:prstGeom prst="roundRect">
            <a:avLst>
              <a:gd name="adj" fmla="val 4363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94" name="Shape 86"/>
          <p:cNvSpPr/>
          <p:nvPr/>
        </p:nvSpPr>
        <p:spPr>
          <a:xfrm>
            <a:off x="742948" y="4952988"/>
            <a:ext cx="57150" cy="57150"/>
          </a:xfrm>
          <a:prstGeom prst="ellipse">
            <a:avLst/>
          </a:prstGeom>
          <a:solidFill>
            <a:srgbClr val="0064FF"/>
          </a:solidFill>
          <a:ln w="12700">
            <a:solidFill>
              <a:srgbClr val="0064FF"/>
            </a:solidFill>
            <a:prstDash val="solid"/>
          </a:ln>
        </p:spPr>
      </p:sp>
      <p:sp>
        <p:nvSpPr>
          <p:cNvPr id="95" name="Text 87"/>
          <p:cNvSpPr txBox="1"/>
          <p:nvPr/>
        </p:nvSpPr>
        <p:spPr>
          <a:xfrm>
            <a:off x="828673" y="4876788"/>
            <a:ext cx="445769" cy="2095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토스애즈</a:t>
            </a:r>
            <a:endParaRPr lang="en-US" sz="750" dirty="0"/>
          </a:p>
        </p:txBody>
      </p:sp>
      <p:sp>
        <p:nvSpPr>
          <p:cNvPr id="96" name="Text 88"/>
          <p:cNvSpPr txBox="1"/>
          <p:nvPr/>
        </p:nvSpPr>
        <p:spPr>
          <a:xfrm>
            <a:off x="685798" y="5162537"/>
            <a:ext cx="32765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· </a:t>
            </a:r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리포트 —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통합 대시보드 · 목표 현황 · 실시간 현황 · 소재/키워드 분석</a:t>
            </a:r>
            <a:endParaRPr lang="en-US" sz="800" dirty="0"/>
          </a:p>
        </p:txBody>
      </p:sp>
      <p:sp>
        <p:nvSpPr>
          <p:cNvPr id="97" name="Text 89"/>
          <p:cNvSpPr txBox="1"/>
          <p:nvPr/>
        </p:nvSpPr>
        <p:spPr>
          <a:xfrm>
            <a:off x="533399" y="5295887"/>
            <a:ext cx="3581391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화면 — 실제 캡처(캡처 시점 수치 · 광고주명·금액 마스킹) · 채널별 연동 범위와 집계 주기 상이 · 판매 매출과 광고 기여 성과 구분</a:t>
            </a:r>
            <a:endParaRPr lang="en-US" sz="650" dirty="0"/>
          </a:p>
        </p:txBody>
      </p:sp>
      <p:sp>
        <p:nvSpPr>
          <p:cNvPr id="98" name="Shape 90"/>
          <p:cNvSpPr/>
          <p:nvPr/>
        </p:nvSpPr>
        <p:spPr>
          <a:xfrm>
            <a:off x="4419589" y="1409696"/>
            <a:ext cx="5181587" cy="3149910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99" name="Image 6" descr="/home/user/mplanit/ai-solution/assets/png/adreport-dashboar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8639" y="1428746"/>
            <a:ext cx="5143487" cy="3111810"/>
          </a:xfrm>
          <a:prstGeom prst="rect">
            <a:avLst/>
          </a:prstGeom>
        </p:spPr>
      </p:pic>
      <p:sp>
        <p:nvSpPr>
          <p:cNvPr id="100" name="Shape 91"/>
          <p:cNvSpPr/>
          <p:nvPr/>
        </p:nvSpPr>
        <p:spPr>
          <a:xfrm>
            <a:off x="4438639" y="4378632"/>
            <a:ext cx="2074540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101" name="Text 92"/>
          <p:cNvSpPr txBox="1"/>
          <p:nvPr/>
        </p:nvSpPr>
        <p:spPr>
          <a:xfrm>
            <a:off x="4486264" y="4378632"/>
            <a:ext cx="20745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① 통합 대시보드 — 매체군별 성과 · 목표 진척</a:t>
            </a:r>
            <a:endParaRPr lang="en-US" sz="750" dirty="0"/>
          </a:p>
        </p:txBody>
      </p:sp>
      <p:sp>
        <p:nvSpPr>
          <p:cNvPr id="102" name="Shape 93"/>
          <p:cNvSpPr/>
          <p:nvPr/>
        </p:nvSpPr>
        <p:spPr>
          <a:xfrm>
            <a:off x="7277082" y="3428991"/>
            <a:ext cx="4248139" cy="1879992"/>
          </a:xfrm>
          <a:prstGeom prst="roundRect">
            <a:avLst>
              <a:gd name="adj" fmla="val 2918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  <a:effectLst>
            <a:outerShdw sx="100000" sy="100000" kx="0" ky="0" algn="bl" rotWithShape="0" blurRad="127000" dist="50800" dir="5400000">
              <a:srgbClr val="0F1B2E">
                <a:alpha val="16000"/>
              </a:srgbClr>
            </a:outerShdw>
          </a:effectLst>
        </p:spPr>
      </p:sp>
      <p:pic>
        <p:nvPicPr>
          <p:cNvPr id="103" name="Image 7" descr="/home/user/mplanit/ai-solution/assets/png/adreport-goa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96132" y="3448041"/>
            <a:ext cx="4210039" cy="1841892"/>
          </a:xfrm>
          <a:prstGeom prst="rect">
            <a:avLst/>
          </a:prstGeom>
        </p:spPr>
      </p:pic>
      <p:sp>
        <p:nvSpPr>
          <p:cNvPr id="104" name="Shape 94"/>
          <p:cNvSpPr/>
          <p:nvPr/>
        </p:nvSpPr>
        <p:spPr>
          <a:xfrm>
            <a:off x="7296132" y="5128009"/>
            <a:ext cx="1722116" cy="161925"/>
          </a:xfrm>
          <a:prstGeom prst="rect">
            <a:avLst/>
          </a:prstGeom>
          <a:solidFill>
            <a:srgbClr val="FFFFFF"/>
          </a:solidFill>
          <a:ln w="6350">
            <a:solidFill>
              <a:srgbClr val="E3EAF4"/>
            </a:solidFill>
            <a:prstDash val="solid"/>
          </a:ln>
        </p:spPr>
      </p:sp>
      <p:sp>
        <p:nvSpPr>
          <p:cNvPr id="105" name="Text 95"/>
          <p:cNvSpPr txBox="1"/>
          <p:nvPr/>
        </p:nvSpPr>
        <p:spPr>
          <a:xfrm>
            <a:off x="7343757" y="5128009"/>
            <a:ext cx="17221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② 목표 현황 — 매체별 목표 대비 실적</a:t>
            </a:r>
            <a:endParaRPr lang="en-US" sz="750" dirty="0"/>
          </a:p>
        </p:txBody>
      </p:sp>
      <p:sp>
        <p:nvSpPr>
          <p:cNvPr id="106" name="Shape 96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7" name="Text 97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출처 · Similarweb AI Search Stats 2026 · OpenAI(2026.07) · 크몽 숏폼 단가 가이드 · 엠플랜잇 운영 자료(2026.09)</a:t>
            </a:r>
            <a:endParaRPr lang="en-US" sz="800" dirty="0"/>
          </a:p>
        </p:txBody>
      </p:sp>
      <p:sp>
        <p:nvSpPr>
          <p:cNvPr id="108" name="Text 98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07 / 08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970" cy="47625"/>
          </a:xfrm>
          <a:prstGeom prst="rect">
            <a:avLst/>
          </a:prstGeom>
          <a:solidFill>
            <a:srgbClr val="1B468B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6248370" cy="47625"/>
          </a:xfrm>
          <a:prstGeom prst="rect">
            <a:avLst/>
          </a:prstGeom>
          <a:solidFill>
            <a:srgbClr val="399BC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33399" y="419099"/>
            <a:ext cx="6667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399BC1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TECH BASE · 데이터 인프라 (AI 솔루션 아님)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33399" y="590549"/>
            <a:ext cx="8953478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솔루션 — </a:t>
            </a:r>
            <a:pPr indent="0" marL="0">
              <a:buNone/>
            </a:pPr>
            <a:r>
              <a:rPr lang="en-US" sz="21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자동입찰 · 대량 리포트, 그리고 그 아래 인프라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33399" y="952498"/>
            <a:ext cx="89534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매체·마켓·전환 데이터를 한 기준으로 모으는 수집·정규화·집계 구조 — 엠플랜잇 자체 구축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048727" y="571499"/>
            <a:ext cx="2609843" cy="247649"/>
          </a:xfrm>
          <a:prstGeom prst="roundRect">
            <a:avLst>
              <a:gd name="adj" fmla="val 44308"/>
            </a:avLst>
          </a:prstGeom>
          <a:solidFill>
            <a:srgbClr val="EAF1FC"/>
          </a:solidFill>
          <a:ln w="9525">
            <a:solidFill>
              <a:srgbClr val="CFDC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48727" y="571499"/>
            <a:ext cx="2609843" cy="2476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MI Solution · Data Infra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399" y="1200147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3399" y="1523996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3399" y="1523996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876298" y="1504946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네이버 검색광고 자동입찰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6298" y="1695446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순위 목표 기반 입찰 조정 · 시간대 규칙 · 예산 제어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3399" y="2266944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3399" y="2266944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876298" y="2247894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대량 통합 리포트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6298" y="2438394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다계정 일괄 수집 · 키워드 단위 추출 · 자동 발송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3399" y="3009892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3399" y="3009892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76298" y="2990843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데이터 분석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76298" y="3181342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광고비 · 매출 · 전환을 단일 지표 체계로 결합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3399" y="3752841"/>
            <a:ext cx="247649" cy="190500"/>
          </a:xfrm>
          <a:prstGeom prst="roundRect">
            <a:avLst>
              <a:gd name="adj" fmla="val 48000"/>
            </a:avLst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3399" y="3752841"/>
            <a:ext cx="2476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76298" y="3733791"/>
            <a:ext cx="32384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인프라 구성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76298" y="3924290"/>
            <a:ext cx="3238492" cy="342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수집 · 정규화 · 적재 · 권한 분리 직접 설계·운영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3399" y="4514839"/>
            <a:ext cx="3581391" cy="45719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3399" y="4514839"/>
            <a:ext cx="28575" cy="457199"/>
          </a:xfrm>
          <a:prstGeom prst="rect">
            <a:avLst/>
          </a:prstGeom>
          <a:solidFill>
            <a:srgbClr val="1B468B"/>
          </a:solidFill>
          <a:ln w="12700">
            <a:solidFill>
              <a:srgbClr val="1B468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6748" y="4581514"/>
            <a:ext cx="3333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AI 솔루션이 올라서는 바닥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66748" y="4762488"/>
            <a:ext cx="33337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데이터를 모으고 맞추는 인프라가 엠플랜잇의 기술 기반입니다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533399" y="5029187"/>
            <a:ext cx="3581391" cy="323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AI 기능이 아닌 운영 자동화·데이터 기술 영역 · 기능 범위·오픈 일정 내부 확정 후 갱신</a:t>
            </a:r>
            <a:endParaRPr lang="en-US" sz="6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65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공식 Solution 페이지는 M Ai Platform · MARS로 소개 — MI 명칭·자동입찰은 사내 정보 기준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4438639" y="1447796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91039" y="1562096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데이터 파이프라인 — 수집에서 판단까지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91039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91039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수집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4591039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 14 · 마켓 7 API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6219809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3159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53159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정규화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353159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매체·채널 기준 통일</a:t>
            </a:r>
            <a:endParaRPr lang="en-US" sz="700" dirty="0"/>
          </a:p>
        </p:txBody>
      </p:sp>
      <p:sp>
        <p:nvSpPr>
          <p:cNvPr id="40" name="Text 38"/>
          <p:cNvSpPr txBox="1"/>
          <p:nvPr/>
        </p:nvSpPr>
        <p:spPr>
          <a:xfrm>
            <a:off x="7981930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115280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15280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적재 · 집계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115280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일/캠페인/키워드/SKU</a:t>
            </a:r>
            <a:endParaRPr lang="en-US" sz="700" dirty="0"/>
          </a:p>
        </p:txBody>
      </p:sp>
      <p:sp>
        <p:nvSpPr>
          <p:cNvPr id="44" name="Text 42"/>
          <p:cNvSpPr txBox="1"/>
          <p:nvPr/>
        </p:nvSpPr>
        <p:spPr>
          <a:xfrm>
            <a:off x="9744051" y="1828795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877400" y="1828795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877400" y="19240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활용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9877400" y="2076445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리포트 · 입찰 · ROAS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4438639" y="2628893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591039" y="2743193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자동입찰 — 목표 기반 반복 조정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591039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591039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목표 설정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4591039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키워드 순위 · 예산</a:t>
            </a:r>
            <a:endParaRPr lang="en-US" sz="700" dirty="0"/>
          </a:p>
        </p:txBody>
      </p:sp>
      <p:sp>
        <p:nvSpPr>
          <p:cNvPr id="53" name="Text 51"/>
          <p:cNvSpPr txBox="1"/>
          <p:nvPr/>
        </p:nvSpPr>
        <p:spPr>
          <a:xfrm>
            <a:off x="6219809" y="3009892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353159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353159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현황 수집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6353159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순위 · 노출 · 비용</a:t>
            </a:r>
            <a:endParaRPr lang="en-US" sz="700" dirty="0"/>
          </a:p>
        </p:txBody>
      </p:sp>
      <p:sp>
        <p:nvSpPr>
          <p:cNvPr id="57" name="Text 55"/>
          <p:cNvSpPr txBox="1"/>
          <p:nvPr/>
        </p:nvSpPr>
        <p:spPr>
          <a:xfrm>
            <a:off x="7981930" y="3009892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115280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115280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입찰 조정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8115280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규칙 기반 자동</a:t>
            </a:r>
            <a:endParaRPr lang="en-US" sz="700" dirty="0"/>
          </a:p>
        </p:txBody>
      </p:sp>
      <p:sp>
        <p:nvSpPr>
          <p:cNvPr id="61" name="Text 59"/>
          <p:cNvSpPr txBox="1"/>
          <p:nvPr/>
        </p:nvSpPr>
        <p:spPr>
          <a:xfrm>
            <a:off x="9744051" y="3009892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9877400" y="3009892"/>
            <a:ext cx="1628771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9877400" y="31051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결과 확인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9877400" y="3257542"/>
            <a:ext cx="16287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변경 이력 · 성과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4438639" y="3809990"/>
            <a:ext cx="7219932" cy="1047747"/>
          </a:xfrm>
          <a:prstGeom prst="roundRect">
            <a:avLst>
              <a:gd name="adj" fmla="val 4364"/>
            </a:avLst>
          </a:prstGeom>
          <a:solidFill>
            <a:srgbClr val="FBFD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591039" y="3924290"/>
            <a:ext cx="69151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대량 통합 리포트 — 계정 수와 무관한 산출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39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591039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다계정 수집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4591039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광고주 N · 매체별</a:t>
            </a:r>
            <a:endParaRPr lang="en-US" sz="700" dirty="0"/>
          </a:p>
        </p:txBody>
      </p:sp>
      <p:sp>
        <p:nvSpPr>
          <p:cNvPr id="70" name="Text 68"/>
          <p:cNvSpPr txBox="1"/>
          <p:nvPr/>
        </p:nvSpPr>
        <p:spPr>
          <a:xfrm>
            <a:off x="6807183" y="4190990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940533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940533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통합 집계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6940533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키워드 · 캠페인 단위</a:t>
            </a:r>
            <a:endParaRPr lang="en-US" sz="700" dirty="0"/>
          </a:p>
        </p:txBody>
      </p:sp>
      <p:sp>
        <p:nvSpPr>
          <p:cNvPr id="74" name="Text 72"/>
          <p:cNvSpPr txBox="1"/>
          <p:nvPr/>
        </p:nvSpPr>
        <p:spPr>
          <a:xfrm>
            <a:off x="9156677" y="4190990"/>
            <a:ext cx="133350" cy="495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DCE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›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9290027" y="4190990"/>
            <a:ext cx="2216144" cy="495299"/>
          </a:xfrm>
          <a:prstGeom prst="roundRect">
            <a:avLst>
              <a:gd name="adj" fmla="val 11077"/>
            </a:avLst>
          </a:prstGeom>
          <a:solidFill>
            <a:srgbClr val="FFFFFF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290027" y="42862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B2E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자동 발송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9290027" y="4438639"/>
            <a:ext cx="22161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정기 리포트 · 파일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533399" y="5619736"/>
            <a:ext cx="3638541" cy="361949"/>
          </a:xfrm>
          <a:prstGeom prst="roundRect">
            <a:avLst>
              <a:gd name="adj" fmla="val 15158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666748" y="5619736"/>
            <a:ext cx="3371842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외부 툴 구독 대체 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사내 인프라 운영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4286239" y="5619736"/>
            <a:ext cx="3638541" cy="361949"/>
          </a:xfrm>
          <a:prstGeom prst="roundRect">
            <a:avLst>
              <a:gd name="adj" fmla="val 15158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419589" y="5619736"/>
            <a:ext cx="3371842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데이터 단절 없음 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애드리포트·커머스허브와 같은 기준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8039080" y="5619736"/>
            <a:ext cx="3638541" cy="361949"/>
          </a:xfrm>
          <a:prstGeom prst="roundRect">
            <a:avLst>
              <a:gd name="adj" fmla="val 15158"/>
            </a:avLst>
          </a:prstGeom>
          <a:solidFill>
            <a:srgbClr val="F5F8FC"/>
          </a:solidFill>
          <a:ln w="9525">
            <a:solidFill>
              <a:srgbClr val="E3EAF4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8172430" y="5619736"/>
            <a:ext cx="3371842" cy="3619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468B"/>
                </a:solidFill>
                <a:latin typeface="페이퍼로지 8 ExtraBold" pitchFamily="34" charset="0"/>
                <a:ea typeface="페이퍼로지 8 ExtraBold" pitchFamily="34" charset="-122"/>
                <a:cs typeface="페이퍼로지 8 ExtraBold" pitchFamily="34" charset="-120"/>
              </a:rPr>
              <a:t>확장 기반  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수집 계층만 추가하면 전 솔루션 반영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533399" y="6400784"/>
            <a:ext cx="11125172" cy="0"/>
          </a:xfrm>
          <a:prstGeom prst="line">
            <a:avLst/>
          </a:prstGeom>
          <a:noFill/>
          <a:ln w="9525">
            <a:solidFill>
              <a:srgbClr val="E3EAF4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533399" y="6457934"/>
            <a:ext cx="761998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MI 솔루션 · 데이터 인프라 · 엠플랜잇 자체 기술</a:t>
            </a:r>
            <a:endParaRPr lang="en-US" sz="800" dirty="0"/>
          </a:p>
        </p:txBody>
      </p:sp>
      <p:sp>
        <p:nvSpPr>
          <p:cNvPr id="86" name="Text 84"/>
          <p:cNvSpPr txBox="1"/>
          <p:nvPr/>
        </p:nvSpPr>
        <p:spPr>
          <a:xfrm>
            <a:off x="9524976" y="6457934"/>
            <a:ext cx="21335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페이퍼로지 4 Regular" pitchFamily="34" charset="0"/>
                <a:ea typeface="페이퍼로지 4 Regular" pitchFamily="34" charset="-122"/>
                <a:cs typeface="페이퍼로지 4 Regular" pitchFamily="34" charset="-120"/>
              </a:rPr>
              <a:t>08 / 08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Mplanit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엠플랜잇 AI 솔루션 소개서</dc:title>
  <dc:subject>PptxGenJS Presentation</dc:subject>
  <dc:creator>Mplanit AIU</dc:creator>
  <cp:lastModifiedBy>Mplanit AIU</cp:lastModifiedBy>
  <cp:revision>1</cp:revision>
  <dcterms:created xsi:type="dcterms:W3CDTF">2026-09-20T16:11:48Z</dcterms:created>
  <dcterms:modified xsi:type="dcterms:W3CDTF">2026-09-20T16:11:48Z</dcterms:modified>
</cp:coreProperties>
</file>