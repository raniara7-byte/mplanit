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MI는 AI 솔루션이 아닌 데이터 인프라·운영 자동화 영역. 6종 솔루션이 공유하는 수집·정규화·집계 기반이 자체 기술임을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43144"/>
            <a:ext cx="11048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 Platform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AI 그로스 통합 플랫폼(소재 제작 · 실시간 통합 리포트)  +  </a:t>
            </a:r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— GEO Metric Care(SEO + GEO 통합 분석)
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 + 이를 떠받치는 데이터 인프라(MI) — 수집·정규화·집계까지 자체 기술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1318257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131825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· 데이터 인프라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시안 생성 · 매체 규격 변형 · 레이어 편집 · 영상 전환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노드 · 컷별 프롬프트 · 모델 선택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점수화 · 개선 가이드 · 정기 재측정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통합 관리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현황 · 전환 · ROAS · 알림 · 리포트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DATA INFRA · AI 솔루션 아님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 · 대량 통합 리포트 · 통합 데이터 분석 · 인프라 구성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기술 기반</a:t>
            </a:r>
            <a:endParaRPr lang="en-US" sz="700" dirty="0"/>
          </a:p>
        </p:txBody>
      </p:sp>
      <p:sp>
        <p:nvSpPr>
          <p:cNvPr id="71" name="Shape 68"/>
          <p:cNvSpPr/>
          <p:nvPr/>
        </p:nvSpPr>
        <p:spPr>
          <a:xfrm>
            <a:off x="53339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647698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주간 10억 명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647698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주간 활성 이용자 — 검색 시작점 이동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4267189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4381489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약 40%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4381489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2026년 AI 제작 디지털 광고 비중 전망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8000980" y="5124437"/>
            <a:ext cx="28575" cy="438149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8115280" y="508633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0.8~1.3%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115280" y="5333987"/>
            <a:ext cx="34289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클릭률(구글 29%) — 인용 없으면 유입 없음</a:t>
            </a:r>
            <a:endParaRPr lang="en-US" sz="800" dirty="0"/>
          </a:p>
        </p:txBody>
      </p:sp>
      <p:sp>
        <p:nvSpPr>
          <p:cNvPr id="80" name="Text 77"/>
          <p:cNvSpPr txBox="1"/>
          <p:nvPr/>
        </p:nvSpPr>
        <p:spPr>
          <a:xfrm>
            <a:off x="533399" y="5676886"/>
            <a:ext cx="85153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1423031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2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06" y="5729273"/>
            <a:ext cx="104775" cy="104775"/>
          </a:xfrm>
          <a:prstGeom prst="rect">
            <a:avLst/>
          </a:prstGeom>
        </p:spPr>
      </p:pic>
      <p:sp>
        <p:nvSpPr>
          <p:cNvPr id="83" name="Text 79"/>
          <p:cNvSpPr txBox="1"/>
          <p:nvPr/>
        </p:nvSpPr>
        <p:spPr>
          <a:xfrm>
            <a:off x="1623056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2200269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2276469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2371719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270318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779388" y="5753086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287463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90" name="Shape 86"/>
          <p:cNvSpPr/>
          <p:nvPr/>
        </p:nvSpPr>
        <p:spPr>
          <a:xfrm>
            <a:off x="3278497" y="5676886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3354697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3449946" y="5676886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93" name="Shape 89"/>
          <p:cNvSpPr/>
          <p:nvPr/>
        </p:nvSpPr>
        <p:spPr>
          <a:xfrm>
            <a:off x="3998585" y="5676886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074785" y="575308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4170035" y="5676886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96" name="Shape 92"/>
          <p:cNvSpPr/>
          <p:nvPr/>
        </p:nvSpPr>
        <p:spPr>
          <a:xfrm>
            <a:off x="4646283" y="5676886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7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958" y="5729273"/>
            <a:ext cx="104775" cy="104775"/>
          </a:xfrm>
          <a:prstGeom prst="rect">
            <a:avLst/>
          </a:prstGeom>
        </p:spPr>
      </p:pic>
      <p:sp>
        <p:nvSpPr>
          <p:cNvPr id="98" name="Text 93"/>
          <p:cNvSpPr txBox="1"/>
          <p:nvPr/>
        </p:nvSpPr>
        <p:spPr>
          <a:xfrm>
            <a:off x="4846308" y="5676886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9" name="Shape 94"/>
          <p:cNvSpPr/>
          <p:nvPr/>
        </p:nvSpPr>
        <p:spPr>
          <a:xfrm>
            <a:off x="5713081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0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756" y="5729273"/>
            <a:ext cx="104775" cy="104775"/>
          </a:xfrm>
          <a:prstGeom prst="rect">
            <a:avLst/>
          </a:prstGeom>
        </p:spPr>
      </p:pic>
      <p:sp>
        <p:nvSpPr>
          <p:cNvPr id="101" name="Text 95"/>
          <p:cNvSpPr txBox="1"/>
          <p:nvPr/>
        </p:nvSpPr>
        <p:spPr>
          <a:xfrm>
            <a:off x="5913105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102" name="Shape 96"/>
          <p:cNvSpPr/>
          <p:nvPr/>
        </p:nvSpPr>
        <p:spPr>
          <a:xfrm>
            <a:off x="6200759" y="5676886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34" y="5729273"/>
            <a:ext cx="104775" cy="104775"/>
          </a:xfrm>
          <a:prstGeom prst="rect">
            <a:avLst/>
          </a:prstGeom>
        </p:spPr>
      </p:pic>
      <p:sp>
        <p:nvSpPr>
          <p:cNvPr id="104" name="Text 97"/>
          <p:cNvSpPr txBox="1"/>
          <p:nvPr/>
        </p:nvSpPr>
        <p:spPr>
          <a:xfrm>
            <a:off x="6400784" y="5676886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105" name="Shape 98"/>
          <p:cNvSpPr/>
          <p:nvPr/>
        </p:nvSpPr>
        <p:spPr>
          <a:xfrm>
            <a:off x="6688438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9"/>
          <p:cNvSpPr/>
          <p:nvPr/>
        </p:nvSpPr>
        <p:spPr>
          <a:xfrm>
            <a:off x="6764638" y="5753086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107" name="Text 100"/>
          <p:cNvSpPr txBox="1"/>
          <p:nvPr/>
        </p:nvSpPr>
        <p:spPr>
          <a:xfrm>
            <a:off x="6859888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7263747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2"/>
          <p:cNvSpPr/>
          <p:nvPr/>
        </p:nvSpPr>
        <p:spPr>
          <a:xfrm>
            <a:off x="7339947" y="5753086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10" name="Text 103"/>
          <p:cNvSpPr txBox="1"/>
          <p:nvPr/>
        </p:nvSpPr>
        <p:spPr>
          <a:xfrm>
            <a:off x="7435196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11" name="Shape 104"/>
          <p:cNvSpPr/>
          <p:nvPr/>
        </p:nvSpPr>
        <p:spPr>
          <a:xfrm>
            <a:off x="7766666" y="5676886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2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3340" y="5729273"/>
            <a:ext cx="104775" cy="104775"/>
          </a:xfrm>
          <a:prstGeom prst="rect">
            <a:avLst/>
          </a:prstGeom>
        </p:spPr>
      </p:pic>
      <p:sp>
        <p:nvSpPr>
          <p:cNvPr id="113" name="Text 105"/>
          <p:cNvSpPr txBox="1"/>
          <p:nvPr/>
        </p:nvSpPr>
        <p:spPr>
          <a:xfrm>
            <a:off x="7966690" y="5676886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14" name="Shape 106"/>
          <p:cNvSpPr/>
          <p:nvPr/>
        </p:nvSpPr>
        <p:spPr>
          <a:xfrm>
            <a:off x="8761073" y="5676886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Shape 107"/>
          <p:cNvSpPr/>
          <p:nvPr/>
        </p:nvSpPr>
        <p:spPr>
          <a:xfrm>
            <a:off x="8837273" y="5753086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6" name="Text 108"/>
          <p:cNvSpPr txBox="1"/>
          <p:nvPr/>
        </p:nvSpPr>
        <p:spPr>
          <a:xfrm>
            <a:off x="8932523" y="5676886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17" name="Shape 109"/>
          <p:cNvSpPr/>
          <p:nvPr/>
        </p:nvSpPr>
        <p:spPr>
          <a:xfrm>
            <a:off x="9191602" y="5676886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8" name="Shape 110"/>
          <p:cNvSpPr/>
          <p:nvPr/>
        </p:nvSpPr>
        <p:spPr>
          <a:xfrm>
            <a:off x="9267802" y="5753086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9" name="Text 111"/>
          <p:cNvSpPr txBox="1"/>
          <p:nvPr/>
        </p:nvSpPr>
        <p:spPr>
          <a:xfrm>
            <a:off x="9363052" y="5676886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20" name="Shape 112"/>
          <p:cNvSpPr/>
          <p:nvPr/>
        </p:nvSpPr>
        <p:spPr>
          <a:xfrm>
            <a:off x="9694521" y="5676886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1" name="Shape 113"/>
          <p:cNvSpPr/>
          <p:nvPr/>
        </p:nvSpPr>
        <p:spPr>
          <a:xfrm>
            <a:off x="9770721" y="575308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2" name="Text 114"/>
          <p:cNvSpPr txBox="1"/>
          <p:nvPr/>
        </p:nvSpPr>
        <p:spPr>
          <a:xfrm>
            <a:off x="9865970" y="5676886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23" name="Text 115"/>
          <p:cNvSpPr txBox="1"/>
          <p:nvPr/>
        </p:nvSpPr>
        <p:spPr>
          <a:xfrm>
            <a:off x="10269829" y="5676886"/>
            <a:ext cx="56959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24" name="Shape 116"/>
          <p:cNvSpPr/>
          <p:nvPr/>
        </p:nvSpPr>
        <p:spPr>
          <a:xfrm>
            <a:off x="10877523" y="5676886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25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4198" y="5729273"/>
            <a:ext cx="104775" cy="104775"/>
          </a:xfrm>
          <a:prstGeom prst="rect">
            <a:avLst/>
          </a:prstGeom>
        </p:spPr>
      </p:pic>
      <p:sp>
        <p:nvSpPr>
          <p:cNvPr id="126" name="Text 117"/>
          <p:cNvSpPr txBox="1"/>
          <p:nvPr/>
        </p:nvSpPr>
        <p:spPr>
          <a:xfrm>
            <a:off x="11077547" y="5676886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533399" y="5943585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609598" y="6019785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704848" y="5943585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963928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1040127" y="6019785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1135377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1539236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1615436" y="6019785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1710686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36" name="Shape 127"/>
          <p:cNvSpPr/>
          <p:nvPr/>
        </p:nvSpPr>
        <p:spPr>
          <a:xfrm>
            <a:off x="2114545" y="5943585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7" name="Shape 128"/>
          <p:cNvSpPr/>
          <p:nvPr/>
        </p:nvSpPr>
        <p:spPr>
          <a:xfrm>
            <a:off x="2190745" y="6019785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2285994" y="5943585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9" name="Shape 130"/>
          <p:cNvSpPr/>
          <p:nvPr/>
        </p:nvSpPr>
        <p:spPr>
          <a:xfrm>
            <a:off x="2689853" y="5943585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0" name="Shape 131"/>
          <p:cNvSpPr/>
          <p:nvPr/>
        </p:nvSpPr>
        <p:spPr>
          <a:xfrm>
            <a:off x="2766053" y="6019785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41" name="Text 132"/>
          <p:cNvSpPr txBox="1"/>
          <p:nvPr/>
        </p:nvSpPr>
        <p:spPr>
          <a:xfrm>
            <a:off x="2861303" y="5943585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42" name="Shape 133"/>
          <p:cNvSpPr/>
          <p:nvPr/>
        </p:nvSpPr>
        <p:spPr>
          <a:xfrm>
            <a:off x="3409941" y="5943585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43" name="Shape 134"/>
          <p:cNvSpPr/>
          <p:nvPr/>
        </p:nvSpPr>
        <p:spPr>
          <a:xfrm>
            <a:off x="3486141" y="6019785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4" name="Text 135"/>
          <p:cNvSpPr txBox="1"/>
          <p:nvPr/>
        </p:nvSpPr>
        <p:spPr>
          <a:xfrm>
            <a:off x="3581391" y="5943585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145" name="Text 136"/>
          <p:cNvSpPr txBox="1"/>
          <p:nvPr/>
        </p:nvSpPr>
        <p:spPr>
          <a:xfrm>
            <a:off x="533399" y="6134085"/>
            <a:ext cx="11125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</a:t>
            </a:r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삼성전자 DS · AIA생명 · 쿠쿠전자   |   </a:t>
            </a:r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공식 파트너 </a:t>
            </a:r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· 카카오 · 크리테오 — 공식 홈페이지 공개 기준(광고 실행 경험이며 AI 솔루션 도입 실적과 별개)</a:t>
            </a:r>
            <a:endParaRPr lang="en-US" sz="650" dirty="0"/>
          </a:p>
        </p:txBody>
      </p:sp>
      <p:sp>
        <p:nvSpPr>
          <p:cNvPr id="146" name="Text 137"/>
          <p:cNvSpPr txBox="1"/>
          <p:nvPr/>
        </p:nvSpPr>
        <p:spPr>
          <a:xfrm>
            <a:off x="533399" y="6267434"/>
            <a:ext cx="111251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OpenAI(2026.07), Similarweb AI Search Stats 2026, 국내 광고업계 AI 제작 비중 전망 보도(2025.10) · 매체/채널 표기는 연동 현황 안내용</a:t>
            </a:r>
            <a:endParaRPr lang="en-US" sz="650" dirty="0"/>
          </a:p>
        </p:txBody>
      </p:sp>
      <p:sp>
        <p:nvSpPr>
          <p:cNvPr id="147" name="Shape 13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48" name="Text 13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49" name="Text 14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5종(M Ai Platform · AI LAB · 커머스허브) + 데이터 인프라 1(MI) — 수집부터 판단까지 단일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만들고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CREATE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8623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623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관리하고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MANAGE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39080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9080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운영·성과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OPERATE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339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339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339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8648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95470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28648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28648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28648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8648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8648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8648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28648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2400294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00294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49554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6236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9554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49554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49554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9554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49554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49554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249554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26718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6718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6718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62439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9261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362439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362439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4362439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362439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362439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62439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4362439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613408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3408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34085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22933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749615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622933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2933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622933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22933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622933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22933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622933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000980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000980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00980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096230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9363052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8096230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096230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8096230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096230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096230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8096230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8096230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986787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· 데이터 인프라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6787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67875" y="1771646"/>
            <a:ext cx="1781171" cy="2666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963125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11229947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Infra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9963125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963125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9963125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963125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9963125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데이터 분석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9963125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7" name="Text 85"/>
          <p:cNvSpPr txBox="1"/>
          <p:nvPr/>
        </p:nvSpPr>
        <p:spPr>
          <a:xfrm>
            <a:off x="9963125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인프라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· 마케팅팀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배너핏 + 릴스 + GEO 케어 + 애드리포트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커머스팀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 + MI + 애드리포트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확장 방향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33399" y="51434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3399" y="51434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66748" y="52101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666748" y="53911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 · 카카오쇼핑 API 연동 신청 자료(2026.09)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· AI 솔루션 5종 + 데이터 인프라(MI)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통합 리포트 · 통합 데이터 분석 · 인프라 구성 (AI 솔루션 아님)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자체 기술 기반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입력 6단계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기본정보 · 이미지 업로드 · 스타일 · 텍스트&amp;폰트 · 출력 옵션 · 생성 모델. 로고 노출 위치 9분할 지정.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 작업 모드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라이트 — 양식 입력형 / 에디터 — 대화 지시형. 한 줄 요청으로도 시안 생성.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규격 변형 · 레이어 편집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1:1 · 4:3 · 16:9 · 9:16 기본 비율 + 매체 규격 23종 이상. 레이어 분리 후 브라우저 수정.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생성 모델 선택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Gemini(나노 바나나) · ChatGPT 2.0. 완성 시안은 영상 생성 탭으로 연결.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20186" y="4514839"/>
            <a:ext cx="92963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20186" y="4514839"/>
            <a:ext cx="9296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 사이즈 변형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506974" y="4514839"/>
            <a:ext cx="60959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506974" y="4514839"/>
            <a:ext cx="6095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영상 생성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089657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08965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편집하기 · 프로젝트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업로드와 요청 한 줄 → 배경 · 카피 · 레이아웃 시안 동시 산출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줄 입력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상황 한 문장 입력 → AI가 질문 자동 완성 → 초안 스토리보드 제시.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기획 5단계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아이디어 · 의도 · 표현 · 스토리보드 · 완료. 길이 2컷 / 4컷 / 7컷 선택.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표현 선택형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영상 종류(실사 · 3D · 현실+3D · 웹툰) · 화면 스타일 · 분위기 · 주인공/조연.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컷별 승인 · 재생성 후 VEO 3.1(1080p) 또는 Gemini Omni(720p)로 출력.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360167" y="4514839"/>
            <a:ext cx="84962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0167" y="4514839"/>
            <a:ext cx="8496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유튜브 16:9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66944" y="4514839"/>
            <a:ext cx="769618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66944" y="4514839"/>
            <a:ext cx="76961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인스타 1:1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4800588"/>
            <a:ext cx="1569716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3399" y="4800588"/>
            <a:ext cx="156971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영상 · 시작/엔드 프레임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7" name="Shape 43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8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9" name="Shape 44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51" name="Shape 4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3" name="Text 4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 · 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기반 SEO + GEO 통합 분석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전통적인 SEO 점검과 AI 검색 최적화 분석을 한 번에 — 메타 태그 최적화 상태까지 점검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점수 3종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동시 산출. 자사 사이트 기준 84 / 95 / 72.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80점 이상 인용 가능 · 70점대 기본 충족 · 60점 이하 구조 개선 필요.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진단 범위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ChatGPT · Gemini · Perplexity · 네이버 AI 브리핑(Yeti · 서치어드바이저).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항목별 현재값 · 권장 기준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인용 신뢰도(E-E-A-T 70점 이상) · 통계 포함 · 스키마 · 엔티티 연결성.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고객은 AI에게 묻고 있는데, 우리 브랜드는 AI 답변에 등장하고 있나요?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AEO·GEO 개선 가이드(2026.09)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533399" y="5619736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점수는 자체 진단 기준입니다 — 실제 AI 답변 노출·인용률이나 검색순위를 뜻하지 않습니다.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</a:t>
            </a:r>
            <a:endParaRPr lang="en-US" sz="800" dirty="0"/>
          </a:p>
        </p:txBody>
      </p:sp>
      <p:sp>
        <p:nvSpPr>
          <p:cNvPr id="50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798" y="2266944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7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85823" y="2266944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463036" y="2266944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53923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34486" y="2266944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1893565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6976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65015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468874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45074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640323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044182" y="2266944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12038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15632" y="2266944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85798" y="2533644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99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7248" y="2533644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05886" y="2533644"/>
            <a:ext cx="109727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48208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77336" y="2533644"/>
            <a:ext cx="86867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85798" y="4076690"/>
            <a:ext cx="72008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85823" y="4076690"/>
            <a:ext cx="4724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463036" y="4076690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539236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634486" y="4076690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1965955" y="4076690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042155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37405" y="4076690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41264" y="4076690"/>
            <a:ext cx="66293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17463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43433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3261352" y="4076690"/>
            <a:ext cx="59054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337552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3432801" y="4076690"/>
            <a:ext cx="36194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685798" y="4343389"/>
            <a:ext cx="10096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73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85823" y="4343389"/>
            <a:ext cx="76199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1752596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9270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1952620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240274" y="4343389"/>
            <a:ext cx="43052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49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2440299" y="4343389"/>
            <a:ext cx="1828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2727953" y="4343389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2804153" y="4419589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2899403" y="4343389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3303262" y="4343389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3379462" y="4419589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3474711" y="4343389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685798" y="4610088"/>
            <a:ext cx="9372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3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885823" y="4610088"/>
            <a:ext cx="68960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1680206" y="4610088"/>
            <a:ext cx="37337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1756406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1851655" y="4610088"/>
            <a:ext cx="144780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2110735" y="4610088"/>
            <a:ext cx="4457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2186935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2282184" y="4610088"/>
            <a:ext cx="21716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2613653" y="4610088"/>
            <a:ext cx="5181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2689853" y="46862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2785103" y="4610088"/>
            <a:ext cx="289559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4895838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333987"/>
            <a:ext cx="358139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애드리포트 실제 캡처(수치는 캡처 시점 기준, 광고주명·금액 마스킹).</a:t>
            </a:r>
            <a:endParaRPr lang="en-US" sz="6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채널·매체별 연동 범위와 집계 주기가 다르며, 판매 매출과 광고 기여 성과는 구분합니다.</a:t>
            </a:r>
            <a:endParaRPr lang="en-US" sz="65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5486386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723898" y="5581636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도입 3단계 — 진단 → 연동 세팅 → 운영</a:t>
            </a:r>
            <a:endParaRPr lang="en-US" sz="1200" dirty="0"/>
          </a:p>
        </p:txBody>
      </p:sp>
      <p:sp>
        <p:nvSpPr>
          <p:cNvPr id="108" name="Text 98"/>
          <p:cNvSpPr txBox="1"/>
          <p:nvPr/>
        </p:nvSpPr>
        <p:spPr>
          <a:xfrm>
            <a:off x="723898" y="5791186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E6F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성과 · 대행사 공수 · 1인 기업 인력 대체</a:t>
            </a:r>
            <a:endParaRPr lang="en-US" sz="900" dirty="0"/>
          </a:p>
        </p:txBody>
      </p:sp>
      <p:sp>
        <p:nvSpPr>
          <p:cNvPr id="109" name="Shape 99"/>
          <p:cNvSpPr/>
          <p:nvPr/>
        </p:nvSpPr>
        <p:spPr>
          <a:xfrm>
            <a:off x="8953478" y="5619736"/>
            <a:ext cx="25145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0"/>
          <p:cNvSpPr txBox="1"/>
          <p:nvPr/>
        </p:nvSpPr>
        <p:spPr>
          <a:xfrm>
            <a:off x="8953478" y="5619736"/>
            <a:ext cx="25145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AIU본부 · mplanit.co.kr</a:t>
            </a:r>
            <a:endParaRPr lang="en-US" sz="900" dirty="0"/>
          </a:p>
        </p:txBody>
      </p:sp>
      <p:sp>
        <p:nvSpPr>
          <p:cNvPr id="111" name="Shape 101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02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13" name="Text 103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TECH BASE · 데이터 인프라 (AI 솔루션 아님)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· 대량 리포트, 그리고 그 아래 인프라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매체·마켓·전환 데이터를 한 기준으로 모으는 수집·정규화·집계 구조 — 엠플랜잇 자체 구축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Solution · Data Infra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목표 기반 입찰 조정 · 시간대/요일 규칙 · 예산 소진 제어. 애드몬스터 유형 기능.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· 다광고주 실적 일괄 수집 · 키워드 단위 대량 추출 · 정기 자동 발송.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데이터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광고비 · 마켓 매출 · 전환 데이터를 단일 지표 체계로 결합. 광고주·브랜드·상품 단위 교차 분석.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인프라 구성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API 수집 스케줄러 · 정규화 · 적재 · 권한 분리까지 직접 설계·운영. 외부 솔루션 의존 없음.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148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815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솔루션이 올라서는 바닥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624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데이터를 모으고 맞추는 인프라가 엠플랜잇의 기술 기반입니다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5010137"/>
            <a:ext cx="3581391" cy="400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MI는 AI 기능이 아닌 운영 자동화·데이터 기술 영역 — 기능 범위·오픈 일정은 내부 확정 후 갱신.</a:t>
            </a:r>
            <a:endParaRPr lang="en-US" sz="6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공식 홈페이지 Solution 페이지에는 M Ai Platform · MARS(통합 리포트 분석 · 리포트 자동화)로 소개되어 있으며,</a:t>
            </a:r>
            <a:endParaRPr lang="en-US" sz="6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 장표의 MI 명칭과 자동입찰 설명은 사내 제공 정보 기준입니다.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파이프라인 — 수집에서 판단까지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수집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14 · 마켓 7 API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정규화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매체·채널 기준 통일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적재 · 집계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일/캠페인/키워드/SKU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활용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· 입찰 · ROAS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219809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315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5315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35315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981930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1528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1528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811528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9744051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87740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87740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987740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3339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85798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외부 툴 구독 대체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85798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입찰관리 툴 이용료 없이 사내 인프라로 운영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286239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4438639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4438639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입찰 · 리포트 · 매출이 애드리포트/커머스허브와 같은 기준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039080" y="5219687"/>
            <a:ext cx="3638541" cy="704848"/>
          </a:xfrm>
          <a:prstGeom prst="roundRect">
            <a:avLst>
              <a:gd name="adj" fmla="val 778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191480" y="5333987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확장 기반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191480" y="554353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새 매체·마켓 추가 시 수집 계층만 붙이면 전 솔루션에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데이터 인프라 · 엠플랜잇 자체 기술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APPENDIX · 근거와 표기 기준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제공 범위와 표기 기준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과장 없이, 확인된 것만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장표에 쓴 화면·수치·명칭의 출처와, 오해를 막기 위한 표기 원칙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2026.09 기준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848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자료 근거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4848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 장표에 쓰인 화면과 수치의 출처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04848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제품 화면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솔루션 소개 PPTX(배너핏 3장 · 릴스 스튜디오 4장 · GEO 2장), AD_report 화면 4종, 커머스허브 캡처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04848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사양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 API 서비스소개서(판매 채널 7 · 광고 매체 14 · 수집 주기)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04848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기준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최적화 GEO 가이드(AX본부): 점수 해석 · 3대 리스크 · 개선 우선순위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04848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제공 정보(네이버 자동입찰 · 대량 통합 리포트). 공식 Solution 페이지는 M Ai Platform · MARS로 소개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04848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시장 수치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OpenAI(2026.07) · Similarweb AI Search Stats 2026 · 국내 광고업계 보도 · 크몽 숏폼 단가 가이드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04848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· 파트너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공식 홈페이지 공개 기준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86484" y="1447796"/>
            <a:ext cx="5372087" cy="3390892"/>
          </a:xfrm>
          <a:prstGeom prst="roundRect">
            <a:avLst>
              <a:gd name="adj" fmla="val 1348"/>
            </a:avLst>
          </a:prstGeom>
          <a:solidFill>
            <a:srgbClr val="FFFBF5"/>
          </a:solidFill>
          <a:ln w="9525">
            <a:solidFill>
              <a:srgbClr val="F0E2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57934" y="1600196"/>
            <a:ext cx="5029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표기 기준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57934" y="1809745"/>
            <a:ext cx="50291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제안·설명 시 지켜야 할 범위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457934" y="2057395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전체 구조도는 서비스 포트폴리오입니다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솔루션 간 자동 통합 아키텍처를 뜻하지 않습니다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457934" y="2457444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점수는 자체 진단 기준입니다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노출·인용률이나 검색순위가 아닙니다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457934" y="2857493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 수치는 캡처 시점 데이터이며 광고주명·금액은 마스킹했습니다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현재 성과가 아닙니다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457934" y="3257542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채널·매체별 연동 범위와 집계 주기가 다릅니다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매출과 광고 기여 성과는 구분합니다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457934" y="3657591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카카오쇼핑(톡스토어)은 연동 승인 대기 상태입니다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457934" y="4057640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기능 범위·오픈 일정, 소상공인용 상품은 확정 전입니다 —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도입 상담에서 확정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57934" y="4457689"/>
            <a:ext cx="5029187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D9770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!  </a:t>
            </a:r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프로젝트 수행 경험과 AI 솔루션 도입 실적은 별개입니다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33399" y="5010137"/>
            <a:ext cx="11125172" cy="590549"/>
          </a:xfrm>
          <a:prstGeom prst="roundRect">
            <a:avLst>
              <a:gd name="adj" fmla="val 7742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3898" y="5105387"/>
            <a:ext cx="6667483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기능·연동·운영 범위는 도입 상담에서 확정합니다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23898" y="5314937"/>
            <a:ext cx="66674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9DEE7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기술을 고르고, 브랜드에 맞추고, 실행을 돕습니다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143977" y="5143487"/>
            <a:ext cx="2324094" cy="323849"/>
          </a:xfrm>
          <a:prstGeom prst="roundRect">
            <a:avLst>
              <a:gd name="adj" fmla="val 28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3977" y="5143487"/>
            <a:ext cx="2324094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mplanit@mplanit.co.kr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Appendix · 근거와 표기 기준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09 / 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2026-09-20T13:45:22Z</dcterms:created>
  <dcterms:modified xsi:type="dcterms:W3CDTF">2026-09-20T13:45:22Z</dcterms:modified>
</cp:coreProperties>
</file>