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 — 솔루션 5종과 시장 근거 3가지. 제작·노출·판매·성과 흐름으로 설명.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LAB 통합 요약 — 단독 1장으로도 사용 가능. 5개 솔루션의 역할, 데이터 연결, 대상별 활용.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솔루션 이미지맵 — 단독 1장 배포용. 커머스허브/MI 화면은 확보 후 교체.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47625"/>
          </a:xfrm>
          <a:prstGeom prst="rect">
            <a:avLst/>
          </a:prstGeom>
          <a:solidFill>
            <a:srgbClr val="1B468B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6248370" cy="47625"/>
          </a:xfrm>
          <a:prstGeom prst="rect">
            <a:avLst/>
          </a:prstGeom>
          <a:solidFill>
            <a:srgbClr val="399BC1"/>
          </a:solidFill>
          <a:ln/>
        </p:spPr>
      </p:sp>
      <p:pic>
        <p:nvPicPr>
          <p:cNvPr id="4" name="Image 0" descr="/home/user/mplanit/ai-solution/assets/png/logo-mplan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399" y="419099"/>
            <a:ext cx="1095372" cy="36303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029677" y="438149"/>
            <a:ext cx="2628893" cy="266699"/>
          </a:xfrm>
          <a:prstGeom prst="roundRect">
            <a:avLst>
              <a:gd name="adj" fmla="val 41143"/>
            </a:avLst>
          </a:prstGeom>
          <a:solidFill>
            <a:srgbClr val="EAF1FC"/>
          </a:solidFill>
          <a:ln w="9525">
            <a:solidFill>
              <a:srgbClr val="CFDC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029677" y="438149"/>
            <a:ext cx="2628893" cy="266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AI LAB 솔루션 소개서 · 2026.09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533399" y="1219197"/>
            <a:ext cx="8572479" cy="1047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제작 · 노출 · 판매 · 성과
</a:t>
            </a:r>
            <a:pPr indent="0" marL="0">
              <a:lnSpc>
                <a:spcPct val="116000"/>
              </a:lnSpc>
              <a:buNone/>
            </a:pPr>
            <a:r>
              <a:rPr lang="en-US" sz="30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광고 실무 전 과정의 AI 전환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33399" y="2343144"/>
            <a:ext cx="85724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엠플랜잇 AI LAB 솔루션 6종 — 대행사 실무 기준 설계, 1인 기업까지 사용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33399" y="2724143"/>
            <a:ext cx="2085970" cy="266699"/>
          </a:xfrm>
          <a:prstGeom prst="roundRect">
            <a:avLst>
              <a:gd name="adj" fmla="val 34286"/>
            </a:avLst>
          </a:prstGeom>
          <a:solidFill>
            <a:srgbClr val="EAF1FC"/>
          </a:solidFill>
          <a:ln w="12700">
            <a:solidFill>
              <a:srgbClr val="EAF1F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33399" y="2724143"/>
            <a:ext cx="2085970" cy="266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제작  </a:t>
            </a:r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Banner Fit · Reels Studio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2619368" y="2724143"/>
            <a:ext cx="171450" cy="266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CE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90818" y="2724143"/>
            <a:ext cx="1495421" cy="266699"/>
          </a:xfrm>
          <a:prstGeom prst="roundRect">
            <a:avLst>
              <a:gd name="adj" fmla="val 34286"/>
            </a:avLst>
          </a:prstGeom>
          <a:solidFill>
            <a:srgbClr val="EAF1FC"/>
          </a:solidFill>
          <a:ln w="12700">
            <a:solidFill>
              <a:srgbClr val="EAF1F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790818" y="2724143"/>
            <a:ext cx="1495421" cy="266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노출  </a:t>
            </a:r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GEO Metric Care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4286239" y="2724143"/>
            <a:ext cx="171450" cy="266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CE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457689" y="2724143"/>
            <a:ext cx="904873" cy="266699"/>
          </a:xfrm>
          <a:prstGeom prst="roundRect">
            <a:avLst>
              <a:gd name="adj" fmla="val 34286"/>
            </a:avLst>
          </a:prstGeom>
          <a:solidFill>
            <a:srgbClr val="EAF1FC"/>
          </a:solidFill>
          <a:ln w="12700">
            <a:solidFill>
              <a:srgbClr val="EAF1F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457689" y="2724143"/>
            <a:ext cx="904873" cy="266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판매  </a:t>
            </a:r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커머스허브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5362562" y="2724143"/>
            <a:ext cx="171450" cy="266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CE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534011" y="2724143"/>
            <a:ext cx="904873" cy="266699"/>
          </a:xfrm>
          <a:prstGeom prst="roundRect">
            <a:avLst>
              <a:gd name="adj" fmla="val 34286"/>
            </a:avLst>
          </a:prstGeom>
          <a:solidFill>
            <a:srgbClr val="EAF1FC"/>
          </a:solidFill>
          <a:ln w="12700">
            <a:solidFill>
              <a:srgbClr val="EAF1F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534011" y="2724143"/>
            <a:ext cx="904873" cy="266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성과  </a:t>
            </a:r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애드리포트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6438884" y="2724143"/>
            <a:ext cx="171450" cy="266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CE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›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610333" y="2724143"/>
            <a:ext cx="963928" cy="266699"/>
          </a:xfrm>
          <a:prstGeom prst="roundRect">
            <a:avLst>
              <a:gd name="adj" fmla="val 34286"/>
            </a:avLst>
          </a:prstGeom>
          <a:solidFill>
            <a:srgbClr val="EAF1FC"/>
          </a:solidFill>
          <a:ln w="12700">
            <a:solidFill>
              <a:srgbClr val="EAF1F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610333" y="2724143"/>
            <a:ext cx="963928" cy="266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운영  </a:t>
            </a:r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MI 솔루션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33399" y="3181342"/>
            <a:ext cx="1771646" cy="1714496"/>
          </a:xfrm>
          <a:prstGeom prst="roundRect">
            <a:avLst>
              <a:gd name="adj" fmla="val 3200"/>
            </a:avLst>
          </a:prstGeom>
          <a:solidFill>
            <a:srgbClr val="FBFD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7698" y="3333742"/>
            <a:ext cx="228599" cy="228599"/>
          </a:xfrm>
          <a:prstGeom prst="roundRect">
            <a:avLst>
              <a:gd name="adj" fmla="val 40000"/>
            </a:avLst>
          </a:prstGeom>
          <a:solidFill>
            <a:srgbClr val="1B468B"/>
          </a:solidFill>
          <a:ln w="12700">
            <a:solidFill>
              <a:srgbClr val="1B468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7698" y="3333742"/>
            <a:ext cx="228599" cy="228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952498" y="3333742"/>
            <a:ext cx="1257297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배너핏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647698" y="3619491"/>
            <a:ext cx="15430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60" kern="0" dirty="0">
                <a:solidFill>
                  <a:srgbClr val="399BC1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BANNER FIT</a:t>
            </a:r>
            <a:endParaRPr lang="en-US" sz="650" dirty="0"/>
          </a:p>
        </p:txBody>
      </p:sp>
      <p:sp>
        <p:nvSpPr>
          <p:cNvPr id="28" name="Text 25"/>
          <p:cNvSpPr txBox="1"/>
          <p:nvPr/>
        </p:nvSpPr>
        <p:spPr>
          <a:xfrm>
            <a:off x="647698" y="3809990"/>
            <a:ext cx="1543046" cy="666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배너 시안 생성 · 매체 규격 변형 · 레이어 편집 · 영상 전환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647698" y="4552939"/>
            <a:ext cx="1543046" cy="0"/>
          </a:xfrm>
          <a:prstGeom prst="line">
            <a:avLst/>
          </a:prstGeom>
          <a:noFill/>
          <a:ln w="6350">
            <a:solidFill>
              <a:srgbClr val="CFDCEE"/>
            </a:solidFill>
            <a:prstDash val="dash"/>
          </a:ln>
        </p:spPr>
      </p:sp>
      <p:sp>
        <p:nvSpPr>
          <p:cNvPr id="30" name="Text 27"/>
          <p:cNvSpPr txBox="1"/>
          <p:nvPr/>
        </p:nvSpPr>
        <p:spPr>
          <a:xfrm>
            <a:off x="647698" y="4610088"/>
            <a:ext cx="15430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라이트 · 에디터 2모드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2400294" y="3181342"/>
            <a:ext cx="1771646" cy="1714496"/>
          </a:xfrm>
          <a:prstGeom prst="roundRect">
            <a:avLst>
              <a:gd name="adj" fmla="val 3200"/>
            </a:avLst>
          </a:prstGeom>
          <a:solidFill>
            <a:srgbClr val="FBFD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514594" y="3333742"/>
            <a:ext cx="228599" cy="228599"/>
          </a:xfrm>
          <a:prstGeom prst="roundRect">
            <a:avLst>
              <a:gd name="adj" fmla="val 40000"/>
            </a:avLst>
          </a:prstGeom>
          <a:solidFill>
            <a:srgbClr val="1B468B"/>
          </a:solidFill>
          <a:ln w="12700">
            <a:solidFill>
              <a:srgbClr val="1B468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514594" y="3333742"/>
            <a:ext cx="228599" cy="228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2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2819393" y="3333742"/>
            <a:ext cx="1257297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릴스 스튜디오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2514594" y="3619491"/>
            <a:ext cx="15430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60" kern="0" dirty="0">
                <a:solidFill>
                  <a:srgbClr val="399BC1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REELS STUDIO</a:t>
            </a:r>
            <a:endParaRPr lang="en-US" sz="650" dirty="0"/>
          </a:p>
        </p:txBody>
      </p:sp>
      <p:sp>
        <p:nvSpPr>
          <p:cNvPr id="36" name="Text 33"/>
          <p:cNvSpPr txBox="1"/>
          <p:nvPr/>
        </p:nvSpPr>
        <p:spPr>
          <a:xfrm>
            <a:off x="2514594" y="3809990"/>
            <a:ext cx="1543046" cy="666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한 줄 아이디어 · 기획 노드 · 컷별 프롬프트 · 모델 선택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2514594" y="4552939"/>
            <a:ext cx="1543046" cy="0"/>
          </a:xfrm>
          <a:prstGeom prst="line">
            <a:avLst/>
          </a:prstGeom>
          <a:noFill/>
          <a:ln w="6350">
            <a:solidFill>
              <a:srgbClr val="CFDCEE"/>
            </a:solidFill>
            <a:prstDash val="dash"/>
          </a:ln>
        </p:spPr>
      </p:sp>
      <p:sp>
        <p:nvSpPr>
          <p:cNvPr id="38" name="Text 35"/>
          <p:cNvSpPr txBox="1"/>
          <p:nvPr/>
        </p:nvSpPr>
        <p:spPr>
          <a:xfrm>
            <a:off x="2514594" y="4610088"/>
            <a:ext cx="15430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컷 승인형 렌더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4267189" y="3181342"/>
            <a:ext cx="1771646" cy="1714496"/>
          </a:xfrm>
          <a:prstGeom prst="roundRect">
            <a:avLst>
              <a:gd name="adj" fmla="val 3200"/>
            </a:avLst>
          </a:prstGeom>
          <a:solidFill>
            <a:srgbClr val="FBFD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381489" y="3333742"/>
            <a:ext cx="228599" cy="228599"/>
          </a:xfrm>
          <a:prstGeom prst="roundRect">
            <a:avLst>
              <a:gd name="adj" fmla="val 40000"/>
            </a:avLst>
          </a:prstGeom>
          <a:solidFill>
            <a:srgbClr val="1B468B"/>
          </a:solidFill>
          <a:ln w="12700">
            <a:solidFill>
              <a:srgbClr val="1B468B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381489" y="3333742"/>
            <a:ext cx="228599" cy="228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Text 39"/>
          <p:cNvSpPr txBox="1"/>
          <p:nvPr/>
        </p:nvSpPr>
        <p:spPr>
          <a:xfrm>
            <a:off x="4686288" y="3333742"/>
            <a:ext cx="1257297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지오 메트릭 케어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4381489" y="3619491"/>
            <a:ext cx="15430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60" kern="0" dirty="0">
                <a:solidFill>
                  <a:srgbClr val="399BC1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GEO METRIC CARE</a:t>
            </a:r>
            <a:endParaRPr lang="en-US" sz="650" dirty="0"/>
          </a:p>
        </p:txBody>
      </p:sp>
      <p:sp>
        <p:nvSpPr>
          <p:cNvPr id="44" name="Text 41"/>
          <p:cNvSpPr txBox="1"/>
          <p:nvPr/>
        </p:nvSpPr>
        <p:spPr>
          <a:xfrm>
            <a:off x="4381489" y="3809990"/>
            <a:ext cx="1543046" cy="666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AI 검색 노출 진단 · 점수화 · 개선 가이드 · 정기 재측정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4381489" y="4552939"/>
            <a:ext cx="1543046" cy="0"/>
          </a:xfrm>
          <a:prstGeom prst="line">
            <a:avLst/>
          </a:prstGeom>
          <a:noFill/>
          <a:ln w="6350">
            <a:solidFill>
              <a:srgbClr val="CFDCEE"/>
            </a:solidFill>
            <a:prstDash val="dash"/>
          </a:ln>
        </p:spPr>
      </p:sp>
      <p:sp>
        <p:nvSpPr>
          <p:cNvPr id="46" name="Text 43"/>
          <p:cNvSpPr txBox="1"/>
          <p:nvPr/>
        </p:nvSpPr>
        <p:spPr>
          <a:xfrm>
            <a:off x="4381489" y="4610088"/>
            <a:ext cx="15430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종합 · SEO · GEO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6134085" y="3181342"/>
            <a:ext cx="1771646" cy="1714496"/>
          </a:xfrm>
          <a:prstGeom prst="roundRect">
            <a:avLst>
              <a:gd name="adj" fmla="val 3200"/>
            </a:avLst>
          </a:prstGeom>
          <a:solidFill>
            <a:srgbClr val="FBFD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248384" y="3333742"/>
            <a:ext cx="228599" cy="228599"/>
          </a:xfrm>
          <a:prstGeom prst="roundRect">
            <a:avLst>
              <a:gd name="adj" fmla="val 40000"/>
            </a:avLst>
          </a:prstGeom>
          <a:solidFill>
            <a:srgbClr val="1B468B"/>
          </a:solidFill>
          <a:ln w="12700">
            <a:solidFill>
              <a:srgbClr val="1B468B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248384" y="3333742"/>
            <a:ext cx="228599" cy="228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4</a:t>
            </a:r>
            <a:endParaRPr lang="en-US" sz="900" dirty="0"/>
          </a:p>
        </p:txBody>
      </p:sp>
      <p:sp>
        <p:nvSpPr>
          <p:cNvPr id="50" name="Text 47"/>
          <p:cNvSpPr txBox="1"/>
          <p:nvPr/>
        </p:nvSpPr>
        <p:spPr>
          <a:xfrm>
            <a:off x="6553184" y="3333742"/>
            <a:ext cx="1257297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커머스허브</a:t>
            </a:r>
            <a:endParaRPr lang="en-US" sz="1050" dirty="0"/>
          </a:p>
        </p:txBody>
      </p:sp>
      <p:sp>
        <p:nvSpPr>
          <p:cNvPr id="51" name="Text 48"/>
          <p:cNvSpPr txBox="1"/>
          <p:nvPr/>
        </p:nvSpPr>
        <p:spPr>
          <a:xfrm>
            <a:off x="6248384" y="3619491"/>
            <a:ext cx="15430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60" kern="0" dirty="0">
                <a:solidFill>
                  <a:srgbClr val="399BC1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COMMERCE HUB</a:t>
            </a:r>
            <a:endParaRPr lang="en-US" sz="650" dirty="0"/>
          </a:p>
        </p:txBody>
      </p:sp>
      <p:sp>
        <p:nvSpPr>
          <p:cNvPr id="52" name="Text 49"/>
          <p:cNvSpPr txBox="1"/>
          <p:nvPr/>
        </p:nvSpPr>
        <p:spPr>
          <a:xfrm>
            <a:off x="6248384" y="3809990"/>
            <a:ext cx="1543046" cy="666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7개 마켓 주문 · 배송 · 정산 · 재고 통합 관리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6248384" y="4552939"/>
            <a:ext cx="1543046" cy="0"/>
          </a:xfrm>
          <a:prstGeom prst="line">
            <a:avLst/>
          </a:prstGeom>
          <a:noFill/>
          <a:ln w="6350">
            <a:solidFill>
              <a:srgbClr val="CFDCEE"/>
            </a:solidFill>
            <a:prstDash val="dash"/>
          </a:ln>
        </p:spPr>
      </p:sp>
      <p:sp>
        <p:nvSpPr>
          <p:cNvPr id="54" name="Text 51"/>
          <p:cNvSpPr txBox="1"/>
          <p:nvPr/>
        </p:nvSpPr>
        <p:spPr>
          <a:xfrm>
            <a:off x="6248384" y="4610088"/>
            <a:ext cx="15430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매시 주문 · 06:30 정산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8000980" y="3181342"/>
            <a:ext cx="1771646" cy="1714496"/>
          </a:xfrm>
          <a:prstGeom prst="roundRect">
            <a:avLst>
              <a:gd name="adj" fmla="val 3200"/>
            </a:avLst>
          </a:prstGeom>
          <a:solidFill>
            <a:srgbClr val="FBFD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115280" y="3333742"/>
            <a:ext cx="228599" cy="228599"/>
          </a:xfrm>
          <a:prstGeom prst="roundRect">
            <a:avLst>
              <a:gd name="adj" fmla="val 40000"/>
            </a:avLst>
          </a:prstGeom>
          <a:solidFill>
            <a:srgbClr val="1B468B"/>
          </a:solidFill>
          <a:ln w="12700">
            <a:solidFill>
              <a:srgbClr val="1B468B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8115280" y="3333742"/>
            <a:ext cx="228599" cy="228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5</a:t>
            </a:r>
            <a:endParaRPr lang="en-US" sz="900" dirty="0"/>
          </a:p>
        </p:txBody>
      </p:sp>
      <p:sp>
        <p:nvSpPr>
          <p:cNvPr id="58" name="Text 55"/>
          <p:cNvSpPr txBox="1"/>
          <p:nvPr/>
        </p:nvSpPr>
        <p:spPr>
          <a:xfrm>
            <a:off x="8420079" y="3333742"/>
            <a:ext cx="1257297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애드리포트</a:t>
            </a:r>
            <a:endParaRPr lang="en-US" sz="1050" dirty="0"/>
          </a:p>
        </p:txBody>
      </p:sp>
      <p:sp>
        <p:nvSpPr>
          <p:cNvPr id="59" name="Text 56"/>
          <p:cNvSpPr txBox="1"/>
          <p:nvPr/>
        </p:nvSpPr>
        <p:spPr>
          <a:xfrm>
            <a:off x="8115280" y="3619491"/>
            <a:ext cx="15430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60" kern="0" dirty="0">
                <a:solidFill>
                  <a:srgbClr val="399BC1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AD REPORT</a:t>
            </a:r>
            <a:endParaRPr lang="en-US" sz="650" dirty="0"/>
          </a:p>
        </p:txBody>
      </p:sp>
      <p:sp>
        <p:nvSpPr>
          <p:cNvPr id="60" name="Text 57"/>
          <p:cNvSpPr txBox="1"/>
          <p:nvPr/>
        </p:nvSpPr>
        <p:spPr>
          <a:xfrm>
            <a:off x="8115280" y="3809990"/>
            <a:ext cx="1543046" cy="666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14개 매체 집행 현황 · 전환 · ROAS · 알림 · 리포트</a:t>
            </a:r>
            <a:endParaRPr lang="en-US" sz="750" dirty="0"/>
          </a:p>
        </p:txBody>
      </p:sp>
      <p:sp>
        <p:nvSpPr>
          <p:cNvPr id="61" name="Shape 58"/>
          <p:cNvSpPr/>
          <p:nvPr/>
        </p:nvSpPr>
        <p:spPr>
          <a:xfrm>
            <a:off x="8115280" y="4552939"/>
            <a:ext cx="1543046" cy="0"/>
          </a:xfrm>
          <a:prstGeom prst="line">
            <a:avLst/>
          </a:prstGeom>
          <a:noFill/>
          <a:ln w="6350">
            <a:solidFill>
              <a:srgbClr val="CFDCEE"/>
            </a:solidFill>
            <a:prstDash val="dash"/>
          </a:ln>
        </p:spPr>
      </p:sp>
      <p:sp>
        <p:nvSpPr>
          <p:cNvPr id="62" name="Text 59"/>
          <p:cNvSpPr txBox="1"/>
          <p:nvPr/>
        </p:nvSpPr>
        <p:spPr>
          <a:xfrm>
            <a:off x="8115280" y="4610088"/>
            <a:ext cx="15430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성과 이상 즉시 알림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9867875" y="3181342"/>
            <a:ext cx="1771646" cy="1714496"/>
          </a:xfrm>
          <a:prstGeom prst="roundRect">
            <a:avLst>
              <a:gd name="adj" fmla="val 3200"/>
            </a:avLst>
          </a:prstGeom>
          <a:solidFill>
            <a:srgbClr val="FBFD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9982175" y="3333742"/>
            <a:ext cx="228599" cy="228599"/>
          </a:xfrm>
          <a:prstGeom prst="roundRect">
            <a:avLst>
              <a:gd name="adj" fmla="val 40000"/>
            </a:avLst>
          </a:prstGeom>
          <a:solidFill>
            <a:srgbClr val="1B468B"/>
          </a:solidFill>
          <a:ln w="12700">
            <a:solidFill>
              <a:srgbClr val="1B468B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9982175" y="3333742"/>
            <a:ext cx="228599" cy="228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6</a:t>
            </a:r>
            <a:endParaRPr lang="en-US" sz="900" dirty="0"/>
          </a:p>
        </p:txBody>
      </p:sp>
      <p:sp>
        <p:nvSpPr>
          <p:cNvPr id="66" name="Text 63"/>
          <p:cNvSpPr txBox="1"/>
          <p:nvPr/>
        </p:nvSpPr>
        <p:spPr>
          <a:xfrm>
            <a:off x="10286974" y="3333742"/>
            <a:ext cx="1257297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MI 솔루션</a:t>
            </a:r>
            <a:endParaRPr lang="en-US" sz="1050" dirty="0"/>
          </a:p>
        </p:txBody>
      </p:sp>
      <p:sp>
        <p:nvSpPr>
          <p:cNvPr id="67" name="Text 64"/>
          <p:cNvSpPr txBox="1"/>
          <p:nvPr/>
        </p:nvSpPr>
        <p:spPr>
          <a:xfrm>
            <a:off x="9982175" y="3619491"/>
            <a:ext cx="15430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60" kern="0" dirty="0">
                <a:solidFill>
                  <a:srgbClr val="399BC1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MARKETING INTELLIGENCE</a:t>
            </a:r>
            <a:endParaRPr lang="en-US" sz="650" dirty="0"/>
          </a:p>
        </p:txBody>
      </p:sp>
      <p:sp>
        <p:nvSpPr>
          <p:cNvPr id="68" name="Text 65"/>
          <p:cNvSpPr txBox="1"/>
          <p:nvPr/>
        </p:nvSpPr>
        <p:spPr>
          <a:xfrm>
            <a:off x="9982175" y="3809990"/>
            <a:ext cx="1543046" cy="666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네이버 검색광고 자동입찰 · 다계정 대량 통합 리포트</a:t>
            </a:r>
            <a:endParaRPr lang="en-US" sz="750" dirty="0"/>
          </a:p>
        </p:txBody>
      </p:sp>
      <p:sp>
        <p:nvSpPr>
          <p:cNvPr id="69" name="Shape 66"/>
          <p:cNvSpPr/>
          <p:nvPr/>
        </p:nvSpPr>
        <p:spPr>
          <a:xfrm>
            <a:off x="9982175" y="4552939"/>
            <a:ext cx="1543046" cy="0"/>
          </a:xfrm>
          <a:prstGeom prst="line">
            <a:avLst/>
          </a:prstGeom>
          <a:noFill/>
          <a:ln w="6350">
            <a:solidFill>
              <a:srgbClr val="CFDCEE"/>
            </a:solidFill>
            <a:prstDash val="dash"/>
          </a:ln>
        </p:spPr>
      </p:sp>
      <p:sp>
        <p:nvSpPr>
          <p:cNvPr id="70" name="Text 67"/>
          <p:cNvSpPr txBox="1"/>
          <p:nvPr/>
        </p:nvSpPr>
        <p:spPr>
          <a:xfrm>
            <a:off x="9982175" y="4610088"/>
            <a:ext cx="15430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운영 자동화 · 공수 대체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533399" y="5124437"/>
            <a:ext cx="28575" cy="438149"/>
          </a:xfrm>
          <a:prstGeom prst="rect">
            <a:avLst/>
          </a:prstGeom>
          <a:solidFill>
            <a:srgbClr val="399BC1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647698" y="5086337"/>
            <a:ext cx="3428991" cy="247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주간 10억 명</a:t>
            </a:r>
            <a:endParaRPr lang="en-US" sz="1400" dirty="0"/>
          </a:p>
        </p:txBody>
      </p:sp>
      <p:sp>
        <p:nvSpPr>
          <p:cNvPr id="73" name="Text 70"/>
          <p:cNvSpPr txBox="1"/>
          <p:nvPr/>
        </p:nvSpPr>
        <p:spPr>
          <a:xfrm>
            <a:off x="647698" y="5333987"/>
            <a:ext cx="3428991" cy="247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ChatGPT 주간 활성 이용자 — 검색 시작점 이동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4267189" y="5124437"/>
            <a:ext cx="28575" cy="438149"/>
          </a:xfrm>
          <a:prstGeom prst="rect">
            <a:avLst/>
          </a:prstGeom>
          <a:solidFill>
            <a:srgbClr val="399BC1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4381489" y="5086337"/>
            <a:ext cx="3428991" cy="247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약 40%</a:t>
            </a:r>
            <a:endParaRPr lang="en-US" sz="1400" dirty="0"/>
          </a:p>
        </p:txBody>
      </p:sp>
      <p:sp>
        <p:nvSpPr>
          <p:cNvPr id="76" name="Text 73"/>
          <p:cNvSpPr txBox="1"/>
          <p:nvPr/>
        </p:nvSpPr>
        <p:spPr>
          <a:xfrm>
            <a:off x="4381489" y="5333987"/>
            <a:ext cx="3428991" cy="247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2026년 AI 제작 디지털 광고 비중 전망</a:t>
            </a:r>
            <a:endParaRPr lang="en-US" sz="800" dirty="0"/>
          </a:p>
        </p:txBody>
      </p:sp>
      <p:sp>
        <p:nvSpPr>
          <p:cNvPr id="77" name="Shape 74"/>
          <p:cNvSpPr/>
          <p:nvPr/>
        </p:nvSpPr>
        <p:spPr>
          <a:xfrm>
            <a:off x="8000980" y="5124437"/>
            <a:ext cx="28575" cy="438149"/>
          </a:xfrm>
          <a:prstGeom prst="rect">
            <a:avLst/>
          </a:prstGeom>
          <a:solidFill>
            <a:srgbClr val="399BC1"/>
          </a:solidFill>
          <a:ln/>
        </p:spPr>
      </p:sp>
      <p:sp>
        <p:nvSpPr>
          <p:cNvPr id="78" name="Text 75"/>
          <p:cNvSpPr txBox="1"/>
          <p:nvPr/>
        </p:nvSpPr>
        <p:spPr>
          <a:xfrm>
            <a:off x="8115280" y="5086337"/>
            <a:ext cx="3428991" cy="247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0.8~1.3%</a:t>
            </a:r>
            <a:endParaRPr lang="en-US" sz="1400" dirty="0"/>
          </a:p>
        </p:txBody>
      </p:sp>
      <p:sp>
        <p:nvSpPr>
          <p:cNvPr id="79" name="Text 76"/>
          <p:cNvSpPr txBox="1"/>
          <p:nvPr/>
        </p:nvSpPr>
        <p:spPr>
          <a:xfrm>
            <a:off x="8115280" y="5333987"/>
            <a:ext cx="3428991" cy="247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AI 검색 클릭률(구글 29%) — 인용 없으면 유입 없음</a:t>
            </a:r>
            <a:endParaRPr lang="en-US" sz="800" dirty="0"/>
          </a:p>
        </p:txBody>
      </p:sp>
      <p:sp>
        <p:nvSpPr>
          <p:cNvPr id="80" name="Text 77"/>
          <p:cNvSpPr txBox="1"/>
          <p:nvPr/>
        </p:nvSpPr>
        <p:spPr>
          <a:xfrm>
            <a:off x="533399" y="5676886"/>
            <a:ext cx="851533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연동 광고 매체 14</a:t>
            </a:r>
            <a:endParaRPr lang="en-US" sz="750" dirty="0"/>
          </a:p>
        </p:txBody>
      </p:sp>
      <p:sp>
        <p:nvSpPr>
          <p:cNvPr id="81" name="Shape 78"/>
          <p:cNvSpPr/>
          <p:nvPr/>
        </p:nvSpPr>
        <p:spPr>
          <a:xfrm>
            <a:off x="1423031" y="5676886"/>
            <a:ext cx="720088" cy="209549"/>
          </a:xfrm>
          <a:prstGeom prst="roundRect">
            <a:avLst>
              <a:gd name="adj" fmla="val 4363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pic>
        <p:nvPicPr>
          <p:cNvPr id="82" name="Image 1" descr="/home/user/mplanit/ai-solution/assets/png/icon-na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706" y="5729273"/>
            <a:ext cx="104775" cy="104775"/>
          </a:xfrm>
          <a:prstGeom prst="rect">
            <a:avLst/>
          </a:prstGeom>
        </p:spPr>
      </p:pic>
      <p:sp>
        <p:nvSpPr>
          <p:cNvPr id="83" name="Text 79"/>
          <p:cNvSpPr txBox="1"/>
          <p:nvPr/>
        </p:nvSpPr>
        <p:spPr>
          <a:xfrm>
            <a:off x="1623056" y="5676886"/>
            <a:ext cx="472439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네이버 검색</a:t>
            </a:r>
            <a:endParaRPr lang="en-US" sz="750" dirty="0"/>
          </a:p>
        </p:txBody>
      </p:sp>
      <p:sp>
        <p:nvSpPr>
          <p:cNvPr id="84" name="Shape 80"/>
          <p:cNvSpPr/>
          <p:nvPr/>
        </p:nvSpPr>
        <p:spPr>
          <a:xfrm>
            <a:off x="2200269" y="5676886"/>
            <a:ext cx="445769" cy="209549"/>
          </a:xfrm>
          <a:prstGeom prst="roundRect">
            <a:avLst>
              <a:gd name="adj" fmla="val 4363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2276469" y="5753086"/>
            <a:ext cx="57150" cy="57150"/>
          </a:xfrm>
          <a:prstGeom prst="ellipse">
            <a:avLst/>
          </a:prstGeom>
          <a:solidFill>
            <a:srgbClr val="03C75A"/>
          </a:solidFill>
          <a:ln w="12700">
            <a:solidFill>
              <a:srgbClr val="03C75A"/>
            </a:solidFill>
            <a:prstDash val="solid"/>
          </a:ln>
        </p:spPr>
      </p:sp>
      <p:sp>
        <p:nvSpPr>
          <p:cNvPr id="86" name="Text 82"/>
          <p:cNvSpPr txBox="1"/>
          <p:nvPr/>
        </p:nvSpPr>
        <p:spPr>
          <a:xfrm>
            <a:off x="2371719" y="5676886"/>
            <a:ext cx="217169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GFA</a:t>
            </a:r>
            <a:endParaRPr lang="en-US" sz="750" dirty="0"/>
          </a:p>
        </p:txBody>
      </p:sp>
      <p:sp>
        <p:nvSpPr>
          <p:cNvPr id="87" name="Shape 83"/>
          <p:cNvSpPr/>
          <p:nvPr/>
        </p:nvSpPr>
        <p:spPr>
          <a:xfrm>
            <a:off x="2703188" y="5676886"/>
            <a:ext cx="518159" cy="209549"/>
          </a:xfrm>
          <a:prstGeom prst="roundRect">
            <a:avLst>
              <a:gd name="adj" fmla="val 4363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2779388" y="5753086"/>
            <a:ext cx="57150" cy="57150"/>
          </a:xfrm>
          <a:prstGeom prst="ellipse">
            <a:avLst/>
          </a:prstGeom>
          <a:solidFill>
            <a:srgbClr val="03C75A"/>
          </a:solidFill>
          <a:ln w="12700">
            <a:solidFill>
              <a:srgbClr val="03C75A"/>
            </a:solidFill>
            <a:prstDash val="solid"/>
          </a:ln>
        </p:spPr>
      </p:sp>
      <p:sp>
        <p:nvSpPr>
          <p:cNvPr id="89" name="Text 85"/>
          <p:cNvSpPr txBox="1"/>
          <p:nvPr/>
        </p:nvSpPr>
        <p:spPr>
          <a:xfrm>
            <a:off x="2874638" y="5676886"/>
            <a:ext cx="289559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NOSP</a:t>
            </a:r>
            <a:endParaRPr lang="en-US" sz="750" dirty="0"/>
          </a:p>
        </p:txBody>
      </p:sp>
      <p:sp>
        <p:nvSpPr>
          <p:cNvPr id="90" name="Shape 86"/>
          <p:cNvSpPr/>
          <p:nvPr/>
        </p:nvSpPr>
        <p:spPr>
          <a:xfrm>
            <a:off x="3278497" y="5676886"/>
            <a:ext cx="662938" cy="209549"/>
          </a:xfrm>
          <a:prstGeom prst="roundRect">
            <a:avLst>
              <a:gd name="adj" fmla="val 4363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3354697" y="5753086"/>
            <a:ext cx="57150" cy="57150"/>
          </a:xfrm>
          <a:prstGeom prst="ellipse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</p:sp>
      <p:sp>
        <p:nvSpPr>
          <p:cNvPr id="92" name="Text 88"/>
          <p:cNvSpPr txBox="1"/>
          <p:nvPr/>
        </p:nvSpPr>
        <p:spPr>
          <a:xfrm>
            <a:off x="3449946" y="5676886"/>
            <a:ext cx="434339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카카오모먼트</a:t>
            </a:r>
            <a:endParaRPr lang="en-US" sz="750" dirty="0"/>
          </a:p>
        </p:txBody>
      </p:sp>
      <p:sp>
        <p:nvSpPr>
          <p:cNvPr id="93" name="Shape 89"/>
          <p:cNvSpPr/>
          <p:nvPr/>
        </p:nvSpPr>
        <p:spPr>
          <a:xfrm>
            <a:off x="3998585" y="5676886"/>
            <a:ext cx="590549" cy="209549"/>
          </a:xfrm>
          <a:prstGeom prst="roundRect">
            <a:avLst>
              <a:gd name="adj" fmla="val 4363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94" name="Shape 90"/>
          <p:cNvSpPr/>
          <p:nvPr/>
        </p:nvSpPr>
        <p:spPr>
          <a:xfrm>
            <a:off x="4074785" y="5753086"/>
            <a:ext cx="57150" cy="57150"/>
          </a:xfrm>
          <a:prstGeom prst="ellipse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</p:sp>
      <p:sp>
        <p:nvSpPr>
          <p:cNvPr id="95" name="Text 91"/>
          <p:cNvSpPr txBox="1"/>
          <p:nvPr/>
        </p:nvSpPr>
        <p:spPr>
          <a:xfrm>
            <a:off x="4170035" y="5676886"/>
            <a:ext cx="361949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카카오페이</a:t>
            </a:r>
            <a:endParaRPr lang="en-US" sz="750" dirty="0"/>
          </a:p>
        </p:txBody>
      </p:sp>
      <p:sp>
        <p:nvSpPr>
          <p:cNvPr id="96" name="Shape 92"/>
          <p:cNvSpPr/>
          <p:nvPr/>
        </p:nvSpPr>
        <p:spPr>
          <a:xfrm>
            <a:off x="4646283" y="5676886"/>
            <a:ext cx="1009647" cy="209549"/>
          </a:xfrm>
          <a:prstGeom prst="roundRect">
            <a:avLst>
              <a:gd name="adj" fmla="val 4363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pic>
        <p:nvPicPr>
          <p:cNvPr id="97" name="Image 2" descr="/home/user/mplanit/ai-solution/assets/png/icon-googlead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958" y="5729273"/>
            <a:ext cx="104775" cy="104775"/>
          </a:xfrm>
          <a:prstGeom prst="rect">
            <a:avLst/>
          </a:prstGeom>
        </p:spPr>
      </p:pic>
      <p:sp>
        <p:nvSpPr>
          <p:cNvPr id="98" name="Text 93"/>
          <p:cNvSpPr txBox="1"/>
          <p:nvPr/>
        </p:nvSpPr>
        <p:spPr>
          <a:xfrm>
            <a:off x="4846308" y="5676886"/>
            <a:ext cx="761998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Google Ads</a:t>
            </a:r>
            <a:endParaRPr lang="en-US" sz="750" dirty="0"/>
          </a:p>
        </p:txBody>
      </p:sp>
      <p:sp>
        <p:nvSpPr>
          <p:cNvPr id="99" name="Shape 94"/>
          <p:cNvSpPr/>
          <p:nvPr/>
        </p:nvSpPr>
        <p:spPr>
          <a:xfrm>
            <a:off x="5713081" y="5676886"/>
            <a:ext cx="430529" cy="209549"/>
          </a:xfrm>
          <a:prstGeom prst="roundRect">
            <a:avLst>
              <a:gd name="adj" fmla="val 4363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pic>
        <p:nvPicPr>
          <p:cNvPr id="100" name="Image 3" descr="/home/user/mplanit/ai-solution/assets/png/icon-me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756" y="5729273"/>
            <a:ext cx="104775" cy="104775"/>
          </a:xfrm>
          <a:prstGeom prst="rect">
            <a:avLst/>
          </a:prstGeom>
        </p:spPr>
      </p:pic>
      <p:sp>
        <p:nvSpPr>
          <p:cNvPr id="101" name="Text 95"/>
          <p:cNvSpPr txBox="1"/>
          <p:nvPr/>
        </p:nvSpPr>
        <p:spPr>
          <a:xfrm>
            <a:off x="5913105" y="5676886"/>
            <a:ext cx="182880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메타</a:t>
            </a:r>
            <a:endParaRPr lang="en-US" sz="750" dirty="0"/>
          </a:p>
        </p:txBody>
      </p:sp>
      <p:sp>
        <p:nvSpPr>
          <p:cNvPr id="102" name="Shape 96"/>
          <p:cNvSpPr/>
          <p:nvPr/>
        </p:nvSpPr>
        <p:spPr>
          <a:xfrm>
            <a:off x="6200759" y="5676886"/>
            <a:ext cx="430529" cy="209549"/>
          </a:xfrm>
          <a:prstGeom prst="roundRect">
            <a:avLst>
              <a:gd name="adj" fmla="val 4363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pic>
        <p:nvPicPr>
          <p:cNvPr id="103" name="Image 4" descr="/home/user/mplanit/ai-solution/assets/png/icon-tikto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434" y="5729273"/>
            <a:ext cx="104775" cy="104775"/>
          </a:xfrm>
          <a:prstGeom prst="rect">
            <a:avLst/>
          </a:prstGeom>
        </p:spPr>
      </p:pic>
      <p:sp>
        <p:nvSpPr>
          <p:cNvPr id="104" name="Text 97"/>
          <p:cNvSpPr txBox="1"/>
          <p:nvPr/>
        </p:nvSpPr>
        <p:spPr>
          <a:xfrm>
            <a:off x="6400784" y="5676886"/>
            <a:ext cx="182880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틱톡</a:t>
            </a:r>
            <a:endParaRPr lang="en-US" sz="750" dirty="0"/>
          </a:p>
        </p:txBody>
      </p:sp>
      <p:sp>
        <p:nvSpPr>
          <p:cNvPr id="105" name="Shape 98"/>
          <p:cNvSpPr/>
          <p:nvPr/>
        </p:nvSpPr>
        <p:spPr>
          <a:xfrm>
            <a:off x="6688438" y="5676886"/>
            <a:ext cx="518159" cy="209549"/>
          </a:xfrm>
          <a:prstGeom prst="roundRect">
            <a:avLst>
              <a:gd name="adj" fmla="val 4363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106" name="Shape 99"/>
          <p:cNvSpPr/>
          <p:nvPr/>
        </p:nvSpPr>
        <p:spPr>
          <a:xfrm>
            <a:off x="6764638" y="5753086"/>
            <a:ext cx="57150" cy="57150"/>
          </a:xfrm>
          <a:prstGeom prst="ellipse">
            <a:avLst/>
          </a:prstGeom>
          <a:solidFill>
            <a:srgbClr val="F76B15"/>
          </a:solidFill>
          <a:ln w="12700">
            <a:solidFill>
              <a:srgbClr val="F76B15"/>
            </a:solidFill>
            <a:prstDash val="solid"/>
          </a:ln>
        </p:spPr>
      </p:sp>
      <p:sp>
        <p:nvSpPr>
          <p:cNvPr id="107" name="Text 100"/>
          <p:cNvSpPr txBox="1"/>
          <p:nvPr/>
        </p:nvSpPr>
        <p:spPr>
          <a:xfrm>
            <a:off x="6859888" y="5676886"/>
            <a:ext cx="289559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크리테오</a:t>
            </a:r>
            <a:endParaRPr lang="en-US" sz="750" dirty="0"/>
          </a:p>
        </p:txBody>
      </p:sp>
      <p:sp>
        <p:nvSpPr>
          <p:cNvPr id="108" name="Shape 101"/>
          <p:cNvSpPr/>
          <p:nvPr/>
        </p:nvSpPr>
        <p:spPr>
          <a:xfrm>
            <a:off x="7263747" y="5676886"/>
            <a:ext cx="445769" cy="209549"/>
          </a:xfrm>
          <a:prstGeom prst="roundRect">
            <a:avLst>
              <a:gd name="adj" fmla="val 4363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109" name="Shape 102"/>
          <p:cNvSpPr/>
          <p:nvPr/>
        </p:nvSpPr>
        <p:spPr>
          <a:xfrm>
            <a:off x="7339947" y="5753086"/>
            <a:ext cx="57150" cy="57150"/>
          </a:xfrm>
          <a:prstGeom prst="ellipse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110" name="Text 103"/>
          <p:cNvSpPr txBox="1"/>
          <p:nvPr/>
        </p:nvSpPr>
        <p:spPr>
          <a:xfrm>
            <a:off x="7435196" y="5676886"/>
            <a:ext cx="217169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타불라</a:t>
            </a:r>
            <a:endParaRPr lang="en-US" sz="750" dirty="0"/>
          </a:p>
        </p:txBody>
      </p:sp>
      <p:sp>
        <p:nvSpPr>
          <p:cNvPr id="111" name="Shape 104"/>
          <p:cNvSpPr/>
          <p:nvPr/>
        </p:nvSpPr>
        <p:spPr>
          <a:xfrm>
            <a:off x="7766666" y="5676886"/>
            <a:ext cx="937258" cy="209549"/>
          </a:xfrm>
          <a:prstGeom prst="roundRect">
            <a:avLst>
              <a:gd name="adj" fmla="val 4363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pic>
        <p:nvPicPr>
          <p:cNvPr id="112" name="Image 5" descr="/home/user/mplanit/ai-solution/assets/png/icon-app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3340" y="5729273"/>
            <a:ext cx="104775" cy="104775"/>
          </a:xfrm>
          <a:prstGeom prst="rect">
            <a:avLst/>
          </a:prstGeom>
        </p:spPr>
      </p:pic>
      <p:sp>
        <p:nvSpPr>
          <p:cNvPr id="113" name="Text 105"/>
          <p:cNvSpPr txBox="1"/>
          <p:nvPr/>
        </p:nvSpPr>
        <p:spPr>
          <a:xfrm>
            <a:off x="7966690" y="5676886"/>
            <a:ext cx="689608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Apple Ads</a:t>
            </a:r>
            <a:endParaRPr lang="en-US" sz="750" dirty="0"/>
          </a:p>
        </p:txBody>
      </p:sp>
      <p:sp>
        <p:nvSpPr>
          <p:cNvPr id="114" name="Shape 106"/>
          <p:cNvSpPr/>
          <p:nvPr/>
        </p:nvSpPr>
        <p:spPr>
          <a:xfrm>
            <a:off x="8761073" y="5676886"/>
            <a:ext cx="373379" cy="209549"/>
          </a:xfrm>
          <a:prstGeom prst="roundRect">
            <a:avLst>
              <a:gd name="adj" fmla="val 4363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115" name="Shape 107"/>
          <p:cNvSpPr/>
          <p:nvPr/>
        </p:nvSpPr>
        <p:spPr>
          <a:xfrm>
            <a:off x="8837273" y="5753086"/>
            <a:ext cx="57150" cy="57150"/>
          </a:xfrm>
          <a:prstGeom prst="ellipse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116" name="Text 108"/>
          <p:cNvSpPr txBox="1"/>
          <p:nvPr/>
        </p:nvSpPr>
        <p:spPr>
          <a:xfrm>
            <a:off x="8932523" y="5676886"/>
            <a:ext cx="144780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당근</a:t>
            </a:r>
            <a:endParaRPr lang="en-US" sz="750" dirty="0"/>
          </a:p>
        </p:txBody>
      </p:sp>
      <p:sp>
        <p:nvSpPr>
          <p:cNvPr id="117" name="Shape 109"/>
          <p:cNvSpPr/>
          <p:nvPr/>
        </p:nvSpPr>
        <p:spPr>
          <a:xfrm>
            <a:off x="9191602" y="5676886"/>
            <a:ext cx="445769" cy="209549"/>
          </a:xfrm>
          <a:prstGeom prst="roundRect">
            <a:avLst>
              <a:gd name="adj" fmla="val 4363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118" name="Shape 110"/>
          <p:cNvSpPr/>
          <p:nvPr/>
        </p:nvSpPr>
        <p:spPr>
          <a:xfrm>
            <a:off x="9267802" y="5753086"/>
            <a:ext cx="57150" cy="57150"/>
          </a:xfrm>
          <a:prstGeom prst="ellipse">
            <a:avLst/>
          </a:prstGeom>
          <a:solidFill>
            <a:srgbClr val="6B7A90"/>
          </a:solidFill>
          <a:ln w="12700">
            <a:solidFill>
              <a:srgbClr val="6B7A90"/>
            </a:solidFill>
            <a:prstDash val="solid"/>
          </a:ln>
        </p:spPr>
      </p:sp>
      <p:sp>
        <p:nvSpPr>
          <p:cNvPr id="119" name="Text 111"/>
          <p:cNvSpPr txBox="1"/>
          <p:nvPr/>
        </p:nvSpPr>
        <p:spPr>
          <a:xfrm>
            <a:off x="9363052" y="5676886"/>
            <a:ext cx="217169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모비온</a:t>
            </a:r>
            <a:endParaRPr lang="en-US" sz="750" dirty="0"/>
          </a:p>
        </p:txBody>
      </p:sp>
      <p:sp>
        <p:nvSpPr>
          <p:cNvPr id="120" name="Shape 112"/>
          <p:cNvSpPr/>
          <p:nvPr/>
        </p:nvSpPr>
        <p:spPr>
          <a:xfrm>
            <a:off x="9694521" y="5676886"/>
            <a:ext cx="518159" cy="209549"/>
          </a:xfrm>
          <a:prstGeom prst="roundRect">
            <a:avLst>
              <a:gd name="adj" fmla="val 4363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121" name="Shape 113"/>
          <p:cNvSpPr/>
          <p:nvPr/>
        </p:nvSpPr>
        <p:spPr>
          <a:xfrm>
            <a:off x="9770721" y="5753086"/>
            <a:ext cx="57150" cy="57150"/>
          </a:xfrm>
          <a:prstGeom prst="ellipse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</p:sp>
      <p:sp>
        <p:nvSpPr>
          <p:cNvPr id="122" name="Text 114"/>
          <p:cNvSpPr txBox="1"/>
          <p:nvPr/>
        </p:nvSpPr>
        <p:spPr>
          <a:xfrm>
            <a:off x="9865970" y="5676886"/>
            <a:ext cx="289559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토스애즈</a:t>
            </a:r>
            <a:endParaRPr lang="en-US" sz="750" dirty="0"/>
          </a:p>
        </p:txBody>
      </p:sp>
      <p:sp>
        <p:nvSpPr>
          <p:cNvPr id="123" name="Text 115"/>
          <p:cNvSpPr txBox="1"/>
          <p:nvPr/>
        </p:nvSpPr>
        <p:spPr>
          <a:xfrm>
            <a:off x="10269829" y="5676886"/>
            <a:ext cx="569594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판매 채널 7</a:t>
            </a:r>
            <a:endParaRPr lang="en-US" sz="750" dirty="0"/>
          </a:p>
        </p:txBody>
      </p:sp>
      <p:sp>
        <p:nvSpPr>
          <p:cNvPr id="124" name="Shape 116"/>
          <p:cNvSpPr/>
          <p:nvPr/>
        </p:nvSpPr>
        <p:spPr>
          <a:xfrm>
            <a:off x="10877523" y="5676886"/>
            <a:ext cx="720088" cy="209549"/>
          </a:xfrm>
          <a:prstGeom prst="roundRect">
            <a:avLst>
              <a:gd name="adj" fmla="val 4363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pic>
        <p:nvPicPr>
          <p:cNvPr id="125" name="Image 6" descr="/home/user/mplanit/ai-solution/assets/png/icon-nav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44198" y="5729273"/>
            <a:ext cx="104775" cy="104775"/>
          </a:xfrm>
          <a:prstGeom prst="rect">
            <a:avLst/>
          </a:prstGeom>
        </p:spPr>
      </p:pic>
      <p:sp>
        <p:nvSpPr>
          <p:cNvPr id="126" name="Text 117"/>
          <p:cNvSpPr txBox="1"/>
          <p:nvPr/>
        </p:nvSpPr>
        <p:spPr>
          <a:xfrm>
            <a:off x="11077547" y="5676886"/>
            <a:ext cx="472439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스마트스토어</a:t>
            </a:r>
            <a:endParaRPr lang="en-US" sz="750" dirty="0"/>
          </a:p>
        </p:txBody>
      </p:sp>
      <p:sp>
        <p:nvSpPr>
          <p:cNvPr id="127" name="Shape 118"/>
          <p:cNvSpPr/>
          <p:nvPr/>
        </p:nvSpPr>
        <p:spPr>
          <a:xfrm>
            <a:off x="533399" y="5943585"/>
            <a:ext cx="373379" cy="209549"/>
          </a:xfrm>
          <a:prstGeom prst="roundRect">
            <a:avLst>
              <a:gd name="adj" fmla="val 4363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128" name="Shape 119"/>
          <p:cNvSpPr/>
          <p:nvPr/>
        </p:nvSpPr>
        <p:spPr>
          <a:xfrm>
            <a:off x="609598" y="6019785"/>
            <a:ext cx="57150" cy="57150"/>
          </a:xfrm>
          <a:prstGeom prst="ellipse">
            <a:avLst/>
          </a:prstGeom>
          <a:solidFill>
            <a:srgbClr val="C4161C"/>
          </a:solidFill>
          <a:ln w="12700">
            <a:solidFill>
              <a:srgbClr val="C4161C"/>
            </a:solidFill>
            <a:prstDash val="solid"/>
          </a:ln>
        </p:spPr>
      </p:sp>
      <p:sp>
        <p:nvSpPr>
          <p:cNvPr id="129" name="Text 120"/>
          <p:cNvSpPr txBox="1"/>
          <p:nvPr/>
        </p:nvSpPr>
        <p:spPr>
          <a:xfrm>
            <a:off x="704848" y="5943585"/>
            <a:ext cx="144780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쿠팡</a:t>
            </a:r>
            <a:endParaRPr lang="en-US" sz="750" dirty="0"/>
          </a:p>
        </p:txBody>
      </p:sp>
      <p:sp>
        <p:nvSpPr>
          <p:cNvPr id="130" name="Shape 121"/>
          <p:cNvSpPr/>
          <p:nvPr/>
        </p:nvSpPr>
        <p:spPr>
          <a:xfrm>
            <a:off x="963928" y="5943585"/>
            <a:ext cx="518159" cy="209549"/>
          </a:xfrm>
          <a:prstGeom prst="roundRect">
            <a:avLst>
              <a:gd name="adj" fmla="val 4363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131" name="Shape 122"/>
          <p:cNvSpPr/>
          <p:nvPr/>
        </p:nvSpPr>
        <p:spPr>
          <a:xfrm>
            <a:off x="1040127" y="6019785"/>
            <a:ext cx="57150" cy="57150"/>
          </a:xfrm>
          <a:prstGeom prst="ellipse">
            <a:avLst/>
          </a:prstGeom>
          <a:solidFill>
            <a:srgbClr val="1B5FAA"/>
          </a:solidFill>
          <a:ln w="12700">
            <a:solidFill>
              <a:srgbClr val="1B5FAA"/>
            </a:solidFill>
            <a:prstDash val="solid"/>
          </a:ln>
        </p:spPr>
      </p:sp>
      <p:sp>
        <p:nvSpPr>
          <p:cNvPr id="132" name="Text 123"/>
          <p:cNvSpPr txBox="1"/>
          <p:nvPr/>
        </p:nvSpPr>
        <p:spPr>
          <a:xfrm>
            <a:off x="1135377" y="5943585"/>
            <a:ext cx="289559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카페24</a:t>
            </a:r>
            <a:endParaRPr lang="en-US" sz="750" dirty="0"/>
          </a:p>
        </p:txBody>
      </p:sp>
      <p:sp>
        <p:nvSpPr>
          <p:cNvPr id="133" name="Shape 124"/>
          <p:cNvSpPr/>
          <p:nvPr/>
        </p:nvSpPr>
        <p:spPr>
          <a:xfrm>
            <a:off x="1539236" y="5943585"/>
            <a:ext cx="518159" cy="209549"/>
          </a:xfrm>
          <a:prstGeom prst="roundRect">
            <a:avLst>
              <a:gd name="adj" fmla="val 4363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134" name="Shape 125"/>
          <p:cNvSpPr/>
          <p:nvPr/>
        </p:nvSpPr>
        <p:spPr>
          <a:xfrm>
            <a:off x="1615436" y="6019785"/>
            <a:ext cx="57150" cy="57150"/>
          </a:xfrm>
          <a:prstGeom prst="ellipse">
            <a:avLst/>
          </a:prstGeom>
          <a:solidFill>
            <a:srgbClr val="FF0038"/>
          </a:solidFill>
          <a:ln w="12700">
            <a:solidFill>
              <a:srgbClr val="FF0038"/>
            </a:solidFill>
            <a:prstDash val="solid"/>
          </a:ln>
        </p:spPr>
      </p:sp>
      <p:sp>
        <p:nvSpPr>
          <p:cNvPr id="135" name="Text 126"/>
          <p:cNvSpPr txBox="1"/>
          <p:nvPr/>
        </p:nvSpPr>
        <p:spPr>
          <a:xfrm>
            <a:off x="1710686" y="5943585"/>
            <a:ext cx="289559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11번가</a:t>
            </a:r>
            <a:endParaRPr lang="en-US" sz="750" dirty="0"/>
          </a:p>
        </p:txBody>
      </p:sp>
      <p:sp>
        <p:nvSpPr>
          <p:cNvPr id="136" name="Shape 127"/>
          <p:cNvSpPr/>
          <p:nvPr/>
        </p:nvSpPr>
        <p:spPr>
          <a:xfrm>
            <a:off x="2114545" y="5943585"/>
            <a:ext cx="518159" cy="209549"/>
          </a:xfrm>
          <a:prstGeom prst="roundRect">
            <a:avLst>
              <a:gd name="adj" fmla="val 4363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137" name="Shape 128"/>
          <p:cNvSpPr/>
          <p:nvPr/>
        </p:nvSpPr>
        <p:spPr>
          <a:xfrm>
            <a:off x="2190745" y="6019785"/>
            <a:ext cx="57150" cy="57150"/>
          </a:xfrm>
          <a:prstGeom prst="ellipse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</p:sp>
      <p:sp>
        <p:nvSpPr>
          <p:cNvPr id="138" name="Text 129"/>
          <p:cNvSpPr txBox="1"/>
          <p:nvPr/>
        </p:nvSpPr>
        <p:spPr>
          <a:xfrm>
            <a:off x="2285994" y="5943585"/>
            <a:ext cx="289559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토스쇼핑</a:t>
            </a:r>
            <a:endParaRPr lang="en-US" sz="750" dirty="0"/>
          </a:p>
        </p:txBody>
      </p:sp>
      <p:sp>
        <p:nvSpPr>
          <p:cNvPr id="139" name="Shape 130"/>
          <p:cNvSpPr/>
          <p:nvPr/>
        </p:nvSpPr>
        <p:spPr>
          <a:xfrm>
            <a:off x="2689853" y="5943585"/>
            <a:ext cx="662938" cy="209549"/>
          </a:xfrm>
          <a:prstGeom prst="roundRect">
            <a:avLst>
              <a:gd name="adj" fmla="val 4363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140" name="Shape 131"/>
          <p:cNvSpPr/>
          <p:nvPr/>
        </p:nvSpPr>
        <p:spPr>
          <a:xfrm>
            <a:off x="2766053" y="6019785"/>
            <a:ext cx="57150" cy="57150"/>
          </a:xfrm>
          <a:prstGeom prst="ellipse">
            <a:avLst/>
          </a:prstGeom>
          <a:solidFill>
            <a:srgbClr val="00A650"/>
          </a:solidFill>
          <a:ln w="12700">
            <a:solidFill>
              <a:srgbClr val="00A650"/>
            </a:solidFill>
            <a:prstDash val="solid"/>
          </a:ln>
        </p:spPr>
      </p:sp>
      <p:sp>
        <p:nvSpPr>
          <p:cNvPr id="141" name="Text 132"/>
          <p:cNvSpPr txBox="1"/>
          <p:nvPr/>
        </p:nvSpPr>
        <p:spPr>
          <a:xfrm>
            <a:off x="2861303" y="5943585"/>
            <a:ext cx="434339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G마켓·옥션</a:t>
            </a:r>
            <a:endParaRPr lang="en-US" sz="750" dirty="0"/>
          </a:p>
        </p:txBody>
      </p:sp>
      <p:sp>
        <p:nvSpPr>
          <p:cNvPr id="142" name="Shape 133"/>
          <p:cNvSpPr/>
          <p:nvPr/>
        </p:nvSpPr>
        <p:spPr>
          <a:xfrm>
            <a:off x="3409941" y="5943585"/>
            <a:ext cx="518159" cy="209549"/>
          </a:xfrm>
          <a:prstGeom prst="roundRect">
            <a:avLst>
              <a:gd name="adj" fmla="val 4363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143" name="Shape 134"/>
          <p:cNvSpPr/>
          <p:nvPr/>
        </p:nvSpPr>
        <p:spPr>
          <a:xfrm>
            <a:off x="3486141" y="6019785"/>
            <a:ext cx="57150" cy="57150"/>
          </a:xfrm>
          <a:prstGeom prst="ellipse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</p:sp>
      <p:sp>
        <p:nvSpPr>
          <p:cNvPr id="144" name="Text 135"/>
          <p:cNvSpPr txBox="1"/>
          <p:nvPr/>
        </p:nvSpPr>
        <p:spPr>
          <a:xfrm>
            <a:off x="3581391" y="5943585"/>
            <a:ext cx="289559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톡스토어</a:t>
            </a:r>
            <a:endParaRPr lang="en-US" sz="750" dirty="0"/>
          </a:p>
        </p:txBody>
      </p:sp>
      <p:sp>
        <p:nvSpPr>
          <p:cNvPr id="145" name="Text 136"/>
          <p:cNvSpPr txBox="1"/>
          <p:nvPr/>
        </p:nvSpPr>
        <p:spPr>
          <a:xfrm>
            <a:off x="533399" y="6210284"/>
            <a:ext cx="11125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출처 · OpenAI(2026.07), Similarweb AI Search Stats 2026, 국내 광고업계 AI 제작 비중 전망 보도(2025.10) · 매체/채널 표기는 연동 현황 안내용</a:t>
            </a:r>
            <a:endParaRPr lang="en-US" sz="650" dirty="0"/>
          </a:p>
        </p:txBody>
      </p:sp>
      <p:sp>
        <p:nvSpPr>
          <p:cNvPr id="146" name="Shape 137"/>
          <p:cNvSpPr/>
          <p:nvPr/>
        </p:nvSpPr>
        <p:spPr>
          <a:xfrm>
            <a:off x="533399" y="6400784"/>
            <a:ext cx="11125172" cy="0"/>
          </a:xfrm>
          <a:prstGeom prst="line">
            <a:avLst/>
          </a:prstGeom>
          <a:noFill/>
          <a:ln w="9525">
            <a:solidFill>
              <a:srgbClr val="E3EAF4"/>
            </a:solidFill>
            <a:prstDash val="solid"/>
          </a:ln>
        </p:spPr>
      </p:sp>
      <p:sp>
        <p:nvSpPr>
          <p:cNvPr id="147" name="Text 138"/>
          <p:cNvSpPr txBox="1"/>
          <p:nvPr/>
        </p:nvSpPr>
        <p:spPr>
          <a:xfrm>
            <a:off x="533399" y="6457934"/>
            <a:ext cx="76199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엠플랜잇 AIU본부 · AI LAB · mplanit.co.kr</a:t>
            </a:r>
            <a:endParaRPr lang="en-US" sz="800" dirty="0"/>
          </a:p>
        </p:txBody>
      </p:sp>
      <p:sp>
        <p:nvSpPr>
          <p:cNvPr id="148" name="Text 139"/>
          <p:cNvSpPr txBox="1"/>
          <p:nvPr/>
        </p:nvSpPr>
        <p:spPr>
          <a:xfrm>
            <a:off x="9524976" y="6457934"/>
            <a:ext cx="21335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01 / 08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47625"/>
          </a:xfrm>
          <a:prstGeom prst="rect">
            <a:avLst/>
          </a:prstGeom>
          <a:solidFill>
            <a:srgbClr val="1B468B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6248370" cy="47625"/>
          </a:xfrm>
          <a:prstGeom prst="rect">
            <a:avLst/>
          </a:prstGeom>
          <a:solidFill>
            <a:srgbClr val="399BC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33399" y="419099"/>
            <a:ext cx="66674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399BC1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AI LAB INTEGRATION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33399" y="590549"/>
            <a:ext cx="8953478" cy="323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AI LAB 통합 구조 — </a:t>
            </a:r>
            <a:pPr indent="0" marL="0">
              <a:buNone/>
            </a:pPr>
            <a:r>
              <a:rPr lang="en-US" sz="21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소재에서 매출까지 한 줄로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33399" y="952498"/>
            <a:ext cx="89534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솔루션 6종 · 단계별 역할 · 데이터 연결 · 적용 대상 요약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048727" y="571499"/>
            <a:ext cx="2609843" cy="247649"/>
          </a:xfrm>
          <a:prstGeom prst="roundRect">
            <a:avLst>
              <a:gd name="adj" fmla="val 44308"/>
            </a:avLst>
          </a:prstGeom>
          <a:solidFill>
            <a:srgbClr val="EAF1FC"/>
          </a:solidFill>
          <a:ln w="9525">
            <a:solidFill>
              <a:srgbClr val="CFDC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48727" y="571499"/>
            <a:ext cx="2609843" cy="247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통합 요약 1장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33399" y="1200147"/>
            <a:ext cx="11125172" cy="0"/>
          </a:xfrm>
          <a:prstGeom prst="line">
            <a:avLst/>
          </a:prstGeom>
          <a:noFill/>
          <a:ln w="9525">
            <a:solidFill>
              <a:srgbClr val="E3EA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3399" y="1390647"/>
            <a:ext cx="17811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399BC1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01 제작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33399" y="1600196"/>
            <a:ext cx="1781171" cy="1600196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CFDC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3399" y="1600196"/>
            <a:ext cx="1781171" cy="285749"/>
          </a:xfrm>
          <a:prstGeom prst="rect">
            <a:avLst/>
          </a:prstGeom>
          <a:solidFill>
            <a:srgbClr val="1B468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8648" y="1600196"/>
            <a:ext cx="1285872" cy="285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배너핏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895470" y="1666871"/>
            <a:ext cx="3238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9E6F6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운영</a:t>
            </a:r>
            <a:endParaRPr lang="en-US" sz="650" dirty="0"/>
          </a:p>
        </p:txBody>
      </p:sp>
      <p:sp>
        <p:nvSpPr>
          <p:cNvPr id="15" name="Text 13"/>
          <p:cNvSpPr txBox="1"/>
          <p:nvPr/>
        </p:nvSpPr>
        <p:spPr>
          <a:xfrm>
            <a:off x="628648" y="1962145"/>
            <a:ext cx="1590671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입력 6단계 / 대화형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28648" y="2190745"/>
            <a:ext cx="1590671" cy="0"/>
          </a:xfrm>
          <a:prstGeom prst="line">
            <a:avLst/>
          </a:prstGeom>
          <a:noFill/>
          <a:ln w="6350">
            <a:solidFill>
              <a:srgbClr val="E3EAF4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628648" y="2247894"/>
            <a:ext cx="1590671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매체 규격 23종+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28648" y="2476494"/>
            <a:ext cx="1590671" cy="0"/>
          </a:xfrm>
          <a:prstGeom prst="line">
            <a:avLst/>
          </a:prstGeom>
          <a:noFill/>
          <a:ln w="6350">
            <a:solidFill>
              <a:srgbClr val="E3EAF4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628648" y="2533644"/>
            <a:ext cx="1590671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레이어 분리 · PSD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28648" y="2762243"/>
            <a:ext cx="1590671" cy="0"/>
          </a:xfrm>
          <a:prstGeom prst="line">
            <a:avLst/>
          </a:prstGeom>
          <a:noFill/>
          <a:ln w="6350">
            <a:solidFill>
              <a:srgbClr val="E3EAF4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628648" y="2819393"/>
            <a:ext cx="1590671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모델 2종 선택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2400294" y="1390647"/>
            <a:ext cx="17811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399BC1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02 제작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400294" y="1600196"/>
            <a:ext cx="1781171" cy="1600196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CFDC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00294" y="1600196"/>
            <a:ext cx="1781171" cy="285749"/>
          </a:xfrm>
          <a:prstGeom prst="rect">
            <a:avLst/>
          </a:prstGeom>
          <a:solidFill>
            <a:srgbClr val="1B468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495544" y="1600196"/>
            <a:ext cx="1285872" cy="285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릴스 스튜디오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3762366" y="1666871"/>
            <a:ext cx="3238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9E6F6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운영</a:t>
            </a:r>
            <a:endParaRPr lang="en-US" sz="650" dirty="0"/>
          </a:p>
        </p:txBody>
      </p:sp>
      <p:sp>
        <p:nvSpPr>
          <p:cNvPr id="27" name="Text 25"/>
          <p:cNvSpPr txBox="1"/>
          <p:nvPr/>
        </p:nvSpPr>
        <p:spPr>
          <a:xfrm>
            <a:off x="2495544" y="1962145"/>
            <a:ext cx="1590671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한 줄 → AI 질문 완성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495544" y="2190745"/>
            <a:ext cx="1590671" cy="0"/>
          </a:xfrm>
          <a:prstGeom prst="line">
            <a:avLst/>
          </a:prstGeom>
          <a:noFill/>
          <a:ln w="6350">
            <a:solidFill>
              <a:srgbClr val="E3EAF4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2495544" y="2247894"/>
            <a:ext cx="1590671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기획 5단계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495544" y="2476494"/>
            <a:ext cx="1590671" cy="0"/>
          </a:xfrm>
          <a:prstGeom prst="line">
            <a:avLst/>
          </a:prstGeom>
          <a:noFill/>
          <a:ln w="6350">
            <a:solidFill>
              <a:srgbClr val="E3EAF4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2495544" y="2533644"/>
            <a:ext cx="1590671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컷 승인형 디렉팅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495544" y="2762243"/>
            <a:ext cx="1590671" cy="0"/>
          </a:xfrm>
          <a:prstGeom prst="line">
            <a:avLst/>
          </a:prstGeom>
          <a:noFill/>
          <a:ln w="6350">
            <a:solidFill>
              <a:srgbClr val="E3EAF4"/>
            </a:solidFill>
            <a:prstDash val="dash"/>
          </a:ln>
        </p:spPr>
      </p:sp>
      <p:sp>
        <p:nvSpPr>
          <p:cNvPr id="33" name="Text 31"/>
          <p:cNvSpPr txBox="1"/>
          <p:nvPr/>
        </p:nvSpPr>
        <p:spPr>
          <a:xfrm>
            <a:off x="2495544" y="2819393"/>
            <a:ext cx="1590671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엔진 2종 선택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4267189" y="1390647"/>
            <a:ext cx="17811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399BC1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03 노출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267189" y="1600196"/>
            <a:ext cx="1781171" cy="1600196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CFDC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67189" y="1600196"/>
            <a:ext cx="1781171" cy="285749"/>
          </a:xfrm>
          <a:prstGeom prst="rect">
            <a:avLst/>
          </a:prstGeom>
          <a:solidFill>
            <a:srgbClr val="1B468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362439" y="1600196"/>
            <a:ext cx="1285872" cy="285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지오 케어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5629261" y="1666871"/>
            <a:ext cx="3238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9E6F6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운영</a:t>
            </a:r>
            <a:endParaRPr lang="en-US" sz="650" dirty="0"/>
          </a:p>
        </p:txBody>
      </p:sp>
      <p:sp>
        <p:nvSpPr>
          <p:cNvPr id="39" name="Text 37"/>
          <p:cNvSpPr txBox="1"/>
          <p:nvPr/>
        </p:nvSpPr>
        <p:spPr>
          <a:xfrm>
            <a:off x="4362439" y="1962145"/>
            <a:ext cx="1590671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점수 3종 진단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362439" y="2190745"/>
            <a:ext cx="1590671" cy="0"/>
          </a:xfrm>
          <a:prstGeom prst="line">
            <a:avLst/>
          </a:prstGeom>
          <a:noFill/>
          <a:ln w="6350">
            <a:solidFill>
              <a:srgbClr val="E3EAF4"/>
            </a:solidFill>
            <a:prstDash val="dash"/>
          </a:ln>
        </p:spPr>
      </p:sp>
      <p:sp>
        <p:nvSpPr>
          <p:cNvPr id="41" name="Text 39"/>
          <p:cNvSpPr txBox="1"/>
          <p:nvPr/>
        </p:nvSpPr>
        <p:spPr>
          <a:xfrm>
            <a:off x="4362439" y="2247894"/>
            <a:ext cx="1590671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엔진 4종 점검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362439" y="2476494"/>
            <a:ext cx="1590671" cy="0"/>
          </a:xfrm>
          <a:prstGeom prst="line">
            <a:avLst/>
          </a:prstGeom>
          <a:noFill/>
          <a:ln w="6350">
            <a:solidFill>
              <a:srgbClr val="E3EAF4"/>
            </a:solidFill>
            <a:prstDash val="dash"/>
          </a:ln>
        </p:spPr>
      </p:sp>
      <p:sp>
        <p:nvSpPr>
          <p:cNvPr id="43" name="Text 41"/>
          <p:cNvSpPr txBox="1"/>
          <p:nvPr/>
        </p:nvSpPr>
        <p:spPr>
          <a:xfrm>
            <a:off x="4362439" y="2533644"/>
            <a:ext cx="1590671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개선 가이드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362439" y="2762243"/>
            <a:ext cx="1590671" cy="0"/>
          </a:xfrm>
          <a:prstGeom prst="line">
            <a:avLst/>
          </a:prstGeom>
          <a:noFill/>
          <a:ln w="6350">
            <a:solidFill>
              <a:srgbClr val="E3EAF4"/>
            </a:solidFill>
            <a:prstDash val="dash"/>
          </a:ln>
        </p:spPr>
      </p:sp>
      <p:sp>
        <p:nvSpPr>
          <p:cNvPr id="45" name="Text 43"/>
          <p:cNvSpPr txBox="1"/>
          <p:nvPr/>
        </p:nvSpPr>
        <p:spPr>
          <a:xfrm>
            <a:off x="4362439" y="2819393"/>
            <a:ext cx="1590671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월 1~2회 재측정</a:t>
            </a:r>
            <a:endParaRPr lang="en-US" sz="750" dirty="0"/>
          </a:p>
        </p:txBody>
      </p:sp>
      <p:sp>
        <p:nvSpPr>
          <p:cNvPr id="46" name="Text 44"/>
          <p:cNvSpPr txBox="1"/>
          <p:nvPr/>
        </p:nvSpPr>
        <p:spPr>
          <a:xfrm>
            <a:off x="6134085" y="1390647"/>
            <a:ext cx="17811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399BC1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04 판매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134085" y="1600196"/>
            <a:ext cx="1781171" cy="1600196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CFDC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34085" y="1600196"/>
            <a:ext cx="1781171" cy="285749"/>
          </a:xfrm>
          <a:prstGeom prst="rect">
            <a:avLst/>
          </a:prstGeom>
          <a:solidFill>
            <a:srgbClr val="1B468B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229334" y="1600196"/>
            <a:ext cx="1285872" cy="285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커머스허브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7496156" y="1666871"/>
            <a:ext cx="3238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9E6F6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운영</a:t>
            </a:r>
            <a:endParaRPr lang="en-US" sz="650" dirty="0"/>
          </a:p>
        </p:txBody>
      </p:sp>
      <p:sp>
        <p:nvSpPr>
          <p:cNvPr id="51" name="Text 49"/>
          <p:cNvSpPr txBox="1"/>
          <p:nvPr/>
        </p:nvSpPr>
        <p:spPr>
          <a:xfrm>
            <a:off x="6229334" y="1962145"/>
            <a:ext cx="1590671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판매 채널 7개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229334" y="2190745"/>
            <a:ext cx="1590671" cy="0"/>
          </a:xfrm>
          <a:prstGeom prst="line">
            <a:avLst/>
          </a:prstGeom>
          <a:noFill/>
          <a:ln w="6350">
            <a:solidFill>
              <a:srgbClr val="E3EAF4"/>
            </a:solidFill>
            <a:prstDash val="dash"/>
          </a:ln>
        </p:spPr>
      </p:sp>
      <p:sp>
        <p:nvSpPr>
          <p:cNvPr id="53" name="Text 51"/>
          <p:cNvSpPr txBox="1"/>
          <p:nvPr/>
        </p:nvSpPr>
        <p:spPr>
          <a:xfrm>
            <a:off x="6229334" y="2247894"/>
            <a:ext cx="1590671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주문 매시 수집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229334" y="2476494"/>
            <a:ext cx="1590671" cy="0"/>
          </a:xfrm>
          <a:prstGeom prst="line">
            <a:avLst/>
          </a:prstGeom>
          <a:noFill/>
          <a:ln w="6350">
            <a:solidFill>
              <a:srgbClr val="E3EAF4"/>
            </a:solidFill>
            <a:prstDash val="dash"/>
          </a:ln>
        </p:spPr>
      </p:sp>
      <p:sp>
        <p:nvSpPr>
          <p:cNvPr id="55" name="Text 53"/>
          <p:cNvSpPr txBox="1"/>
          <p:nvPr/>
        </p:nvSpPr>
        <p:spPr>
          <a:xfrm>
            <a:off x="6229334" y="2533644"/>
            <a:ext cx="1590671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정산 06:30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229334" y="2762243"/>
            <a:ext cx="1590671" cy="0"/>
          </a:xfrm>
          <a:prstGeom prst="line">
            <a:avLst/>
          </a:prstGeom>
          <a:noFill/>
          <a:ln w="6350">
            <a:solidFill>
              <a:srgbClr val="E3EAF4"/>
            </a:solidFill>
            <a:prstDash val="dash"/>
          </a:ln>
        </p:spPr>
      </p:sp>
      <p:sp>
        <p:nvSpPr>
          <p:cNvPr id="57" name="Text 55"/>
          <p:cNvSpPr txBox="1"/>
          <p:nvPr/>
        </p:nvSpPr>
        <p:spPr>
          <a:xfrm>
            <a:off x="6229334" y="2819393"/>
            <a:ext cx="1590671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SKU 재고 · 원가</a:t>
            </a:r>
            <a:endParaRPr lang="en-US" sz="750" dirty="0"/>
          </a:p>
        </p:txBody>
      </p:sp>
      <p:sp>
        <p:nvSpPr>
          <p:cNvPr id="58" name="Text 56"/>
          <p:cNvSpPr txBox="1"/>
          <p:nvPr/>
        </p:nvSpPr>
        <p:spPr>
          <a:xfrm>
            <a:off x="8000980" y="1390647"/>
            <a:ext cx="17811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399BC1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05 성과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8000980" y="1600196"/>
            <a:ext cx="1781171" cy="1600196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CFDCE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00980" y="1600196"/>
            <a:ext cx="1781171" cy="285749"/>
          </a:xfrm>
          <a:prstGeom prst="rect">
            <a:avLst/>
          </a:prstGeom>
          <a:solidFill>
            <a:srgbClr val="1B468B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8096230" y="1600196"/>
            <a:ext cx="1285872" cy="285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애드리포트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9363052" y="1666871"/>
            <a:ext cx="3238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9E6F6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운영</a:t>
            </a:r>
            <a:endParaRPr lang="en-US" sz="650" dirty="0"/>
          </a:p>
        </p:txBody>
      </p:sp>
      <p:sp>
        <p:nvSpPr>
          <p:cNvPr id="63" name="Text 61"/>
          <p:cNvSpPr txBox="1"/>
          <p:nvPr/>
        </p:nvSpPr>
        <p:spPr>
          <a:xfrm>
            <a:off x="8096230" y="1962145"/>
            <a:ext cx="1590671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광고 매체 14개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8096230" y="2190745"/>
            <a:ext cx="1590671" cy="0"/>
          </a:xfrm>
          <a:prstGeom prst="line">
            <a:avLst/>
          </a:prstGeom>
          <a:noFill/>
          <a:ln w="6350">
            <a:solidFill>
              <a:srgbClr val="E3EAF4"/>
            </a:solidFill>
            <a:prstDash val="dash"/>
          </a:ln>
        </p:spPr>
      </p:sp>
      <p:sp>
        <p:nvSpPr>
          <p:cNvPr id="65" name="Text 63"/>
          <p:cNvSpPr txBox="1"/>
          <p:nvPr/>
        </p:nvSpPr>
        <p:spPr>
          <a:xfrm>
            <a:off x="8096230" y="2247894"/>
            <a:ext cx="1590671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일 · 매체 · 캠페인 · 키워드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8096230" y="2476494"/>
            <a:ext cx="1590671" cy="0"/>
          </a:xfrm>
          <a:prstGeom prst="line">
            <a:avLst/>
          </a:prstGeom>
          <a:noFill/>
          <a:ln w="6350">
            <a:solidFill>
              <a:srgbClr val="E3EAF4"/>
            </a:solidFill>
            <a:prstDash val="dash"/>
          </a:ln>
        </p:spPr>
      </p:sp>
      <p:sp>
        <p:nvSpPr>
          <p:cNvPr id="67" name="Text 65"/>
          <p:cNvSpPr txBox="1"/>
          <p:nvPr/>
        </p:nvSpPr>
        <p:spPr>
          <a:xfrm>
            <a:off x="8096230" y="2533644"/>
            <a:ext cx="1590671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ROAS · 목표 진척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8096230" y="2762243"/>
            <a:ext cx="1590671" cy="0"/>
          </a:xfrm>
          <a:prstGeom prst="line">
            <a:avLst/>
          </a:prstGeom>
          <a:noFill/>
          <a:ln w="6350">
            <a:solidFill>
              <a:srgbClr val="E3EAF4"/>
            </a:solidFill>
            <a:prstDash val="dash"/>
          </a:ln>
        </p:spPr>
      </p:sp>
      <p:sp>
        <p:nvSpPr>
          <p:cNvPr id="69" name="Text 67"/>
          <p:cNvSpPr txBox="1"/>
          <p:nvPr/>
        </p:nvSpPr>
        <p:spPr>
          <a:xfrm>
            <a:off x="8096230" y="2819393"/>
            <a:ext cx="1590671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알림 · 정기 리포트</a:t>
            </a:r>
            <a:endParaRPr lang="en-US" sz="750" dirty="0"/>
          </a:p>
        </p:txBody>
      </p:sp>
      <p:sp>
        <p:nvSpPr>
          <p:cNvPr id="70" name="Text 68"/>
          <p:cNvSpPr txBox="1"/>
          <p:nvPr/>
        </p:nvSpPr>
        <p:spPr>
          <a:xfrm>
            <a:off x="9867875" y="1390647"/>
            <a:ext cx="17811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399BC1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06 운영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9867875" y="1600196"/>
            <a:ext cx="1781171" cy="1600196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CFDCE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867875" y="1600196"/>
            <a:ext cx="1781171" cy="285749"/>
          </a:xfrm>
          <a:prstGeom prst="rect">
            <a:avLst/>
          </a:prstGeom>
          <a:solidFill>
            <a:srgbClr val="1B468B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9963125" y="1600196"/>
            <a:ext cx="1285872" cy="285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MI 솔루션</a:t>
            </a:r>
            <a:endParaRPr lang="en-US" sz="950" dirty="0"/>
          </a:p>
        </p:txBody>
      </p:sp>
      <p:sp>
        <p:nvSpPr>
          <p:cNvPr id="74" name="Text 72"/>
          <p:cNvSpPr txBox="1"/>
          <p:nvPr/>
        </p:nvSpPr>
        <p:spPr>
          <a:xfrm>
            <a:off x="11229947" y="1666871"/>
            <a:ext cx="3238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9E6F6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준비</a:t>
            </a:r>
            <a:endParaRPr lang="en-US" sz="650" dirty="0"/>
          </a:p>
        </p:txBody>
      </p:sp>
      <p:sp>
        <p:nvSpPr>
          <p:cNvPr id="75" name="Text 73"/>
          <p:cNvSpPr txBox="1"/>
          <p:nvPr/>
        </p:nvSpPr>
        <p:spPr>
          <a:xfrm>
            <a:off x="9963125" y="1962145"/>
            <a:ext cx="1590671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네이버 자동입찰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9963125" y="2190745"/>
            <a:ext cx="1590671" cy="0"/>
          </a:xfrm>
          <a:prstGeom prst="line">
            <a:avLst/>
          </a:prstGeom>
          <a:noFill/>
          <a:ln w="6350">
            <a:solidFill>
              <a:srgbClr val="E3EAF4"/>
            </a:solidFill>
            <a:prstDash val="dash"/>
          </a:ln>
        </p:spPr>
      </p:sp>
      <p:sp>
        <p:nvSpPr>
          <p:cNvPr id="77" name="Text 75"/>
          <p:cNvSpPr txBox="1"/>
          <p:nvPr/>
        </p:nvSpPr>
        <p:spPr>
          <a:xfrm>
            <a:off x="9963125" y="2247894"/>
            <a:ext cx="1590671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순위 목표 · 시간대 규칙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9963125" y="2476494"/>
            <a:ext cx="1590671" cy="0"/>
          </a:xfrm>
          <a:prstGeom prst="line">
            <a:avLst/>
          </a:prstGeom>
          <a:noFill/>
          <a:ln w="6350">
            <a:solidFill>
              <a:srgbClr val="E3EAF4"/>
            </a:solidFill>
            <a:prstDash val="dash"/>
          </a:ln>
        </p:spPr>
      </p:sp>
      <p:sp>
        <p:nvSpPr>
          <p:cNvPr id="79" name="Text 77"/>
          <p:cNvSpPr txBox="1"/>
          <p:nvPr/>
        </p:nvSpPr>
        <p:spPr>
          <a:xfrm>
            <a:off x="9963125" y="2533644"/>
            <a:ext cx="1590671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다계정 통합 리포트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9963125" y="2762243"/>
            <a:ext cx="1590671" cy="0"/>
          </a:xfrm>
          <a:prstGeom prst="line">
            <a:avLst/>
          </a:prstGeom>
          <a:noFill/>
          <a:ln w="6350">
            <a:solidFill>
              <a:srgbClr val="E3EAF4"/>
            </a:solidFill>
            <a:prstDash val="dash"/>
          </a:ln>
        </p:spPr>
      </p:sp>
      <p:sp>
        <p:nvSpPr>
          <p:cNvPr id="81" name="Text 79"/>
          <p:cNvSpPr txBox="1"/>
          <p:nvPr/>
        </p:nvSpPr>
        <p:spPr>
          <a:xfrm>
            <a:off x="9963125" y="2819393"/>
            <a:ext cx="1590671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정기 자동 발송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533399" y="3352792"/>
            <a:ext cx="11125172" cy="704848"/>
          </a:xfrm>
          <a:prstGeom prst="roundRect">
            <a:avLst>
              <a:gd name="adj" fmla="val 6487"/>
            </a:avLst>
          </a:prstGeom>
          <a:solidFill>
            <a:srgbClr val="F5F8FC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66748" y="3486141"/>
            <a:ext cx="1962145" cy="438149"/>
          </a:xfrm>
          <a:prstGeom prst="roundRect">
            <a:avLst>
              <a:gd name="adj" fmla="val 12522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781048" y="3543291"/>
            <a:ext cx="17335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소재</a:t>
            </a:r>
            <a:endParaRPr lang="en-US" sz="900" dirty="0"/>
          </a:p>
        </p:txBody>
      </p:sp>
      <p:sp>
        <p:nvSpPr>
          <p:cNvPr id="85" name="Text 83"/>
          <p:cNvSpPr txBox="1"/>
          <p:nvPr/>
        </p:nvSpPr>
        <p:spPr>
          <a:xfrm>
            <a:off x="781048" y="3714741"/>
            <a:ext cx="17335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배너 · 영상 산출물</a:t>
            </a:r>
            <a:endParaRPr lang="en-US" sz="750" dirty="0"/>
          </a:p>
        </p:txBody>
      </p:sp>
      <p:sp>
        <p:nvSpPr>
          <p:cNvPr id="86" name="Text 84"/>
          <p:cNvSpPr txBox="1"/>
          <p:nvPr/>
        </p:nvSpPr>
        <p:spPr>
          <a:xfrm>
            <a:off x="2628893" y="3486141"/>
            <a:ext cx="190500" cy="438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DCE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›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2819393" y="3486141"/>
            <a:ext cx="1962145" cy="438149"/>
          </a:xfrm>
          <a:prstGeom prst="roundRect">
            <a:avLst>
              <a:gd name="adj" fmla="val 12522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2933693" y="3543291"/>
            <a:ext cx="17335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노출</a:t>
            </a:r>
            <a:endParaRPr lang="en-US" sz="900" dirty="0"/>
          </a:p>
        </p:txBody>
      </p:sp>
      <p:sp>
        <p:nvSpPr>
          <p:cNvPr id="89" name="Text 87"/>
          <p:cNvSpPr txBox="1"/>
          <p:nvPr/>
        </p:nvSpPr>
        <p:spPr>
          <a:xfrm>
            <a:off x="2933693" y="3714741"/>
            <a:ext cx="17335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매체 집행 + AI 검색 인용</a:t>
            </a:r>
            <a:endParaRPr lang="en-US" sz="750" dirty="0"/>
          </a:p>
        </p:txBody>
      </p:sp>
      <p:sp>
        <p:nvSpPr>
          <p:cNvPr id="90" name="Text 88"/>
          <p:cNvSpPr txBox="1"/>
          <p:nvPr/>
        </p:nvSpPr>
        <p:spPr>
          <a:xfrm>
            <a:off x="4781538" y="3486141"/>
            <a:ext cx="190500" cy="438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DCE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›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4972038" y="3486141"/>
            <a:ext cx="1962145" cy="438149"/>
          </a:xfrm>
          <a:prstGeom prst="roundRect">
            <a:avLst>
              <a:gd name="adj" fmla="val 12522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5086337" y="3543291"/>
            <a:ext cx="17335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주문</a:t>
            </a:r>
            <a:endParaRPr lang="en-US" sz="900" dirty="0"/>
          </a:p>
        </p:txBody>
      </p:sp>
      <p:sp>
        <p:nvSpPr>
          <p:cNvPr id="93" name="Text 91"/>
          <p:cNvSpPr txBox="1"/>
          <p:nvPr/>
        </p:nvSpPr>
        <p:spPr>
          <a:xfrm>
            <a:off x="5086337" y="3714741"/>
            <a:ext cx="17335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7개 채널 매출 집계</a:t>
            </a:r>
            <a:endParaRPr lang="en-US" sz="750" dirty="0"/>
          </a:p>
        </p:txBody>
      </p:sp>
      <p:sp>
        <p:nvSpPr>
          <p:cNvPr id="94" name="Text 92"/>
          <p:cNvSpPr txBox="1"/>
          <p:nvPr/>
        </p:nvSpPr>
        <p:spPr>
          <a:xfrm>
            <a:off x="6934183" y="3486141"/>
            <a:ext cx="190500" cy="438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DCE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›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7124682" y="3486141"/>
            <a:ext cx="1962145" cy="438149"/>
          </a:xfrm>
          <a:prstGeom prst="roundRect">
            <a:avLst>
              <a:gd name="adj" fmla="val 12522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7238982" y="3543291"/>
            <a:ext cx="17335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성과</a:t>
            </a:r>
            <a:endParaRPr lang="en-US" sz="900" dirty="0"/>
          </a:p>
        </p:txBody>
      </p:sp>
      <p:sp>
        <p:nvSpPr>
          <p:cNvPr id="97" name="Text 95"/>
          <p:cNvSpPr txBox="1"/>
          <p:nvPr/>
        </p:nvSpPr>
        <p:spPr>
          <a:xfrm>
            <a:off x="7238982" y="3714741"/>
            <a:ext cx="17335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광고비 + 전환매출 결합</a:t>
            </a:r>
            <a:endParaRPr lang="en-US" sz="750" dirty="0"/>
          </a:p>
        </p:txBody>
      </p:sp>
      <p:sp>
        <p:nvSpPr>
          <p:cNvPr id="98" name="Text 96"/>
          <p:cNvSpPr txBox="1"/>
          <p:nvPr/>
        </p:nvSpPr>
        <p:spPr>
          <a:xfrm>
            <a:off x="9086827" y="3486141"/>
            <a:ext cx="190500" cy="438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DCE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›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9277327" y="3486141"/>
            <a:ext cx="1962145" cy="438149"/>
          </a:xfrm>
          <a:prstGeom prst="roundRect">
            <a:avLst>
              <a:gd name="adj" fmla="val 12522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9391627" y="3543291"/>
            <a:ext cx="17335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판단</a:t>
            </a:r>
            <a:endParaRPr lang="en-US" sz="900" dirty="0"/>
          </a:p>
        </p:txBody>
      </p:sp>
      <p:sp>
        <p:nvSpPr>
          <p:cNvPr id="101" name="Text 99"/>
          <p:cNvSpPr txBox="1"/>
          <p:nvPr/>
        </p:nvSpPr>
        <p:spPr>
          <a:xfrm>
            <a:off x="9391627" y="3714741"/>
            <a:ext cx="17335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ROAS 기준 예산 배분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533399" y="4229089"/>
            <a:ext cx="3638541" cy="761998"/>
          </a:xfrm>
          <a:prstGeom prst="roundRect">
            <a:avLst>
              <a:gd name="adj" fmla="val 7200"/>
            </a:avLst>
          </a:prstGeom>
          <a:solidFill>
            <a:srgbClr val="FBFD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685798" y="4362439"/>
            <a:ext cx="33337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브랜드 광고주</a:t>
            </a:r>
            <a:endParaRPr lang="en-US" sz="1000" dirty="0"/>
          </a:p>
        </p:txBody>
      </p:sp>
      <p:sp>
        <p:nvSpPr>
          <p:cNvPr id="104" name="Text 102"/>
          <p:cNvSpPr txBox="1"/>
          <p:nvPr/>
        </p:nvSpPr>
        <p:spPr>
          <a:xfrm>
            <a:off x="685798" y="4571989"/>
            <a:ext cx="3333742" cy="342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캠페인 소재 대량 생성 · 매체별 성과 통합 리포트 · AI 검색 브랜드 노출 관리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4286239" y="4229089"/>
            <a:ext cx="3638541" cy="761998"/>
          </a:xfrm>
          <a:prstGeom prst="roundRect">
            <a:avLst>
              <a:gd name="adj" fmla="val 7200"/>
            </a:avLst>
          </a:prstGeom>
          <a:solidFill>
            <a:srgbClr val="FBFD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4438639" y="4362439"/>
            <a:ext cx="33337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그로스 · 중소 광고주</a:t>
            </a:r>
            <a:endParaRPr lang="en-US" sz="1000" dirty="0"/>
          </a:p>
        </p:txBody>
      </p:sp>
      <p:sp>
        <p:nvSpPr>
          <p:cNvPr id="107" name="Text 105"/>
          <p:cNvSpPr txBox="1"/>
          <p:nvPr/>
        </p:nvSpPr>
        <p:spPr>
          <a:xfrm>
            <a:off x="4438639" y="4571989"/>
            <a:ext cx="3333742" cy="342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소재 제작비 절감 · 채널별 ROAS 비교 · 성과 이상 즉시 알림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8039080" y="4229089"/>
            <a:ext cx="3638541" cy="761998"/>
          </a:xfrm>
          <a:prstGeom prst="roundRect">
            <a:avLst>
              <a:gd name="adj" fmla="val 7200"/>
            </a:avLst>
          </a:prstGeom>
          <a:solidFill>
            <a:srgbClr val="FBFD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8191480" y="4362439"/>
            <a:ext cx="33337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소상공인 · 1인 기업</a:t>
            </a:r>
            <a:endParaRPr lang="en-US" sz="1000" dirty="0"/>
          </a:p>
        </p:txBody>
      </p:sp>
      <p:sp>
        <p:nvSpPr>
          <p:cNvPr id="110" name="Text 108"/>
          <p:cNvSpPr txBox="1"/>
          <p:nvPr/>
        </p:nvSpPr>
        <p:spPr>
          <a:xfrm>
            <a:off x="8191480" y="4571989"/>
            <a:ext cx="3333742" cy="342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디자이너 없이 배너·영상 자체 제작 · 마켓 주문/정산 단일 화면 관리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533399" y="5143487"/>
            <a:ext cx="11125172" cy="45719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33399" y="5143487"/>
            <a:ext cx="28575" cy="457199"/>
          </a:xfrm>
          <a:prstGeom prst="rect">
            <a:avLst/>
          </a:prstGeom>
          <a:solidFill>
            <a:srgbClr val="1B468B"/>
          </a:solidFill>
          <a:ln w="12700">
            <a:solidFill>
              <a:srgbClr val="1B468B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666748" y="5210162"/>
            <a:ext cx="108775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판매와 광고를 한곳에서 — 광고비가 실제로 얼마를 팔았는지 확인</a:t>
            </a:r>
            <a:endParaRPr lang="en-US" sz="1000" dirty="0"/>
          </a:p>
        </p:txBody>
      </p:sp>
      <p:sp>
        <p:nvSpPr>
          <p:cNvPr id="114" name="Text 112"/>
          <p:cNvSpPr txBox="1"/>
          <p:nvPr/>
        </p:nvSpPr>
        <p:spPr>
          <a:xfrm>
            <a:off x="666748" y="5391137"/>
            <a:ext cx="108775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채널마다 접속·다운로드·옮겨적기 없이, 주문과 광고비가 같은 기준으로 합쳐집니다 · 카카오쇼핑 API 연동 신청 자료(2026.09)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533399" y="6400784"/>
            <a:ext cx="11125172" cy="0"/>
          </a:xfrm>
          <a:prstGeom prst="line">
            <a:avLst/>
          </a:prstGeom>
          <a:noFill/>
          <a:ln w="9525">
            <a:solidFill>
              <a:srgbClr val="E3EAF4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533399" y="6457934"/>
            <a:ext cx="76199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AI LAB · 통합 구조 요약</a:t>
            </a:r>
            <a:endParaRPr lang="en-US" sz="800" dirty="0"/>
          </a:p>
        </p:txBody>
      </p:sp>
      <p:sp>
        <p:nvSpPr>
          <p:cNvPr id="117" name="Text 115"/>
          <p:cNvSpPr txBox="1"/>
          <p:nvPr/>
        </p:nvSpPr>
        <p:spPr>
          <a:xfrm>
            <a:off x="9524976" y="6457934"/>
            <a:ext cx="21335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02 / 08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47625"/>
          </a:xfrm>
          <a:prstGeom prst="rect">
            <a:avLst/>
          </a:prstGeom>
          <a:solidFill>
            <a:srgbClr val="1B468B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6248370" cy="47625"/>
          </a:xfrm>
          <a:prstGeom prst="rect">
            <a:avLst/>
          </a:prstGeom>
          <a:solidFill>
            <a:srgbClr val="399BC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33399" y="419099"/>
            <a:ext cx="66674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399BC1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SOLUTION MAP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33399" y="590549"/>
            <a:ext cx="8953478" cy="323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솔루션 이미지맵 — </a:t>
            </a:r>
            <a:pPr indent="0" marL="0">
              <a:buNone/>
            </a:pPr>
            <a:r>
              <a:rPr lang="en-US" sz="21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화면으로 보는 6종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33399" y="952498"/>
            <a:ext cx="89534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제작 → 노출 → 판매 → 성과 → 운영, 실제 운영 화면 기준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048727" y="571499"/>
            <a:ext cx="2609843" cy="247649"/>
          </a:xfrm>
          <a:prstGeom prst="roundRect">
            <a:avLst>
              <a:gd name="adj" fmla="val 44308"/>
            </a:avLst>
          </a:prstGeom>
          <a:solidFill>
            <a:srgbClr val="EAF1FC"/>
          </a:solidFill>
          <a:ln w="9525">
            <a:solidFill>
              <a:srgbClr val="CFDC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48727" y="571499"/>
            <a:ext cx="2609843" cy="247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한 장 요약 · 배포용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33399" y="1200147"/>
            <a:ext cx="11125172" cy="0"/>
          </a:xfrm>
          <a:prstGeom prst="line">
            <a:avLst/>
          </a:prstGeom>
          <a:noFill/>
          <a:ln w="9525">
            <a:solidFill>
              <a:srgbClr val="E3EA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3399" y="1409696"/>
            <a:ext cx="3600441" cy="2381244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38100" dir="5400000">
              <a:srgbClr val="0F1B2E">
                <a:alpha val="8000"/>
              </a:srgbClr>
            </a:outerShdw>
          </a:effectLst>
        </p:spPr>
      </p:sp>
      <p:pic>
        <p:nvPicPr>
          <p:cNvPr id="11" name="Image 0" descr="/home/user/mplanit/ai-solution/assets/png/bannerfit-edit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3399" y="1409696"/>
            <a:ext cx="3600441" cy="140969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33399" y="2819393"/>
            <a:ext cx="3600441" cy="0"/>
          </a:xfrm>
          <a:prstGeom prst="line">
            <a:avLst/>
          </a:prstGeom>
          <a:noFill/>
          <a:ln w="9525">
            <a:solidFill>
              <a:srgbClr val="E3EAF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66748" y="2952743"/>
            <a:ext cx="361949" cy="161925"/>
          </a:xfrm>
          <a:prstGeom prst="roundRect">
            <a:avLst>
              <a:gd name="adj" fmla="val 56471"/>
            </a:avLst>
          </a:prstGeom>
          <a:solidFill>
            <a:srgbClr val="399BC1"/>
          </a:solidFill>
          <a:ln w="12700">
            <a:solidFill>
              <a:srgbClr val="399BC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66748" y="2952743"/>
            <a:ext cx="3619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제작</a:t>
            </a:r>
            <a:endParaRPr lang="en-US" sz="700" dirty="0"/>
          </a:p>
        </p:txBody>
      </p:sp>
      <p:sp>
        <p:nvSpPr>
          <p:cNvPr id="15" name="Text 12"/>
          <p:cNvSpPr txBox="1"/>
          <p:nvPr/>
        </p:nvSpPr>
        <p:spPr>
          <a:xfrm>
            <a:off x="1085847" y="2933693"/>
            <a:ext cx="291464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배너핏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66748" y="3181342"/>
            <a:ext cx="3333742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시안 생성 · 매체 규격 변형 · 레이어 편집 · 영상 전환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666748" y="3505191"/>
            <a:ext cx="33337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banner-fit.mplanit.co.kr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4286239" y="1409696"/>
            <a:ext cx="3600441" cy="2381244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38100" dir="5400000">
              <a:srgbClr val="0F1B2E">
                <a:alpha val="8000"/>
              </a:srgbClr>
            </a:outerShdw>
          </a:effectLst>
        </p:spPr>
      </p:sp>
      <p:pic>
        <p:nvPicPr>
          <p:cNvPr id="19" name="Image 1" descr="/home/user/mplanit/ai-solution/assets/png/reels-ide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86239" y="1409696"/>
            <a:ext cx="3600441" cy="1409696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4286239" y="2819393"/>
            <a:ext cx="3600441" cy="0"/>
          </a:xfrm>
          <a:prstGeom prst="line">
            <a:avLst/>
          </a:prstGeom>
          <a:noFill/>
          <a:ln w="9525">
            <a:solidFill>
              <a:srgbClr val="E3EAF4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419589" y="2952743"/>
            <a:ext cx="361949" cy="161925"/>
          </a:xfrm>
          <a:prstGeom prst="roundRect">
            <a:avLst>
              <a:gd name="adj" fmla="val 56471"/>
            </a:avLst>
          </a:prstGeom>
          <a:solidFill>
            <a:srgbClr val="399BC1"/>
          </a:solidFill>
          <a:ln w="12700">
            <a:solidFill>
              <a:srgbClr val="399BC1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419589" y="2952743"/>
            <a:ext cx="3619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제작</a:t>
            </a:r>
            <a:endParaRPr lang="en-US" sz="700" dirty="0"/>
          </a:p>
        </p:txBody>
      </p:sp>
      <p:sp>
        <p:nvSpPr>
          <p:cNvPr id="23" name="Text 19"/>
          <p:cNvSpPr txBox="1"/>
          <p:nvPr/>
        </p:nvSpPr>
        <p:spPr>
          <a:xfrm>
            <a:off x="4838688" y="2933693"/>
            <a:ext cx="291464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릴스 스튜디오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4419589" y="3181342"/>
            <a:ext cx="3333742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한 줄 아이디어 · 기획 5단계 · 컷 승인형 렌더</a:t>
            </a:r>
            <a:endParaRPr lang="en-US" sz="800" dirty="0"/>
          </a:p>
        </p:txBody>
      </p:sp>
      <p:sp>
        <p:nvSpPr>
          <p:cNvPr id="25" name="Text 21"/>
          <p:cNvSpPr txBox="1"/>
          <p:nvPr/>
        </p:nvSpPr>
        <p:spPr>
          <a:xfrm>
            <a:off x="4419589" y="3505191"/>
            <a:ext cx="33337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reel-studio.mplanit.co.kr</a:t>
            </a:r>
            <a:endParaRPr lang="en-US" sz="700" dirty="0"/>
          </a:p>
        </p:txBody>
      </p:sp>
      <p:sp>
        <p:nvSpPr>
          <p:cNvPr id="26" name="Shape 22"/>
          <p:cNvSpPr/>
          <p:nvPr/>
        </p:nvSpPr>
        <p:spPr>
          <a:xfrm>
            <a:off x="8039080" y="1409696"/>
            <a:ext cx="3600441" cy="2381244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38100" dir="5400000">
              <a:srgbClr val="0F1B2E">
                <a:alpha val="8000"/>
              </a:srgbClr>
            </a:outerShdw>
          </a:effectLst>
        </p:spPr>
      </p:sp>
      <p:pic>
        <p:nvPicPr>
          <p:cNvPr id="27" name="Image 2" descr="/home/user/mplanit/ai-solution/assets/png/geo-resul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39080" y="1409696"/>
            <a:ext cx="3600441" cy="1409696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8039080" y="2819393"/>
            <a:ext cx="3600441" cy="0"/>
          </a:xfrm>
          <a:prstGeom prst="line">
            <a:avLst/>
          </a:prstGeom>
          <a:noFill/>
          <a:ln w="9525">
            <a:solidFill>
              <a:srgbClr val="E3EAF4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172430" y="2952743"/>
            <a:ext cx="361949" cy="161925"/>
          </a:xfrm>
          <a:prstGeom prst="roundRect">
            <a:avLst>
              <a:gd name="adj" fmla="val 56471"/>
            </a:avLst>
          </a:prstGeom>
          <a:solidFill>
            <a:srgbClr val="399BC1"/>
          </a:solidFill>
          <a:ln w="12700">
            <a:solidFill>
              <a:srgbClr val="399BC1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8172430" y="2952743"/>
            <a:ext cx="3619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노출</a:t>
            </a:r>
            <a:endParaRPr lang="en-US" sz="700" dirty="0"/>
          </a:p>
        </p:txBody>
      </p:sp>
      <p:sp>
        <p:nvSpPr>
          <p:cNvPr id="31" name="Text 26"/>
          <p:cNvSpPr txBox="1"/>
          <p:nvPr/>
        </p:nvSpPr>
        <p:spPr>
          <a:xfrm>
            <a:off x="8591529" y="2933693"/>
            <a:ext cx="291464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지오 메트릭 케어</a:t>
            </a:r>
            <a:endParaRPr lang="en-US" sz="1100" dirty="0"/>
          </a:p>
        </p:txBody>
      </p:sp>
      <p:sp>
        <p:nvSpPr>
          <p:cNvPr id="32" name="Text 27"/>
          <p:cNvSpPr txBox="1"/>
          <p:nvPr/>
        </p:nvSpPr>
        <p:spPr>
          <a:xfrm>
            <a:off x="8172430" y="3181342"/>
            <a:ext cx="3333742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종합 · SEO · GEO 점수 진단 · 개선 가이드 · 정기 재측정</a:t>
            </a:r>
            <a:endParaRPr lang="en-US" sz="800" dirty="0"/>
          </a:p>
        </p:txBody>
      </p:sp>
      <p:sp>
        <p:nvSpPr>
          <p:cNvPr id="33" name="Text 28"/>
          <p:cNvSpPr txBox="1"/>
          <p:nvPr/>
        </p:nvSpPr>
        <p:spPr>
          <a:xfrm>
            <a:off x="8172430" y="3505191"/>
            <a:ext cx="33337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geo.mplanit.co.kr</a:t>
            </a:r>
            <a:endParaRPr lang="en-US" sz="700" dirty="0"/>
          </a:p>
        </p:txBody>
      </p:sp>
      <p:sp>
        <p:nvSpPr>
          <p:cNvPr id="34" name="Shape 29"/>
          <p:cNvSpPr/>
          <p:nvPr/>
        </p:nvSpPr>
        <p:spPr>
          <a:xfrm>
            <a:off x="533399" y="3943340"/>
            <a:ext cx="3600441" cy="2381244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38100" dir="5400000">
              <a:srgbClr val="0F1B2E">
                <a:alpha val="8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533399" y="3943340"/>
            <a:ext cx="3600441" cy="1409696"/>
          </a:xfrm>
          <a:prstGeom prst="rect">
            <a:avLst/>
          </a:prstGeom>
          <a:solidFill>
            <a:srgbClr val="F3F7FC"/>
          </a:solidFill>
          <a:ln w="12700">
            <a:solidFill>
              <a:srgbClr val="F3F7FC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533399" y="3943340"/>
            <a:ext cx="3600441" cy="1409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커머스허브 화면 — 준비 중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533399" y="5353037"/>
            <a:ext cx="3600441" cy="0"/>
          </a:xfrm>
          <a:prstGeom prst="line">
            <a:avLst/>
          </a:prstGeom>
          <a:noFill/>
          <a:ln w="9525">
            <a:solidFill>
              <a:srgbClr val="E3EAF4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666748" y="5486386"/>
            <a:ext cx="361949" cy="161925"/>
          </a:xfrm>
          <a:prstGeom prst="roundRect">
            <a:avLst>
              <a:gd name="adj" fmla="val 56471"/>
            </a:avLst>
          </a:prstGeom>
          <a:solidFill>
            <a:srgbClr val="399BC1"/>
          </a:solidFill>
          <a:ln w="12700">
            <a:solidFill>
              <a:srgbClr val="399BC1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666748" y="5486386"/>
            <a:ext cx="3619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판매</a:t>
            </a:r>
            <a:endParaRPr lang="en-US" sz="700" dirty="0"/>
          </a:p>
        </p:txBody>
      </p:sp>
      <p:sp>
        <p:nvSpPr>
          <p:cNvPr id="40" name="Text 35"/>
          <p:cNvSpPr txBox="1"/>
          <p:nvPr/>
        </p:nvSpPr>
        <p:spPr>
          <a:xfrm>
            <a:off x="1085847" y="5467336"/>
            <a:ext cx="291464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커머스허브</a:t>
            </a:r>
            <a:endParaRPr lang="en-US" sz="1100" dirty="0"/>
          </a:p>
        </p:txBody>
      </p:sp>
      <p:sp>
        <p:nvSpPr>
          <p:cNvPr id="41" name="Text 36"/>
          <p:cNvSpPr txBox="1"/>
          <p:nvPr/>
        </p:nvSpPr>
        <p:spPr>
          <a:xfrm>
            <a:off x="666748" y="5714986"/>
            <a:ext cx="3333742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7개 마켓 주문 · 배송 · 정산 · 재고 · 광고비 통합</a:t>
            </a:r>
            <a:endParaRPr lang="en-US" sz="800" dirty="0"/>
          </a:p>
        </p:txBody>
      </p:sp>
      <p:sp>
        <p:nvSpPr>
          <p:cNvPr id="42" name="Text 37"/>
          <p:cNvSpPr txBox="1"/>
          <p:nvPr/>
        </p:nvSpPr>
        <p:spPr>
          <a:xfrm>
            <a:off x="666748" y="6038835"/>
            <a:ext cx="33337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정산 · 매출 · 재고 · 배송 · 광고비 · 설정</a:t>
            </a:r>
            <a:endParaRPr lang="en-US" sz="700" dirty="0"/>
          </a:p>
        </p:txBody>
      </p:sp>
      <p:sp>
        <p:nvSpPr>
          <p:cNvPr id="43" name="Shape 38"/>
          <p:cNvSpPr/>
          <p:nvPr/>
        </p:nvSpPr>
        <p:spPr>
          <a:xfrm>
            <a:off x="4286239" y="3943340"/>
            <a:ext cx="3600441" cy="2381244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38100" dir="5400000">
              <a:srgbClr val="0F1B2E">
                <a:alpha val="8000"/>
              </a:srgbClr>
            </a:outerShdw>
          </a:effectLst>
        </p:spPr>
      </p:sp>
      <p:pic>
        <p:nvPicPr>
          <p:cNvPr id="44" name="Image 3" descr="/home/user/mplanit/ai-solution/assets/png/adreport-dashboar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286239" y="3943340"/>
            <a:ext cx="3600441" cy="1409696"/>
          </a:xfrm>
          <a:prstGeom prst="rect">
            <a:avLst/>
          </a:prstGeom>
        </p:spPr>
      </p:pic>
      <p:sp>
        <p:nvSpPr>
          <p:cNvPr id="45" name="Shape 39"/>
          <p:cNvSpPr/>
          <p:nvPr/>
        </p:nvSpPr>
        <p:spPr>
          <a:xfrm>
            <a:off x="4286239" y="5353037"/>
            <a:ext cx="3600441" cy="0"/>
          </a:xfrm>
          <a:prstGeom prst="line">
            <a:avLst/>
          </a:prstGeom>
          <a:noFill/>
          <a:ln w="9525">
            <a:solidFill>
              <a:srgbClr val="E3EAF4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4419589" y="5486386"/>
            <a:ext cx="361949" cy="161925"/>
          </a:xfrm>
          <a:prstGeom prst="roundRect">
            <a:avLst>
              <a:gd name="adj" fmla="val 56471"/>
            </a:avLst>
          </a:prstGeom>
          <a:solidFill>
            <a:srgbClr val="399BC1"/>
          </a:solidFill>
          <a:ln w="12700">
            <a:solidFill>
              <a:srgbClr val="399BC1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4419589" y="5486386"/>
            <a:ext cx="3619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성과</a:t>
            </a:r>
            <a:endParaRPr lang="en-US" sz="700" dirty="0"/>
          </a:p>
        </p:txBody>
      </p:sp>
      <p:sp>
        <p:nvSpPr>
          <p:cNvPr id="48" name="Text 42"/>
          <p:cNvSpPr txBox="1"/>
          <p:nvPr/>
        </p:nvSpPr>
        <p:spPr>
          <a:xfrm>
            <a:off x="4838688" y="5467336"/>
            <a:ext cx="291464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애드리포트</a:t>
            </a:r>
            <a:endParaRPr lang="en-US" sz="1100" dirty="0"/>
          </a:p>
        </p:txBody>
      </p:sp>
      <p:sp>
        <p:nvSpPr>
          <p:cNvPr id="49" name="Text 43"/>
          <p:cNvSpPr txBox="1"/>
          <p:nvPr/>
        </p:nvSpPr>
        <p:spPr>
          <a:xfrm>
            <a:off x="4419589" y="5714986"/>
            <a:ext cx="3333742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14개 매체 집행 · 목표 진척 · ROAS · 이상 알림</a:t>
            </a:r>
            <a:endParaRPr lang="en-US" sz="800" dirty="0"/>
          </a:p>
        </p:txBody>
      </p:sp>
      <p:sp>
        <p:nvSpPr>
          <p:cNvPr id="50" name="Text 44"/>
          <p:cNvSpPr txBox="1"/>
          <p:nvPr/>
        </p:nvSpPr>
        <p:spPr>
          <a:xfrm>
            <a:off x="4419589" y="6038835"/>
            <a:ext cx="33337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통합 대시보드 · 목표/실시간 현황</a:t>
            </a:r>
            <a:endParaRPr lang="en-US" sz="700" dirty="0"/>
          </a:p>
        </p:txBody>
      </p:sp>
      <p:sp>
        <p:nvSpPr>
          <p:cNvPr id="51" name="Shape 45"/>
          <p:cNvSpPr/>
          <p:nvPr/>
        </p:nvSpPr>
        <p:spPr>
          <a:xfrm>
            <a:off x="8039080" y="3943340"/>
            <a:ext cx="3600441" cy="2381244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38100" dir="5400000">
              <a:srgbClr val="0F1B2E">
                <a:alpha val="8000"/>
              </a:srgbClr>
            </a:outerShdw>
          </a:effectLst>
        </p:spPr>
      </p:sp>
      <p:sp>
        <p:nvSpPr>
          <p:cNvPr id="52" name="Shape 46"/>
          <p:cNvSpPr/>
          <p:nvPr/>
        </p:nvSpPr>
        <p:spPr>
          <a:xfrm>
            <a:off x="8039080" y="3943340"/>
            <a:ext cx="3600441" cy="1409696"/>
          </a:xfrm>
          <a:prstGeom prst="rect">
            <a:avLst/>
          </a:prstGeom>
          <a:solidFill>
            <a:srgbClr val="F3F7FC"/>
          </a:solidFill>
          <a:ln w="12700">
            <a:solidFill>
              <a:srgbClr val="F3F7FC"/>
            </a:solidFill>
            <a:prstDash val="solid"/>
          </a:ln>
        </p:spPr>
      </p:sp>
      <p:sp>
        <p:nvSpPr>
          <p:cNvPr id="53" name="Text 47"/>
          <p:cNvSpPr txBox="1"/>
          <p:nvPr/>
        </p:nvSpPr>
        <p:spPr>
          <a:xfrm>
            <a:off x="8039080" y="3943340"/>
            <a:ext cx="3600441" cy="1409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MI 솔루션 화면 — 준비 중</a:t>
            </a:r>
            <a:endParaRPr lang="en-US" sz="900" dirty="0"/>
          </a:p>
        </p:txBody>
      </p:sp>
      <p:sp>
        <p:nvSpPr>
          <p:cNvPr id="54" name="Shape 48"/>
          <p:cNvSpPr/>
          <p:nvPr/>
        </p:nvSpPr>
        <p:spPr>
          <a:xfrm>
            <a:off x="8039080" y="5353037"/>
            <a:ext cx="3600441" cy="0"/>
          </a:xfrm>
          <a:prstGeom prst="line">
            <a:avLst/>
          </a:prstGeom>
          <a:noFill/>
          <a:ln w="9525">
            <a:solidFill>
              <a:srgbClr val="E3EAF4"/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8172430" y="5486386"/>
            <a:ext cx="361949" cy="161925"/>
          </a:xfrm>
          <a:prstGeom prst="roundRect">
            <a:avLst>
              <a:gd name="adj" fmla="val 56471"/>
            </a:avLst>
          </a:prstGeom>
          <a:solidFill>
            <a:srgbClr val="399BC1"/>
          </a:solidFill>
          <a:ln w="12700">
            <a:solidFill>
              <a:srgbClr val="399BC1"/>
            </a:solidFill>
            <a:prstDash val="solid"/>
          </a:ln>
        </p:spPr>
      </p:sp>
      <p:sp>
        <p:nvSpPr>
          <p:cNvPr id="56" name="Text 50"/>
          <p:cNvSpPr txBox="1"/>
          <p:nvPr/>
        </p:nvSpPr>
        <p:spPr>
          <a:xfrm>
            <a:off x="8172430" y="5486386"/>
            <a:ext cx="3619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운영</a:t>
            </a:r>
            <a:endParaRPr lang="en-US" sz="700" dirty="0"/>
          </a:p>
        </p:txBody>
      </p:sp>
      <p:sp>
        <p:nvSpPr>
          <p:cNvPr id="57" name="Text 51"/>
          <p:cNvSpPr txBox="1"/>
          <p:nvPr/>
        </p:nvSpPr>
        <p:spPr>
          <a:xfrm>
            <a:off x="8591529" y="5467336"/>
            <a:ext cx="291464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MI 솔루션</a:t>
            </a:r>
            <a:endParaRPr lang="en-US" sz="1100" dirty="0"/>
          </a:p>
        </p:txBody>
      </p:sp>
      <p:sp>
        <p:nvSpPr>
          <p:cNvPr id="58" name="Text 52"/>
          <p:cNvSpPr txBox="1"/>
          <p:nvPr/>
        </p:nvSpPr>
        <p:spPr>
          <a:xfrm>
            <a:off x="8172430" y="5714986"/>
            <a:ext cx="3333742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네이버 검색광고 자동입찰 · 다계정 대량 통합 리포트</a:t>
            </a:r>
            <a:endParaRPr lang="en-US" sz="800" dirty="0"/>
          </a:p>
        </p:txBody>
      </p:sp>
      <p:sp>
        <p:nvSpPr>
          <p:cNvPr id="59" name="Text 53"/>
          <p:cNvSpPr txBox="1"/>
          <p:nvPr/>
        </p:nvSpPr>
        <p:spPr>
          <a:xfrm>
            <a:off x="8172430" y="6038835"/>
            <a:ext cx="33337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운영 자동화 · 공수 대체</a:t>
            </a:r>
            <a:endParaRPr lang="en-US" sz="700" dirty="0"/>
          </a:p>
        </p:txBody>
      </p:sp>
      <p:sp>
        <p:nvSpPr>
          <p:cNvPr id="60" name="Shape 54"/>
          <p:cNvSpPr/>
          <p:nvPr/>
        </p:nvSpPr>
        <p:spPr>
          <a:xfrm>
            <a:off x="533399" y="6400784"/>
            <a:ext cx="11125172" cy="0"/>
          </a:xfrm>
          <a:prstGeom prst="line">
            <a:avLst/>
          </a:prstGeom>
          <a:noFill/>
          <a:ln w="9525">
            <a:solidFill>
              <a:srgbClr val="E3EAF4"/>
            </a:solidFill>
            <a:prstDash val="solid"/>
          </a:ln>
        </p:spPr>
      </p:sp>
      <p:sp>
        <p:nvSpPr>
          <p:cNvPr id="61" name="Text 55"/>
          <p:cNvSpPr txBox="1"/>
          <p:nvPr/>
        </p:nvSpPr>
        <p:spPr>
          <a:xfrm>
            <a:off x="533399" y="6457934"/>
            <a:ext cx="76199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Solution Map · 화면 기준 요약</a:t>
            </a:r>
            <a:endParaRPr lang="en-US" sz="800" dirty="0"/>
          </a:p>
        </p:txBody>
      </p:sp>
      <p:sp>
        <p:nvSpPr>
          <p:cNvPr id="62" name="Text 56"/>
          <p:cNvSpPr txBox="1"/>
          <p:nvPr/>
        </p:nvSpPr>
        <p:spPr>
          <a:xfrm>
            <a:off x="9524976" y="6457934"/>
            <a:ext cx="21335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03 / 08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47625"/>
          </a:xfrm>
          <a:prstGeom prst="rect">
            <a:avLst/>
          </a:prstGeom>
          <a:solidFill>
            <a:srgbClr val="1B468B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6248370" cy="47625"/>
          </a:xfrm>
          <a:prstGeom prst="rect">
            <a:avLst/>
          </a:prstGeom>
          <a:solidFill>
            <a:srgbClr val="399BC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33399" y="419099"/>
            <a:ext cx="66674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399BC1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01 CREATIVE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33399" y="590549"/>
            <a:ext cx="8953478" cy="323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Banner Fit — </a:t>
            </a:r>
            <a:pPr indent="0" marL="0">
              <a:buNone/>
            </a:pPr>
            <a:r>
              <a:rPr lang="en-US" sz="21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배너 1장이 아닌 캠페인 한 세트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33399" y="952498"/>
            <a:ext cx="89534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시안 생성 · 규격 변형 · 레이어 편집 · 영상 전환, 한 도구 안에서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048727" y="571499"/>
            <a:ext cx="2609843" cy="247649"/>
          </a:xfrm>
          <a:prstGeom prst="roundRect">
            <a:avLst>
              <a:gd name="adj" fmla="val 44308"/>
            </a:avLst>
          </a:prstGeom>
          <a:solidFill>
            <a:srgbClr val="EAF1FC"/>
          </a:solidFill>
          <a:ln w="9525">
            <a:solidFill>
              <a:srgbClr val="CFDC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48727" y="571499"/>
            <a:ext cx="2609843" cy="247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banner-fit.mplanit.co.kr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33399" y="1200147"/>
            <a:ext cx="11125172" cy="0"/>
          </a:xfrm>
          <a:prstGeom prst="line">
            <a:avLst/>
          </a:prstGeom>
          <a:noFill/>
          <a:ln w="9525">
            <a:solidFill>
              <a:srgbClr val="E3EA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3399" y="1523996"/>
            <a:ext cx="247649" cy="190500"/>
          </a:xfrm>
          <a:prstGeom prst="roundRect">
            <a:avLst>
              <a:gd name="adj" fmla="val 48000"/>
            </a:avLst>
          </a:prstGeom>
          <a:solidFill>
            <a:srgbClr val="1B468B"/>
          </a:solidFill>
          <a:ln w="12700">
            <a:solidFill>
              <a:srgbClr val="1B468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3399" y="1523996"/>
            <a:ext cx="2476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876298" y="1504946"/>
            <a:ext cx="32384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입력 6단계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76298" y="1695446"/>
            <a:ext cx="3238492" cy="342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기본정보 · 이미지 업로드 · 스타일 · 텍스트&amp;폰트 · 출력 옵션 · 생성 모델. 로고 노출 위치 9분할 지정.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3399" y="2266944"/>
            <a:ext cx="247649" cy="190500"/>
          </a:xfrm>
          <a:prstGeom prst="roundRect">
            <a:avLst>
              <a:gd name="adj" fmla="val 48000"/>
            </a:avLst>
          </a:prstGeom>
          <a:solidFill>
            <a:srgbClr val="1B468B"/>
          </a:solidFill>
          <a:ln w="12700">
            <a:solidFill>
              <a:srgbClr val="1B468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3399" y="2266944"/>
            <a:ext cx="2476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876298" y="2247894"/>
            <a:ext cx="32384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2가지 작업 모드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76298" y="2438394"/>
            <a:ext cx="3238492" cy="342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라이트 — 양식 입력형 / 에디터 — 대화 지시형. 한 줄 요청으로도 시안 생성.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3399" y="3009892"/>
            <a:ext cx="247649" cy="190500"/>
          </a:xfrm>
          <a:prstGeom prst="roundRect">
            <a:avLst>
              <a:gd name="adj" fmla="val 48000"/>
            </a:avLst>
          </a:prstGeom>
          <a:solidFill>
            <a:srgbClr val="1B468B"/>
          </a:solidFill>
          <a:ln w="12700">
            <a:solidFill>
              <a:srgbClr val="1B468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3399" y="3009892"/>
            <a:ext cx="2476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876298" y="2990843"/>
            <a:ext cx="32384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규격 변형 · 레이어 편집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76298" y="3181342"/>
            <a:ext cx="3238492" cy="342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1:1 · 4:3 · 16:9 · 9:16 기본 비율 + 매체 규격 23종 이상. 레이어 분리 후 브라우저 수정.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3399" y="3752841"/>
            <a:ext cx="247649" cy="190500"/>
          </a:xfrm>
          <a:prstGeom prst="roundRect">
            <a:avLst>
              <a:gd name="adj" fmla="val 48000"/>
            </a:avLst>
          </a:prstGeom>
          <a:solidFill>
            <a:srgbClr val="1B468B"/>
          </a:solidFill>
          <a:ln w="12700">
            <a:solidFill>
              <a:srgbClr val="1B468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3399" y="3752841"/>
            <a:ext cx="2476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04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876298" y="3733791"/>
            <a:ext cx="32384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생성 모델 선택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76298" y="3924290"/>
            <a:ext cx="3238492" cy="342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이미지 Gemini(나노 바나나) · ChatGPT 2.0. 완성 시안은 영상 생성 탭으로 연결.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3399" y="4514839"/>
            <a:ext cx="929638" cy="209549"/>
          </a:xfrm>
          <a:prstGeom prst="roundRect">
            <a:avLst>
              <a:gd name="adj" fmla="val 43637"/>
            </a:avLst>
          </a:prstGeom>
          <a:solidFill>
            <a:srgbClr val="EAF1FC"/>
          </a:solidFill>
          <a:ln w="6350">
            <a:solidFill>
              <a:srgbClr val="EAF1F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33399" y="4514839"/>
            <a:ext cx="929638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크리에이티브 생성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520186" y="4514839"/>
            <a:ext cx="929638" cy="209549"/>
          </a:xfrm>
          <a:prstGeom prst="roundRect">
            <a:avLst>
              <a:gd name="adj" fmla="val 43637"/>
            </a:avLst>
          </a:prstGeom>
          <a:solidFill>
            <a:srgbClr val="EAF1FC"/>
          </a:solidFill>
          <a:ln w="6350">
            <a:solidFill>
              <a:srgbClr val="EAF1F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520186" y="4514839"/>
            <a:ext cx="929638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소재 사이즈 변형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506974" y="4514839"/>
            <a:ext cx="609598" cy="209549"/>
          </a:xfrm>
          <a:prstGeom prst="roundRect">
            <a:avLst>
              <a:gd name="adj" fmla="val 43637"/>
            </a:avLst>
          </a:prstGeom>
          <a:solidFill>
            <a:srgbClr val="EAF1FC"/>
          </a:solidFill>
          <a:ln w="6350">
            <a:solidFill>
              <a:srgbClr val="EAF1F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506974" y="4514839"/>
            <a:ext cx="609598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영상 생성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33399" y="4800588"/>
            <a:ext cx="1089657" cy="209549"/>
          </a:xfrm>
          <a:prstGeom prst="roundRect">
            <a:avLst>
              <a:gd name="adj" fmla="val 43637"/>
            </a:avLst>
          </a:prstGeom>
          <a:solidFill>
            <a:srgbClr val="F5F8FC"/>
          </a:solidFill>
          <a:ln w="6350">
            <a:solidFill>
              <a:srgbClr val="E3EAF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33399" y="4800588"/>
            <a:ext cx="1089657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편집하기 · 프로젝트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33399" y="5105387"/>
            <a:ext cx="3581391" cy="45719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3399" y="5105387"/>
            <a:ext cx="28575" cy="457199"/>
          </a:xfrm>
          <a:prstGeom prst="rect">
            <a:avLst/>
          </a:prstGeom>
          <a:solidFill>
            <a:srgbClr val="1B468B"/>
          </a:solidFill>
          <a:ln w="12700">
            <a:solidFill>
              <a:srgbClr val="1B468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66748" y="5172062"/>
            <a:ext cx="33337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한 번 입력으로 즉시 생성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66748" y="5353037"/>
            <a:ext cx="33337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이미지 업로드와 요청 한 줄 → 배경 · 카피 · 레이아웃 시안 동시 산출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533399" y="5619736"/>
            <a:ext cx="3581391" cy="247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화면 — 운영 중 Banner Fit 실제 캡처. 편집 화면 시안은 당사 집행 소재.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457689" y="1562096"/>
            <a:ext cx="2666993" cy="1652679"/>
          </a:xfrm>
          <a:prstGeom prst="roundRect">
            <a:avLst>
              <a:gd name="adj" fmla="val 3320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  <a:effectLst>
            <a:outerShdw sx="100000" sy="100000" kx="0" ky="0" algn="bl" rotWithShape="0" blurRad="127000" dist="50800" dir="5400000">
              <a:srgbClr val="0F1B2E">
                <a:alpha val="16000"/>
              </a:srgbClr>
            </a:outerShdw>
          </a:effectLst>
        </p:spPr>
      </p:sp>
      <p:pic>
        <p:nvPicPr>
          <p:cNvPr id="40" name="Image 0" descr="/home/user/mplanit/ai-solution/assets/png/bannerfit-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6739" y="1581146"/>
            <a:ext cx="2628893" cy="1614579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4476739" y="3033800"/>
            <a:ext cx="1369692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4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4524364" y="3033800"/>
            <a:ext cx="13696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① 라이트 모드 · 6단계 입력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7200882" y="1504946"/>
            <a:ext cx="4362439" cy="2088557"/>
          </a:xfrm>
          <a:prstGeom prst="roundRect">
            <a:avLst>
              <a:gd name="adj" fmla="val 262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  <a:effectLst>
            <a:outerShdw sx="100000" sy="100000" kx="0" ky="0" algn="bl" rotWithShape="0" blurRad="127000" dist="50800" dir="5400000">
              <a:srgbClr val="0F1B2E">
                <a:alpha val="16000"/>
              </a:srgbClr>
            </a:outerShdw>
          </a:effectLst>
        </p:spPr>
      </p:sp>
      <p:pic>
        <p:nvPicPr>
          <p:cNvPr id="44" name="Image 1" descr="/home/user/mplanit/ai-solution/assets/png/bannerfit-ch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932" y="1523996"/>
            <a:ext cx="4324339" cy="2050457"/>
          </a:xfrm>
          <a:prstGeom prst="rect">
            <a:avLst/>
          </a:prstGeom>
        </p:spPr>
      </p:pic>
      <p:sp>
        <p:nvSpPr>
          <p:cNvPr id="45" name="Shape 41"/>
          <p:cNvSpPr/>
          <p:nvPr/>
        </p:nvSpPr>
        <p:spPr>
          <a:xfrm>
            <a:off x="7219932" y="3412529"/>
            <a:ext cx="1369692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4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7267557" y="3412529"/>
            <a:ext cx="13696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② 에디터 모드 · 한 줄 지시</a:t>
            </a:r>
            <a:endParaRPr lang="en-US" sz="750" dirty="0"/>
          </a:p>
        </p:txBody>
      </p:sp>
      <p:sp>
        <p:nvSpPr>
          <p:cNvPr id="47" name="Shape 43"/>
          <p:cNvSpPr/>
          <p:nvPr/>
        </p:nvSpPr>
        <p:spPr>
          <a:xfrm>
            <a:off x="5124437" y="3371842"/>
            <a:ext cx="5753086" cy="2747956"/>
          </a:xfrm>
          <a:prstGeom prst="roundRect">
            <a:avLst>
              <a:gd name="adj" fmla="val 199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  <a:effectLst>
            <a:outerShdw sx="100000" sy="100000" kx="0" ky="0" algn="bl" rotWithShape="0" blurRad="127000" dist="50800" dir="5400000">
              <a:srgbClr val="0F1B2E">
                <a:alpha val="16000"/>
              </a:srgbClr>
            </a:outerShdw>
          </a:effectLst>
        </p:spPr>
      </p:sp>
      <p:pic>
        <p:nvPicPr>
          <p:cNvPr id="48" name="Image 2" descr="/home/user/mplanit/ai-solution/assets/png/bannerfit-edi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487" y="3390892"/>
            <a:ext cx="5714986" cy="2709856"/>
          </a:xfrm>
          <a:prstGeom prst="rect">
            <a:avLst/>
          </a:prstGeom>
        </p:spPr>
      </p:pic>
      <p:sp>
        <p:nvSpPr>
          <p:cNvPr id="49" name="Shape 44"/>
          <p:cNvSpPr/>
          <p:nvPr/>
        </p:nvSpPr>
        <p:spPr>
          <a:xfrm>
            <a:off x="5143487" y="5938823"/>
            <a:ext cx="1863085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4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5191112" y="5938823"/>
            <a:ext cx="18630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③ 레이어 편집 · 사이즈 변형 · 다운로드</a:t>
            </a:r>
            <a:endParaRPr lang="en-US" sz="750" dirty="0"/>
          </a:p>
        </p:txBody>
      </p:sp>
      <p:sp>
        <p:nvSpPr>
          <p:cNvPr id="51" name="Shape 46"/>
          <p:cNvSpPr/>
          <p:nvPr/>
        </p:nvSpPr>
        <p:spPr>
          <a:xfrm>
            <a:off x="533399" y="6400784"/>
            <a:ext cx="11125172" cy="0"/>
          </a:xfrm>
          <a:prstGeom prst="line">
            <a:avLst/>
          </a:prstGeom>
          <a:noFill/>
          <a:ln w="9525">
            <a:solidFill>
              <a:srgbClr val="E3EAF4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533399" y="6457934"/>
            <a:ext cx="76199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Banner Fit · 배너핏</a:t>
            </a:r>
            <a:endParaRPr lang="en-US" sz="800" dirty="0"/>
          </a:p>
        </p:txBody>
      </p:sp>
      <p:sp>
        <p:nvSpPr>
          <p:cNvPr id="53" name="Text 48"/>
          <p:cNvSpPr txBox="1"/>
          <p:nvPr/>
        </p:nvSpPr>
        <p:spPr>
          <a:xfrm>
            <a:off x="9524976" y="6457934"/>
            <a:ext cx="21335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04 / 08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47625"/>
          </a:xfrm>
          <a:prstGeom prst="rect">
            <a:avLst/>
          </a:prstGeom>
          <a:solidFill>
            <a:srgbClr val="1B468B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6248370" cy="47625"/>
          </a:xfrm>
          <a:prstGeom prst="rect">
            <a:avLst/>
          </a:prstGeom>
          <a:solidFill>
            <a:srgbClr val="399BC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33399" y="419099"/>
            <a:ext cx="66674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399BC1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02 VIDEO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33399" y="590549"/>
            <a:ext cx="8953478" cy="323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Reels Studio — </a:t>
            </a:r>
            <a:pPr indent="0" marL="0">
              <a:buNone/>
            </a:pPr>
            <a:r>
              <a:rPr lang="en-US" sz="21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프롬프트 대신 질문 응답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33399" y="952498"/>
            <a:ext cx="89534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한 줄 아이디어 → AI 초안 → 컷 승인 → 렌더, 5단계 진행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048727" y="571499"/>
            <a:ext cx="2609843" cy="247649"/>
          </a:xfrm>
          <a:prstGeom prst="roundRect">
            <a:avLst>
              <a:gd name="adj" fmla="val 44308"/>
            </a:avLst>
          </a:prstGeom>
          <a:solidFill>
            <a:srgbClr val="EAF1FC"/>
          </a:solidFill>
          <a:ln w="9525">
            <a:solidFill>
              <a:srgbClr val="CFDC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48727" y="571499"/>
            <a:ext cx="2609843" cy="247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reel-studio.mplanit.co.kr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33399" y="1200147"/>
            <a:ext cx="11125172" cy="0"/>
          </a:xfrm>
          <a:prstGeom prst="line">
            <a:avLst/>
          </a:prstGeom>
          <a:noFill/>
          <a:ln w="9525">
            <a:solidFill>
              <a:srgbClr val="E3EA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3399" y="1523996"/>
            <a:ext cx="247649" cy="190500"/>
          </a:xfrm>
          <a:prstGeom prst="roundRect">
            <a:avLst>
              <a:gd name="adj" fmla="val 48000"/>
            </a:avLst>
          </a:prstGeom>
          <a:solidFill>
            <a:srgbClr val="1B468B"/>
          </a:solidFill>
          <a:ln w="12700">
            <a:solidFill>
              <a:srgbClr val="1B468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3399" y="1523996"/>
            <a:ext cx="2476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876298" y="1504946"/>
            <a:ext cx="32384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한 줄 입력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76298" y="1695446"/>
            <a:ext cx="3238492" cy="342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상황 한 문장 입력 → AI가 질문 자동 완성 → 초안 스토리보드 제시.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3399" y="2266944"/>
            <a:ext cx="247649" cy="190500"/>
          </a:xfrm>
          <a:prstGeom prst="roundRect">
            <a:avLst>
              <a:gd name="adj" fmla="val 48000"/>
            </a:avLst>
          </a:prstGeom>
          <a:solidFill>
            <a:srgbClr val="1B468B"/>
          </a:solidFill>
          <a:ln w="12700">
            <a:solidFill>
              <a:srgbClr val="1B468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3399" y="2266944"/>
            <a:ext cx="2476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876298" y="2247894"/>
            <a:ext cx="32384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기획 5단계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76298" y="2438394"/>
            <a:ext cx="3238492" cy="342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아이디어 · 의도 · 표현 · 스토리보드 · 완료. 길이 2컷 / 4컷 / 7컷 선택.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3399" y="3009892"/>
            <a:ext cx="247649" cy="190500"/>
          </a:xfrm>
          <a:prstGeom prst="roundRect">
            <a:avLst>
              <a:gd name="adj" fmla="val 48000"/>
            </a:avLst>
          </a:prstGeom>
          <a:solidFill>
            <a:srgbClr val="1B468B"/>
          </a:solidFill>
          <a:ln w="12700">
            <a:solidFill>
              <a:srgbClr val="1B468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3399" y="3009892"/>
            <a:ext cx="2476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876298" y="2990843"/>
            <a:ext cx="32384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표현 선택형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76298" y="3181342"/>
            <a:ext cx="3238492" cy="342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영상 종류(실사 · 3D · 현실+3D · 웹툰) · 화면 스타일 · 분위기 · 주인공/조연.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3399" y="3752841"/>
            <a:ext cx="247649" cy="190500"/>
          </a:xfrm>
          <a:prstGeom prst="roundRect">
            <a:avLst>
              <a:gd name="adj" fmla="val 48000"/>
            </a:avLst>
          </a:prstGeom>
          <a:solidFill>
            <a:srgbClr val="1B468B"/>
          </a:solidFill>
          <a:ln w="12700">
            <a:solidFill>
              <a:srgbClr val="1B468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3399" y="3752841"/>
            <a:ext cx="2476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04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876298" y="3733791"/>
            <a:ext cx="32384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컷 승인형 렌더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76298" y="3924290"/>
            <a:ext cx="3238492" cy="342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컷별 승인 · 재생성 후 VEO 3.1(1080p) 또는 Gemini Omni(720p)로 출력.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3399" y="4514839"/>
            <a:ext cx="769618" cy="209549"/>
          </a:xfrm>
          <a:prstGeom prst="roundRect">
            <a:avLst>
              <a:gd name="adj" fmla="val 43637"/>
            </a:avLst>
          </a:prstGeom>
          <a:solidFill>
            <a:srgbClr val="EAF1FC"/>
          </a:solidFill>
          <a:ln w="6350">
            <a:solidFill>
              <a:srgbClr val="EAF1F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33399" y="4514839"/>
            <a:ext cx="769618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쇼츠 9:16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360167" y="4514839"/>
            <a:ext cx="849628" cy="209549"/>
          </a:xfrm>
          <a:prstGeom prst="roundRect">
            <a:avLst>
              <a:gd name="adj" fmla="val 43637"/>
            </a:avLst>
          </a:prstGeom>
          <a:solidFill>
            <a:srgbClr val="EAF1FC"/>
          </a:solidFill>
          <a:ln w="6350">
            <a:solidFill>
              <a:srgbClr val="EAF1F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360167" y="4514839"/>
            <a:ext cx="849628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유튜브 16:9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266944" y="4514839"/>
            <a:ext cx="769618" cy="209549"/>
          </a:xfrm>
          <a:prstGeom prst="roundRect">
            <a:avLst>
              <a:gd name="adj" fmla="val 43637"/>
            </a:avLst>
          </a:prstGeom>
          <a:solidFill>
            <a:srgbClr val="EAF1FC"/>
          </a:solidFill>
          <a:ln w="6350">
            <a:solidFill>
              <a:srgbClr val="EAF1F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266944" y="4514839"/>
            <a:ext cx="769618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인스타 1:1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33399" y="4800588"/>
            <a:ext cx="1569716" cy="209549"/>
          </a:xfrm>
          <a:prstGeom prst="roundRect">
            <a:avLst>
              <a:gd name="adj" fmla="val 43637"/>
            </a:avLst>
          </a:prstGeom>
          <a:solidFill>
            <a:srgbClr val="F5F8FC"/>
          </a:solidFill>
          <a:ln w="6350">
            <a:solidFill>
              <a:srgbClr val="E3EAF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33399" y="4800588"/>
            <a:ext cx="1569716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배너 영상 · 시작/엔드 프레임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33399" y="5105387"/>
            <a:ext cx="3581391" cy="45719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3399" y="5105387"/>
            <a:ext cx="28575" cy="457199"/>
          </a:xfrm>
          <a:prstGeom prst="rect">
            <a:avLst/>
          </a:prstGeom>
          <a:solidFill>
            <a:srgbClr val="1B468B"/>
          </a:solidFill>
          <a:ln w="12700">
            <a:solidFill>
              <a:srgbClr val="1B468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66748" y="5172062"/>
            <a:ext cx="33337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'만들기'가 아니라 '다듬기'부터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66748" y="5353037"/>
            <a:ext cx="33337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AI가 대본·키프레임 포함 콘티 전체를 먼저 제안 · 승인한 컷만 과금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533399" y="5619736"/>
            <a:ext cx="3581391" cy="247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참고 — 국내 숏폼 외주 단가 15만~200만원, 기간 2~3주(크몽 단가 가이드 기준).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457689" y="1581146"/>
            <a:ext cx="2895593" cy="1609721"/>
          </a:xfrm>
          <a:prstGeom prst="roundRect">
            <a:avLst>
              <a:gd name="adj" fmla="val 3408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  <a:effectLst>
            <a:outerShdw sx="100000" sy="100000" kx="0" ky="0" algn="bl" rotWithShape="0" blurRad="127000" dist="50800" dir="5400000">
              <a:srgbClr val="0F1B2E">
                <a:alpha val="16000"/>
              </a:srgbClr>
            </a:outerShdw>
          </a:effectLst>
        </p:spPr>
      </p:sp>
      <p:pic>
        <p:nvPicPr>
          <p:cNvPr id="40" name="Image 0" descr="/home/user/mplanit/ai-solution/assets/png/reels-id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6739" y="1600196"/>
            <a:ext cx="2857493" cy="1571621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4476739" y="3009892"/>
            <a:ext cx="129920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4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4524364" y="3009892"/>
            <a:ext cx="12992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① 한 줄 아이디어 + 5단계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7505681" y="1504946"/>
            <a:ext cx="4057640" cy="2436425"/>
          </a:xfrm>
          <a:prstGeom prst="roundRect">
            <a:avLst>
              <a:gd name="adj" fmla="val 2252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  <a:effectLst>
            <a:outerShdw sx="100000" sy="100000" kx="0" ky="0" algn="bl" rotWithShape="0" blurRad="127000" dist="50800" dir="5400000">
              <a:srgbClr val="0F1B2E">
                <a:alpha val="16000"/>
              </a:srgbClr>
            </a:outerShdw>
          </a:effectLst>
        </p:spPr>
      </p:sp>
      <p:pic>
        <p:nvPicPr>
          <p:cNvPr id="44" name="Image 1" descr="/home/user/mplanit/ai-solution/assets/png/reels-sty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31" y="1523996"/>
            <a:ext cx="4019540" cy="2398326"/>
          </a:xfrm>
          <a:prstGeom prst="rect">
            <a:avLst/>
          </a:prstGeom>
        </p:spPr>
      </p:pic>
      <p:sp>
        <p:nvSpPr>
          <p:cNvPr id="45" name="Shape 41"/>
          <p:cNvSpPr/>
          <p:nvPr/>
        </p:nvSpPr>
        <p:spPr>
          <a:xfrm>
            <a:off x="7524731" y="3760397"/>
            <a:ext cx="1087752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4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7572356" y="3760397"/>
            <a:ext cx="10877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② 표현 · 스타일 선택</a:t>
            </a:r>
            <a:endParaRPr lang="en-US" sz="750" dirty="0"/>
          </a:p>
        </p:txBody>
      </p:sp>
      <p:sp>
        <p:nvSpPr>
          <p:cNvPr id="47" name="Shape 43"/>
          <p:cNvSpPr/>
          <p:nvPr/>
        </p:nvSpPr>
        <p:spPr>
          <a:xfrm>
            <a:off x="5029187" y="3638541"/>
            <a:ext cx="4991088" cy="2386642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  <a:effectLst>
            <a:outerShdw sx="100000" sy="100000" kx="0" ky="0" algn="bl" rotWithShape="0" blurRad="127000" dist="50800" dir="5400000">
              <a:srgbClr val="0F1B2E">
                <a:alpha val="16000"/>
              </a:srgbClr>
            </a:outerShdw>
          </a:effectLst>
        </p:spPr>
      </p:sp>
      <p:pic>
        <p:nvPicPr>
          <p:cNvPr id="48" name="Image 2" descr="/home/user/mplanit/ai-solution/assets/png/reels-vide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37" y="3657591"/>
            <a:ext cx="4952988" cy="2348542"/>
          </a:xfrm>
          <a:prstGeom prst="rect">
            <a:avLst/>
          </a:prstGeom>
        </p:spPr>
      </p:pic>
      <p:sp>
        <p:nvSpPr>
          <p:cNvPr id="49" name="Shape 44"/>
          <p:cNvSpPr/>
          <p:nvPr/>
        </p:nvSpPr>
        <p:spPr>
          <a:xfrm>
            <a:off x="5048237" y="5844208"/>
            <a:ext cx="2356479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4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5095862" y="5844208"/>
            <a:ext cx="23564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③ 배너 영상 · VEO 3.1 / Gemini Omni</a:t>
            </a:r>
            <a:endParaRPr lang="en-US" sz="750" dirty="0"/>
          </a:p>
        </p:txBody>
      </p:sp>
      <p:sp>
        <p:nvSpPr>
          <p:cNvPr id="51" name="Shape 46"/>
          <p:cNvSpPr/>
          <p:nvPr/>
        </p:nvSpPr>
        <p:spPr>
          <a:xfrm>
            <a:off x="533399" y="6400784"/>
            <a:ext cx="11125172" cy="0"/>
          </a:xfrm>
          <a:prstGeom prst="line">
            <a:avLst/>
          </a:prstGeom>
          <a:noFill/>
          <a:ln w="9525">
            <a:solidFill>
              <a:srgbClr val="E3EAF4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533399" y="6457934"/>
            <a:ext cx="76199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Reels Studio · 릴스 스튜디오</a:t>
            </a:r>
            <a:endParaRPr lang="en-US" sz="800" dirty="0"/>
          </a:p>
        </p:txBody>
      </p:sp>
      <p:sp>
        <p:nvSpPr>
          <p:cNvPr id="53" name="Text 48"/>
          <p:cNvSpPr txBox="1"/>
          <p:nvPr/>
        </p:nvSpPr>
        <p:spPr>
          <a:xfrm>
            <a:off x="9524976" y="6457934"/>
            <a:ext cx="21335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05 / 08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47625"/>
          </a:xfrm>
          <a:prstGeom prst="rect">
            <a:avLst/>
          </a:prstGeom>
          <a:solidFill>
            <a:srgbClr val="1B468B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6248370" cy="47625"/>
          </a:xfrm>
          <a:prstGeom prst="rect">
            <a:avLst/>
          </a:prstGeom>
          <a:solidFill>
            <a:srgbClr val="399BC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33399" y="419099"/>
            <a:ext cx="66674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399BC1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03 VISIBILITY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33399" y="590549"/>
            <a:ext cx="8953478" cy="323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GEO Metric Care — </a:t>
            </a:r>
            <a:pPr indent="0" marL="0">
              <a:buNone/>
            </a:pPr>
            <a:r>
              <a:rPr lang="en-US" sz="21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AI 답변 내 브랜드 인용 진단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33399" y="952498"/>
            <a:ext cx="89534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URL 입력 → SEO · GEO 통합 분석 → 점수 · 개선 가이드 · PDF 리포트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048727" y="571499"/>
            <a:ext cx="2609843" cy="247649"/>
          </a:xfrm>
          <a:prstGeom prst="roundRect">
            <a:avLst>
              <a:gd name="adj" fmla="val 44308"/>
            </a:avLst>
          </a:prstGeom>
          <a:solidFill>
            <a:srgbClr val="EAF1FC"/>
          </a:solidFill>
          <a:ln w="9525">
            <a:solidFill>
              <a:srgbClr val="CFDC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48727" y="571499"/>
            <a:ext cx="2609843" cy="247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geo.mplanit.co.kr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33399" y="1200147"/>
            <a:ext cx="11125172" cy="0"/>
          </a:xfrm>
          <a:prstGeom prst="line">
            <a:avLst/>
          </a:prstGeom>
          <a:noFill/>
          <a:ln w="9525">
            <a:solidFill>
              <a:srgbClr val="E3EA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3399" y="1523996"/>
            <a:ext cx="247649" cy="190500"/>
          </a:xfrm>
          <a:prstGeom prst="roundRect">
            <a:avLst>
              <a:gd name="adj" fmla="val 48000"/>
            </a:avLst>
          </a:prstGeom>
          <a:solidFill>
            <a:srgbClr val="1B468B"/>
          </a:solidFill>
          <a:ln w="12700">
            <a:solidFill>
              <a:srgbClr val="1B468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3399" y="1523996"/>
            <a:ext cx="2476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876298" y="1504946"/>
            <a:ext cx="32384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점수 3종 진단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76298" y="1695446"/>
            <a:ext cx="3238492" cy="342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종합 · SEO · GEO 동시 산출. 자사 사이트 기준 84 / 95 / 72.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3399" y="2266944"/>
            <a:ext cx="247649" cy="190500"/>
          </a:xfrm>
          <a:prstGeom prst="roundRect">
            <a:avLst>
              <a:gd name="adj" fmla="val 48000"/>
            </a:avLst>
          </a:prstGeom>
          <a:solidFill>
            <a:srgbClr val="1B468B"/>
          </a:solidFill>
          <a:ln w="12700">
            <a:solidFill>
              <a:srgbClr val="1B468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3399" y="2266944"/>
            <a:ext cx="2476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876298" y="2247894"/>
            <a:ext cx="32384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판정 기준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76298" y="2438394"/>
            <a:ext cx="3238492" cy="342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80점 이상 인용 가능 · 70점대 기본 충족 · 60점 이하 구조 개선 필요.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3399" y="3009892"/>
            <a:ext cx="247649" cy="190500"/>
          </a:xfrm>
          <a:prstGeom prst="roundRect">
            <a:avLst>
              <a:gd name="adj" fmla="val 48000"/>
            </a:avLst>
          </a:prstGeom>
          <a:solidFill>
            <a:srgbClr val="1B468B"/>
          </a:solidFill>
          <a:ln w="12700">
            <a:solidFill>
              <a:srgbClr val="1B468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3399" y="3009892"/>
            <a:ext cx="2476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876298" y="2990843"/>
            <a:ext cx="32384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진단 범위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76298" y="3181342"/>
            <a:ext cx="3238492" cy="342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ChatGPT · Gemini · Perplexity · 네이버 AI 브리핑(Yeti · 서치어드바이저).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3399" y="3752841"/>
            <a:ext cx="247649" cy="190500"/>
          </a:xfrm>
          <a:prstGeom prst="roundRect">
            <a:avLst>
              <a:gd name="adj" fmla="val 48000"/>
            </a:avLst>
          </a:prstGeom>
          <a:solidFill>
            <a:srgbClr val="1B468B"/>
          </a:solidFill>
          <a:ln w="12700">
            <a:solidFill>
              <a:srgbClr val="1B468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3399" y="3752841"/>
            <a:ext cx="2476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04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876298" y="3733791"/>
            <a:ext cx="32384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항목별 현재값 · 권장 기준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76298" y="3924290"/>
            <a:ext cx="3238492" cy="342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인용 신뢰도(E-E-A-T 70점 이상) · 통계 포함 · 스키마 · 엔티티 연결성.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3399" y="4552939"/>
            <a:ext cx="3581391" cy="45719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3399" y="4552939"/>
            <a:ext cx="28575" cy="457199"/>
          </a:xfrm>
          <a:prstGeom prst="rect">
            <a:avLst/>
          </a:prstGeom>
          <a:solidFill>
            <a:srgbClr val="1B468B"/>
          </a:solidFill>
          <a:ln w="12700">
            <a:solidFill>
              <a:srgbClr val="1B468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6748" y="4619613"/>
            <a:ext cx="33337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고객은 AI에게 묻고 있는데, 우리 브랜드는 AI 답변에 등장하고 있나요?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66748" y="4800588"/>
            <a:ext cx="33337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엠플랜잇 AEO·GEO 개선 가이드(2026.09)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33399" y="5086337"/>
            <a:ext cx="1142997" cy="45719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19123" y="5143487"/>
            <a:ext cx="9715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42318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제로클릭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619123" y="5276837"/>
            <a:ext cx="971548" cy="228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오가닉 유입 20~30% 급감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1752596" y="5086337"/>
            <a:ext cx="1142997" cy="45719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838320" y="5143487"/>
            <a:ext cx="9715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42318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추천 누락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1838320" y="5276837"/>
            <a:ext cx="971548" cy="228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AI 답변 후보군에서 제외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2971793" y="5086337"/>
            <a:ext cx="1142997" cy="45719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057517" y="5143487"/>
            <a:ext cx="9715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42318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정보 왜곡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3057517" y="5276837"/>
            <a:ext cx="971548" cy="228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잘못된 정보로 신뢰 하락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4648188" y="1504946"/>
            <a:ext cx="4514839" cy="2630878"/>
          </a:xfrm>
          <a:prstGeom prst="roundRect">
            <a:avLst>
              <a:gd name="adj" fmla="val 2085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  <a:effectLst>
            <a:outerShdw sx="100000" sy="100000" kx="0" ky="0" algn="bl" rotWithShape="0" blurRad="127000" dist="50800" dir="5400000">
              <a:srgbClr val="0F1B2E">
                <a:alpha val="16000"/>
              </a:srgbClr>
            </a:outerShdw>
          </a:effectLst>
        </p:spPr>
      </p:sp>
      <p:pic>
        <p:nvPicPr>
          <p:cNvPr id="40" name="Image 0" descr="/home/user/mplanit/ai-solution/assets/png/geo-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7238" y="1523996"/>
            <a:ext cx="4476739" cy="2592778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4667238" y="3954849"/>
            <a:ext cx="1299207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4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4714863" y="3954849"/>
            <a:ext cx="12992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① URL 입력 → 분석 시작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5695936" y="3314692"/>
            <a:ext cx="5372087" cy="2802883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  <a:effectLst>
            <a:outerShdw sx="100000" sy="100000" kx="0" ky="0" algn="bl" rotWithShape="0" blurRad="127000" dist="50800" dir="5400000">
              <a:srgbClr val="0F1B2E">
                <a:alpha val="16000"/>
              </a:srgbClr>
            </a:outerShdw>
          </a:effectLst>
        </p:spPr>
      </p:sp>
      <p:pic>
        <p:nvPicPr>
          <p:cNvPr id="44" name="Image 1" descr="/home/user/mplanit/ai-solution/assets/png/geo-resu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986" y="3333742"/>
            <a:ext cx="5333987" cy="2764783"/>
          </a:xfrm>
          <a:prstGeom prst="rect">
            <a:avLst/>
          </a:prstGeom>
        </p:spPr>
      </p:pic>
      <p:sp>
        <p:nvSpPr>
          <p:cNvPr id="45" name="Shape 41"/>
          <p:cNvSpPr/>
          <p:nvPr/>
        </p:nvSpPr>
        <p:spPr>
          <a:xfrm>
            <a:off x="5714986" y="5936600"/>
            <a:ext cx="2990843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4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5762611" y="5936600"/>
            <a:ext cx="299084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② 분석 결과 — 자사 진단(종합 84 / SEO 95 / GEO 72)</a:t>
            </a:r>
            <a:endParaRPr lang="en-US" sz="750" dirty="0"/>
          </a:p>
        </p:txBody>
      </p:sp>
      <p:sp>
        <p:nvSpPr>
          <p:cNvPr id="47" name="Shape 43"/>
          <p:cNvSpPr/>
          <p:nvPr/>
        </p:nvSpPr>
        <p:spPr>
          <a:xfrm>
            <a:off x="533399" y="6400784"/>
            <a:ext cx="11125172" cy="0"/>
          </a:xfrm>
          <a:prstGeom prst="line">
            <a:avLst/>
          </a:prstGeom>
          <a:noFill/>
          <a:ln w="9525">
            <a:solidFill>
              <a:srgbClr val="E3EAF4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533399" y="6457934"/>
            <a:ext cx="76199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GEO Metric Care · 지오 메트릭 케어</a:t>
            </a:r>
            <a:endParaRPr lang="en-US" sz="800" dirty="0"/>
          </a:p>
        </p:txBody>
      </p:sp>
      <p:sp>
        <p:nvSpPr>
          <p:cNvPr id="49" name="Text 45"/>
          <p:cNvSpPr txBox="1"/>
          <p:nvPr/>
        </p:nvSpPr>
        <p:spPr>
          <a:xfrm>
            <a:off x="9524976" y="6457934"/>
            <a:ext cx="21335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06 / 08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47625"/>
          </a:xfrm>
          <a:prstGeom prst="rect">
            <a:avLst/>
          </a:prstGeom>
          <a:solidFill>
            <a:srgbClr val="1B468B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6248370" cy="47625"/>
          </a:xfrm>
          <a:prstGeom prst="rect">
            <a:avLst/>
          </a:prstGeom>
          <a:solidFill>
            <a:srgbClr val="399BC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33399" y="419099"/>
            <a:ext cx="66674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399BC1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04 COMMERCE · 05 PERFORMANCE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33399" y="590549"/>
            <a:ext cx="8953478" cy="323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커머스허브 + 애드리포트 — </a:t>
            </a:r>
            <a:pPr indent="0" marL="0">
              <a:buNone/>
            </a:pPr>
            <a:r>
              <a:rPr lang="en-US" sz="21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매출과 광고비 단일 기준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33399" y="952498"/>
            <a:ext cx="89534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한 계정으로 AD REPORT · AD MONITOR · COMMERCE HUB · SETTINGS 이동 (네이버웍스 SSO)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048727" y="571499"/>
            <a:ext cx="2609843" cy="247649"/>
          </a:xfrm>
          <a:prstGeom prst="roundRect">
            <a:avLst>
              <a:gd name="adj" fmla="val 44308"/>
            </a:avLst>
          </a:prstGeom>
          <a:solidFill>
            <a:srgbClr val="EAF1FC"/>
          </a:solidFill>
          <a:ln w="9525">
            <a:solidFill>
              <a:srgbClr val="CFDC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48727" y="571499"/>
            <a:ext cx="2609843" cy="247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운영 중 · 카카오쇼핑 승인 대기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33399" y="1200147"/>
            <a:ext cx="11125172" cy="0"/>
          </a:xfrm>
          <a:prstGeom prst="line">
            <a:avLst/>
          </a:prstGeom>
          <a:noFill/>
          <a:ln w="9525">
            <a:solidFill>
              <a:srgbClr val="E3EA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3399" y="1428746"/>
            <a:ext cx="3581391" cy="1638296"/>
          </a:xfrm>
          <a:prstGeom prst="roundRect">
            <a:avLst>
              <a:gd name="adj" fmla="val 3349"/>
            </a:avLst>
          </a:prstGeom>
          <a:solidFill>
            <a:srgbClr val="FBFD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798" y="1543046"/>
            <a:ext cx="32765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커머스허브  </a:t>
            </a:r>
            <a:pPr indent="0" marL="0">
              <a:buNone/>
            </a:pPr>
            <a:r>
              <a:rPr lang="en-US" sz="700" dirty="0">
                <a:solidFill>
                  <a:srgbClr val="399BC1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COMMERCE HUB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798" y="1790696"/>
            <a:ext cx="1028697" cy="400049"/>
          </a:xfrm>
          <a:prstGeom prst="roundRect">
            <a:avLst>
              <a:gd name="adj" fmla="val 13714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1048" y="1847845"/>
            <a:ext cx="8572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판매 채널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781048" y="1962145"/>
            <a:ext cx="8572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7개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790696" y="1790696"/>
            <a:ext cx="1028697" cy="400049"/>
          </a:xfrm>
          <a:prstGeom prst="roundRect">
            <a:avLst>
              <a:gd name="adj" fmla="val 13714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885945" y="1847845"/>
            <a:ext cx="8572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주문 수집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1885945" y="1962145"/>
            <a:ext cx="8572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매시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895593" y="1790696"/>
            <a:ext cx="1028697" cy="400049"/>
          </a:xfrm>
          <a:prstGeom prst="roundRect">
            <a:avLst>
              <a:gd name="adj" fmla="val 13714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90843" y="1847845"/>
            <a:ext cx="8572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정산 수집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2990843" y="1962145"/>
            <a:ext cx="8572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06:30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5798" y="2266944"/>
            <a:ext cx="720088" cy="209549"/>
          </a:xfrm>
          <a:prstGeom prst="roundRect">
            <a:avLst>
              <a:gd name="adj" fmla="val 4363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pic>
        <p:nvPicPr>
          <p:cNvPr id="22" name="Image 0" descr="/home/user/mplanit/ai-solution/assets/png/icon-na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473" y="2319332"/>
            <a:ext cx="104775" cy="104775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885823" y="2266944"/>
            <a:ext cx="472439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스마트스토어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1463036" y="2266944"/>
            <a:ext cx="373379" cy="209549"/>
          </a:xfrm>
          <a:prstGeom prst="roundRect">
            <a:avLst>
              <a:gd name="adj" fmla="val 4363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539236" y="2343144"/>
            <a:ext cx="57150" cy="57150"/>
          </a:xfrm>
          <a:prstGeom prst="ellipse">
            <a:avLst/>
          </a:prstGeom>
          <a:solidFill>
            <a:srgbClr val="C4161C"/>
          </a:solidFill>
          <a:ln w="12700">
            <a:solidFill>
              <a:srgbClr val="C4161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634486" y="2266944"/>
            <a:ext cx="144780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쿠팡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1893565" y="2266944"/>
            <a:ext cx="518159" cy="209549"/>
          </a:xfrm>
          <a:prstGeom prst="roundRect">
            <a:avLst>
              <a:gd name="adj" fmla="val 4363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969765" y="2343144"/>
            <a:ext cx="57150" cy="57150"/>
          </a:xfrm>
          <a:prstGeom prst="ellipse">
            <a:avLst/>
          </a:prstGeom>
          <a:solidFill>
            <a:srgbClr val="1B5FAA"/>
          </a:solidFill>
          <a:ln w="12700">
            <a:solidFill>
              <a:srgbClr val="1B5FA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065015" y="2266944"/>
            <a:ext cx="289559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카페24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2468874" y="2266944"/>
            <a:ext cx="518159" cy="209549"/>
          </a:xfrm>
          <a:prstGeom prst="roundRect">
            <a:avLst>
              <a:gd name="adj" fmla="val 4363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545074" y="2343144"/>
            <a:ext cx="57150" cy="57150"/>
          </a:xfrm>
          <a:prstGeom prst="ellipse">
            <a:avLst/>
          </a:prstGeom>
          <a:solidFill>
            <a:srgbClr val="FF0038"/>
          </a:solidFill>
          <a:ln w="12700">
            <a:solidFill>
              <a:srgbClr val="FF003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640323" y="2266944"/>
            <a:ext cx="289559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11번가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3044182" y="2266944"/>
            <a:ext cx="518159" cy="209549"/>
          </a:xfrm>
          <a:prstGeom prst="roundRect">
            <a:avLst>
              <a:gd name="adj" fmla="val 4363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120382" y="2343144"/>
            <a:ext cx="57150" cy="57150"/>
          </a:xfrm>
          <a:prstGeom prst="ellipse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215632" y="2266944"/>
            <a:ext cx="289559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토스쇼핑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685798" y="2533644"/>
            <a:ext cx="662938" cy="209549"/>
          </a:xfrm>
          <a:prstGeom prst="roundRect">
            <a:avLst>
              <a:gd name="adj" fmla="val 4363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61998" y="2609843"/>
            <a:ext cx="57150" cy="57150"/>
          </a:xfrm>
          <a:prstGeom prst="ellipse">
            <a:avLst/>
          </a:prstGeom>
          <a:solidFill>
            <a:srgbClr val="00A650"/>
          </a:solidFill>
          <a:ln w="12700">
            <a:solidFill>
              <a:srgbClr val="00A650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57248" y="2533644"/>
            <a:ext cx="434339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G마켓·옥션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1405886" y="2533644"/>
            <a:ext cx="518159" cy="209549"/>
          </a:xfrm>
          <a:prstGeom prst="roundRect">
            <a:avLst>
              <a:gd name="adj" fmla="val 4363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482086" y="2609843"/>
            <a:ext cx="57150" cy="57150"/>
          </a:xfrm>
          <a:prstGeom prst="ellipse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577336" y="2533644"/>
            <a:ext cx="289559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톡스토어</a:t>
            </a:r>
            <a:endParaRPr lang="en-US" sz="750" dirty="0"/>
          </a:p>
        </p:txBody>
      </p:sp>
      <p:sp>
        <p:nvSpPr>
          <p:cNvPr id="42" name="Text 39"/>
          <p:cNvSpPr txBox="1"/>
          <p:nvPr/>
        </p:nvSpPr>
        <p:spPr>
          <a:xfrm>
            <a:off x="685798" y="2819393"/>
            <a:ext cx="32765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99BC1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메뉴 —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정산 · 매출 · 재고 · 배송 · 광고비 · 설정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533399" y="3238492"/>
            <a:ext cx="3581391" cy="2057395"/>
          </a:xfrm>
          <a:prstGeom prst="roundRect">
            <a:avLst>
              <a:gd name="adj" fmla="val 2667"/>
            </a:avLst>
          </a:prstGeom>
          <a:solidFill>
            <a:srgbClr val="FBFD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5798" y="3352792"/>
            <a:ext cx="32765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애드리포트  </a:t>
            </a:r>
            <a:pPr indent="0" marL="0">
              <a:buNone/>
            </a:pPr>
            <a:r>
              <a:rPr lang="en-US" sz="700" dirty="0">
                <a:solidFill>
                  <a:srgbClr val="399BC1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AD REPORT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685798" y="3600441"/>
            <a:ext cx="1028697" cy="400049"/>
          </a:xfrm>
          <a:prstGeom prst="roundRect">
            <a:avLst>
              <a:gd name="adj" fmla="val 13714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781048" y="3657591"/>
            <a:ext cx="8572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광고 매체</a:t>
            </a:r>
            <a:endParaRPr lang="en-US" sz="700" dirty="0"/>
          </a:p>
        </p:txBody>
      </p:sp>
      <p:sp>
        <p:nvSpPr>
          <p:cNvPr id="47" name="Text 44"/>
          <p:cNvSpPr txBox="1"/>
          <p:nvPr/>
        </p:nvSpPr>
        <p:spPr>
          <a:xfrm>
            <a:off x="781048" y="3771891"/>
            <a:ext cx="8572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14개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1790696" y="3600441"/>
            <a:ext cx="1028697" cy="400049"/>
          </a:xfrm>
          <a:prstGeom prst="roundRect">
            <a:avLst>
              <a:gd name="adj" fmla="val 13714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1885945" y="3657591"/>
            <a:ext cx="8572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실적 수집</a:t>
            </a:r>
            <a:endParaRPr lang="en-US" sz="700" dirty="0"/>
          </a:p>
        </p:txBody>
      </p:sp>
      <p:sp>
        <p:nvSpPr>
          <p:cNvPr id="50" name="Text 47"/>
          <p:cNvSpPr txBox="1"/>
          <p:nvPr/>
        </p:nvSpPr>
        <p:spPr>
          <a:xfrm>
            <a:off x="1885945" y="3771891"/>
            <a:ext cx="8572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매시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2895593" y="3600441"/>
            <a:ext cx="1028697" cy="400049"/>
          </a:xfrm>
          <a:prstGeom prst="roundRect">
            <a:avLst>
              <a:gd name="adj" fmla="val 13714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2990843" y="3657591"/>
            <a:ext cx="8572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리포트 유형</a:t>
            </a:r>
            <a:endParaRPr lang="en-US" sz="700" dirty="0"/>
          </a:p>
        </p:txBody>
      </p:sp>
      <p:sp>
        <p:nvSpPr>
          <p:cNvPr id="53" name="Text 50"/>
          <p:cNvSpPr txBox="1"/>
          <p:nvPr/>
        </p:nvSpPr>
        <p:spPr>
          <a:xfrm>
            <a:off x="2990843" y="3771891"/>
            <a:ext cx="8572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2가지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685798" y="4076690"/>
            <a:ext cx="720088" cy="209549"/>
          </a:xfrm>
          <a:prstGeom prst="roundRect">
            <a:avLst>
              <a:gd name="adj" fmla="val 4363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pic>
        <p:nvPicPr>
          <p:cNvPr id="55" name="Image 1" descr="/home/user/mplanit/ai-solution/assets/png/icon-na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3" y="4129077"/>
            <a:ext cx="104775" cy="104775"/>
          </a:xfrm>
          <a:prstGeom prst="rect">
            <a:avLst/>
          </a:prstGeom>
        </p:spPr>
      </p:pic>
      <p:sp>
        <p:nvSpPr>
          <p:cNvPr id="56" name="Text 52"/>
          <p:cNvSpPr txBox="1"/>
          <p:nvPr/>
        </p:nvSpPr>
        <p:spPr>
          <a:xfrm>
            <a:off x="885823" y="4076690"/>
            <a:ext cx="472439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네이버 검색</a:t>
            </a:r>
            <a:endParaRPr lang="en-US" sz="750" dirty="0"/>
          </a:p>
        </p:txBody>
      </p:sp>
      <p:sp>
        <p:nvSpPr>
          <p:cNvPr id="57" name="Shape 53"/>
          <p:cNvSpPr/>
          <p:nvPr/>
        </p:nvSpPr>
        <p:spPr>
          <a:xfrm>
            <a:off x="1463036" y="4076690"/>
            <a:ext cx="445769" cy="209549"/>
          </a:xfrm>
          <a:prstGeom prst="roundRect">
            <a:avLst>
              <a:gd name="adj" fmla="val 4363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1539236" y="4152890"/>
            <a:ext cx="57150" cy="57150"/>
          </a:xfrm>
          <a:prstGeom prst="ellipse">
            <a:avLst/>
          </a:prstGeom>
          <a:solidFill>
            <a:srgbClr val="03C75A"/>
          </a:solidFill>
          <a:ln w="12700">
            <a:solidFill>
              <a:srgbClr val="03C75A"/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1634486" y="4076690"/>
            <a:ext cx="217169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GFA</a:t>
            </a:r>
            <a:endParaRPr lang="en-US" sz="750" dirty="0"/>
          </a:p>
        </p:txBody>
      </p:sp>
      <p:sp>
        <p:nvSpPr>
          <p:cNvPr id="60" name="Shape 56"/>
          <p:cNvSpPr/>
          <p:nvPr/>
        </p:nvSpPr>
        <p:spPr>
          <a:xfrm>
            <a:off x="1965955" y="4076690"/>
            <a:ext cx="518159" cy="209549"/>
          </a:xfrm>
          <a:prstGeom prst="roundRect">
            <a:avLst>
              <a:gd name="adj" fmla="val 4363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2042155" y="4152890"/>
            <a:ext cx="57150" cy="57150"/>
          </a:xfrm>
          <a:prstGeom prst="ellipse">
            <a:avLst/>
          </a:prstGeom>
          <a:solidFill>
            <a:srgbClr val="03C75A"/>
          </a:solidFill>
          <a:ln w="12700">
            <a:solidFill>
              <a:srgbClr val="03C75A"/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2137405" y="4076690"/>
            <a:ext cx="289559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NOSP</a:t>
            </a:r>
            <a:endParaRPr lang="en-US" sz="750" dirty="0"/>
          </a:p>
        </p:txBody>
      </p:sp>
      <p:sp>
        <p:nvSpPr>
          <p:cNvPr id="63" name="Shape 59"/>
          <p:cNvSpPr/>
          <p:nvPr/>
        </p:nvSpPr>
        <p:spPr>
          <a:xfrm>
            <a:off x="2541264" y="4076690"/>
            <a:ext cx="662938" cy="209549"/>
          </a:xfrm>
          <a:prstGeom prst="roundRect">
            <a:avLst>
              <a:gd name="adj" fmla="val 4363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2617463" y="4152890"/>
            <a:ext cx="57150" cy="57150"/>
          </a:xfrm>
          <a:prstGeom prst="ellipse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</p:sp>
      <p:sp>
        <p:nvSpPr>
          <p:cNvPr id="65" name="Text 61"/>
          <p:cNvSpPr txBox="1"/>
          <p:nvPr/>
        </p:nvSpPr>
        <p:spPr>
          <a:xfrm>
            <a:off x="2712713" y="4076690"/>
            <a:ext cx="434339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카카오모먼트</a:t>
            </a:r>
            <a:endParaRPr lang="en-US" sz="750" dirty="0"/>
          </a:p>
        </p:txBody>
      </p:sp>
      <p:sp>
        <p:nvSpPr>
          <p:cNvPr id="66" name="Shape 62"/>
          <p:cNvSpPr/>
          <p:nvPr/>
        </p:nvSpPr>
        <p:spPr>
          <a:xfrm>
            <a:off x="3261352" y="4076690"/>
            <a:ext cx="590549" cy="209549"/>
          </a:xfrm>
          <a:prstGeom prst="roundRect">
            <a:avLst>
              <a:gd name="adj" fmla="val 4363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3337552" y="4152890"/>
            <a:ext cx="57150" cy="57150"/>
          </a:xfrm>
          <a:prstGeom prst="ellipse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</p:sp>
      <p:sp>
        <p:nvSpPr>
          <p:cNvPr id="68" name="Text 64"/>
          <p:cNvSpPr txBox="1"/>
          <p:nvPr/>
        </p:nvSpPr>
        <p:spPr>
          <a:xfrm>
            <a:off x="3432801" y="4076690"/>
            <a:ext cx="361949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카카오페이</a:t>
            </a:r>
            <a:endParaRPr lang="en-US" sz="750" dirty="0"/>
          </a:p>
        </p:txBody>
      </p:sp>
      <p:sp>
        <p:nvSpPr>
          <p:cNvPr id="69" name="Shape 65"/>
          <p:cNvSpPr/>
          <p:nvPr/>
        </p:nvSpPr>
        <p:spPr>
          <a:xfrm>
            <a:off x="685798" y="4343389"/>
            <a:ext cx="1009647" cy="209549"/>
          </a:xfrm>
          <a:prstGeom prst="roundRect">
            <a:avLst>
              <a:gd name="adj" fmla="val 4363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pic>
        <p:nvPicPr>
          <p:cNvPr id="70" name="Image 2" descr="/home/user/mplanit/ai-solution/assets/png/icon-googlead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3" y="4395777"/>
            <a:ext cx="104775" cy="104775"/>
          </a:xfrm>
          <a:prstGeom prst="rect">
            <a:avLst/>
          </a:prstGeom>
        </p:spPr>
      </p:pic>
      <p:sp>
        <p:nvSpPr>
          <p:cNvPr id="71" name="Text 66"/>
          <p:cNvSpPr txBox="1"/>
          <p:nvPr/>
        </p:nvSpPr>
        <p:spPr>
          <a:xfrm>
            <a:off x="885823" y="4343389"/>
            <a:ext cx="761998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Google Ads</a:t>
            </a:r>
            <a:endParaRPr lang="en-US" sz="750" dirty="0"/>
          </a:p>
        </p:txBody>
      </p:sp>
      <p:sp>
        <p:nvSpPr>
          <p:cNvPr id="72" name="Shape 67"/>
          <p:cNvSpPr/>
          <p:nvPr/>
        </p:nvSpPr>
        <p:spPr>
          <a:xfrm>
            <a:off x="1752596" y="4343389"/>
            <a:ext cx="430529" cy="209549"/>
          </a:xfrm>
          <a:prstGeom prst="roundRect">
            <a:avLst>
              <a:gd name="adj" fmla="val 4363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pic>
        <p:nvPicPr>
          <p:cNvPr id="73" name="Image 3" descr="/home/user/mplanit/ai-solution/assets/png/icon-me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9270" y="4395777"/>
            <a:ext cx="104775" cy="104775"/>
          </a:xfrm>
          <a:prstGeom prst="rect">
            <a:avLst/>
          </a:prstGeom>
        </p:spPr>
      </p:pic>
      <p:sp>
        <p:nvSpPr>
          <p:cNvPr id="74" name="Text 68"/>
          <p:cNvSpPr txBox="1"/>
          <p:nvPr/>
        </p:nvSpPr>
        <p:spPr>
          <a:xfrm>
            <a:off x="1952620" y="4343389"/>
            <a:ext cx="182880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메타</a:t>
            </a:r>
            <a:endParaRPr lang="en-US" sz="750" dirty="0"/>
          </a:p>
        </p:txBody>
      </p:sp>
      <p:sp>
        <p:nvSpPr>
          <p:cNvPr id="75" name="Shape 69"/>
          <p:cNvSpPr/>
          <p:nvPr/>
        </p:nvSpPr>
        <p:spPr>
          <a:xfrm>
            <a:off x="2240274" y="4343389"/>
            <a:ext cx="430529" cy="209549"/>
          </a:xfrm>
          <a:prstGeom prst="roundRect">
            <a:avLst>
              <a:gd name="adj" fmla="val 4363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pic>
        <p:nvPicPr>
          <p:cNvPr id="76" name="Image 4" descr="/home/user/mplanit/ai-solution/assets/png/icon-tikto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6949" y="4395777"/>
            <a:ext cx="104775" cy="104775"/>
          </a:xfrm>
          <a:prstGeom prst="rect">
            <a:avLst/>
          </a:prstGeom>
        </p:spPr>
      </p:pic>
      <p:sp>
        <p:nvSpPr>
          <p:cNvPr id="77" name="Text 70"/>
          <p:cNvSpPr txBox="1"/>
          <p:nvPr/>
        </p:nvSpPr>
        <p:spPr>
          <a:xfrm>
            <a:off x="2440299" y="4343389"/>
            <a:ext cx="182880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틱톡</a:t>
            </a:r>
            <a:endParaRPr lang="en-US" sz="750" dirty="0"/>
          </a:p>
        </p:txBody>
      </p:sp>
      <p:sp>
        <p:nvSpPr>
          <p:cNvPr id="78" name="Shape 71"/>
          <p:cNvSpPr/>
          <p:nvPr/>
        </p:nvSpPr>
        <p:spPr>
          <a:xfrm>
            <a:off x="2727953" y="4343389"/>
            <a:ext cx="518159" cy="209549"/>
          </a:xfrm>
          <a:prstGeom prst="roundRect">
            <a:avLst>
              <a:gd name="adj" fmla="val 4363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79" name="Shape 72"/>
          <p:cNvSpPr/>
          <p:nvPr/>
        </p:nvSpPr>
        <p:spPr>
          <a:xfrm>
            <a:off x="2804153" y="4419589"/>
            <a:ext cx="57150" cy="57150"/>
          </a:xfrm>
          <a:prstGeom prst="ellipse">
            <a:avLst/>
          </a:prstGeom>
          <a:solidFill>
            <a:srgbClr val="F76B15"/>
          </a:solidFill>
          <a:ln w="12700">
            <a:solidFill>
              <a:srgbClr val="F76B15"/>
            </a:solidFill>
            <a:prstDash val="solid"/>
          </a:ln>
        </p:spPr>
      </p:sp>
      <p:sp>
        <p:nvSpPr>
          <p:cNvPr id="80" name="Text 73"/>
          <p:cNvSpPr txBox="1"/>
          <p:nvPr/>
        </p:nvSpPr>
        <p:spPr>
          <a:xfrm>
            <a:off x="2899403" y="4343389"/>
            <a:ext cx="289559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크리테오</a:t>
            </a:r>
            <a:endParaRPr lang="en-US" sz="750" dirty="0"/>
          </a:p>
        </p:txBody>
      </p:sp>
      <p:sp>
        <p:nvSpPr>
          <p:cNvPr id="81" name="Shape 74"/>
          <p:cNvSpPr/>
          <p:nvPr/>
        </p:nvSpPr>
        <p:spPr>
          <a:xfrm>
            <a:off x="3303262" y="4343389"/>
            <a:ext cx="445769" cy="209549"/>
          </a:xfrm>
          <a:prstGeom prst="roundRect">
            <a:avLst>
              <a:gd name="adj" fmla="val 4363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82" name="Shape 75"/>
          <p:cNvSpPr/>
          <p:nvPr/>
        </p:nvSpPr>
        <p:spPr>
          <a:xfrm>
            <a:off x="3379462" y="4419589"/>
            <a:ext cx="57150" cy="57150"/>
          </a:xfrm>
          <a:prstGeom prst="ellipse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83" name="Text 76"/>
          <p:cNvSpPr txBox="1"/>
          <p:nvPr/>
        </p:nvSpPr>
        <p:spPr>
          <a:xfrm>
            <a:off x="3474711" y="4343389"/>
            <a:ext cx="217169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타불라</a:t>
            </a:r>
            <a:endParaRPr lang="en-US" sz="750" dirty="0"/>
          </a:p>
        </p:txBody>
      </p:sp>
      <p:sp>
        <p:nvSpPr>
          <p:cNvPr id="84" name="Shape 77"/>
          <p:cNvSpPr/>
          <p:nvPr/>
        </p:nvSpPr>
        <p:spPr>
          <a:xfrm>
            <a:off x="685798" y="4610088"/>
            <a:ext cx="937258" cy="209549"/>
          </a:xfrm>
          <a:prstGeom prst="roundRect">
            <a:avLst>
              <a:gd name="adj" fmla="val 4363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pic>
        <p:nvPicPr>
          <p:cNvPr id="85" name="Image 5" descr="/home/user/mplanit/ai-solution/assets/png/icon-app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3" y="4662476"/>
            <a:ext cx="104775" cy="104775"/>
          </a:xfrm>
          <a:prstGeom prst="rect">
            <a:avLst/>
          </a:prstGeom>
        </p:spPr>
      </p:pic>
      <p:sp>
        <p:nvSpPr>
          <p:cNvPr id="86" name="Text 78"/>
          <p:cNvSpPr txBox="1"/>
          <p:nvPr/>
        </p:nvSpPr>
        <p:spPr>
          <a:xfrm>
            <a:off x="885823" y="4610088"/>
            <a:ext cx="689608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Apple Ads</a:t>
            </a:r>
            <a:endParaRPr lang="en-US" sz="750" dirty="0"/>
          </a:p>
        </p:txBody>
      </p:sp>
      <p:sp>
        <p:nvSpPr>
          <p:cNvPr id="87" name="Shape 79"/>
          <p:cNvSpPr/>
          <p:nvPr/>
        </p:nvSpPr>
        <p:spPr>
          <a:xfrm>
            <a:off x="1680206" y="4610088"/>
            <a:ext cx="373379" cy="209549"/>
          </a:xfrm>
          <a:prstGeom prst="roundRect">
            <a:avLst>
              <a:gd name="adj" fmla="val 4363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88" name="Shape 80"/>
          <p:cNvSpPr/>
          <p:nvPr/>
        </p:nvSpPr>
        <p:spPr>
          <a:xfrm>
            <a:off x="1756406" y="4686288"/>
            <a:ext cx="57150" cy="57150"/>
          </a:xfrm>
          <a:prstGeom prst="ellipse">
            <a:avLst/>
          </a:prstGeom>
          <a:solidFill>
            <a:srgbClr val="FF6F0F"/>
          </a:solidFill>
          <a:ln w="12700">
            <a:solidFill>
              <a:srgbClr val="FF6F0F"/>
            </a:solidFill>
            <a:prstDash val="solid"/>
          </a:ln>
        </p:spPr>
      </p:sp>
      <p:sp>
        <p:nvSpPr>
          <p:cNvPr id="89" name="Text 81"/>
          <p:cNvSpPr txBox="1"/>
          <p:nvPr/>
        </p:nvSpPr>
        <p:spPr>
          <a:xfrm>
            <a:off x="1851655" y="4610088"/>
            <a:ext cx="144780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당근</a:t>
            </a:r>
            <a:endParaRPr lang="en-US" sz="750" dirty="0"/>
          </a:p>
        </p:txBody>
      </p:sp>
      <p:sp>
        <p:nvSpPr>
          <p:cNvPr id="90" name="Shape 82"/>
          <p:cNvSpPr/>
          <p:nvPr/>
        </p:nvSpPr>
        <p:spPr>
          <a:xfrm>
            <a:off x="2110735" y="4610088"/>
            <a:ext cx="445769" cy="209549"/>
          </a:xfrm>
          <a:prstGeom prst="roundRect">
            <a:avLst>
              <a:gd name="adj" fmla="val 4363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91" name="Shape 83"/>
          <p:cNvSpPr/>
          <p:nvPr/>
        </p:nvSpPr>
        <p:spPr>
          <a:xfrm>
            <a:off x="2186935" y="4686288"/>
            <a:ext cx="57150" cy="57150"/>
          </a:xfrm>
          <a:prstGeom prst="ellipse">
            <a:avLst/>
          </a:prstGeom>
          <a:solidFill>
            <a:srgbClr val="6B7A90"/>
          </a:solidFill>
          <a:ln w="12700">
            <a:solidFill>
              <a:srgbClr val="6B7A90"/>
            </a:solidFill>
            <a:prstDash val="solid"/>
          </a:ln>
        </p:spPr>
      </p:sp>
      <p:sp>
        <p:nvSpPr>
          <p:cNvPr id="92" name="Text 84"/>
          <p:cNvSpPr txBox="1"/>
          <p:nvPr/>
        </p:nvSpPr>
        <p:spPr>
          <a:xfrm>
            <a:off x="2282184" y="4610088"/>
            <a:ext cx="217169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모비온</a:t>
            </a:r>
            <a:endParaRPr lang="en-US" sz="750" dirty="0"/>
          </a:p>
        </p:txBody>
      </p:sp>
      <p:sp>
        <p:nvSpPr>
          <p:cNvPr id="93" name="Shape 85"/>
          <p:cNvSpPr/>
          <p:nvPr/>
        </p:nvSpPr>
        <p:spPr>
          <a:xfrm>
            <a:off x="2613653" y="4610088"/>
            <a:ext cx="518159" cy="209549"/>
          </a:xfrm>
          <a:prstGeom prst="roundRect">
            <a:avLst>
              <a:gd name="adj" fmla="val 4363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94" name="Shape 86"/>
          <p:cNvSpPr/>
          <p:nvPr/>
        </p:nvSpPr>
        <p:spPr>
          <a:xfrm>
            <a:off x="2689853" y="4686288"/>
            <a:ext cx="57150" cy="57150"/>
          </a:xfrm>
          <a:prstGeom prst="ellipse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</p:sp>
      <p:sp>
        <p:nvSpPr>
          <p:cNvPr id="95" name="Text 87"/>
          <p:cNvSpPr txBox="1"/>
          <p:nvPr/>
        </p:nvSpPr>
        <p:spPr>
          <a:xfrm>
            <a:off x="2785103" y="4610088"/>
            <a:ext cx="289559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토스애즈</a:t>
            </a:r>
            <a:endParaRPr lang="en-US" sz="750" dirty="0"/>
          </a:p>
        </p:txBody>
      </p:sp>
      <p:sp>
        <p:nvSpPr>
          <p:cNvPr id="96" name="Text 88"/>
          <p:cNvSpPr txBox="1"/>
          <p:nvPr/>
        </p:nvSpPr>
        <p:spPr>
          <a:xfrm>
            <a:off x="685798" y="4895838"/>
            <a:ext cx="32765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99BC1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리포트 — 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통합 대시보드 · 목표 현황 · 실시간 현황 · 소재/키워드 분석</a:t>
            </a:r>
            <a:endParaRPr lang="en-US" sz="800" dirty="0"/>
          </a:p>
        </p:txBody>
      </p:sp>
      <p:sp>
        <p:nvSpPr>
          <p:cNvPr id="97" name="Text 89"/>
          <p:cNvSpPr txBox="1"/>
          <p:nvPr/>
        </p:nvSpPr>
        <p:spPr>
          <a:xfrm>
            <a:off x="533399" y="5391137"/>
            <a:ext cx="35813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화면 — 운영 중 애드리포트 실제 캡처. 광고주명·금액·건수 마스킹 처리.</a:t>
            </a:r>
            <a:endParaRPr lang="en-US" sz="700" dirty="0"/>
          </a:p>
        </p:txBody>
      </p:sp>
      <p:sp>
        <p:nvSpPr>
          <p:cNvPr id="98" name="Shape 90"/>
          <p:cNvSpPr/>
          <p:nvPr/>
        </p:nvSpPr>
        <p:spPr>
          <a:xfrm>
            <a:off x="4419589" y="1409696"/>
            <a:ext cx="5181587" cy="3149910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  <a:effectLst>
            <a:outerShdw sx="100000" sy="100000" kx="0" ky="0" algn="bl" rotWithShape="0" blurRad="127000" dist="50800" dir="5400000">
              <a:srgbClr val="0F1B2E">
                <a:alpha val="16000"/>
              </a:srgbClr>
            </a:outerShdw>
          </a:effectLst>
        </p:spPr>
      </p:sp>
      <p:pic>
        <p:nvPicPr>
          <p:cNvPr id="99" name="Image 6" descr="/home/user/mplanit/ai-solution/assets/png/adreport-dashboar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8639" y="1428746"/>
            <a:ext cx="5143487" cy="3111810"/>
          </a:xfrm>
          <a:prstGeom prst="rect">
            <a:avLst/>
          </a:prstGeom>
        </p:spPr>
      </p:pic>
      <p:sp>
        <p:nvSpPr>
          <p:cNvPr id="100" name="Shape 91"/>
          <p:cNvSpPr/>
          <p:nvPr/>
        </p:nvSpPr>
        <p:spPr>
          <a:xfrm>
            <a:off x="4438639" y="4378632"/>
            <a:ext cx="2074540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4"/>
            </a:solidFill>
            <a:prstDash val="solid"/>
          </a:ln>
        </p:spPr>
      </p:sp>
      <p:sp>
        <p:nvSpPr>
          <p:cNvPr id="101" name="Text 92"/>
          <p:cNvSpPr txBox="1"/>
          <p:nvPr/>
        </p:nvSpPr>
        <p:spPr>
          <a:xfrm>
            <a:off x="4486264" y="4378632"/>
            <a:ext cx="20745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① 통합 대시보드 — 매체군별 성과 · 목표 진척</a:t>
            </a:r>
            <a:endParaRPr lang="en-US" sz="750" dirty="0"/>
          </a:p>
        </p:txBody>
      </p:sp>
      <p:sp>
        <p:nvSpPr>
          <p:cNvPr id="102" name="Shape 93"/>
          <p:cNvSpPr/>
          <p:nvPr/>
        </p:nvSpPr>
        <p:spPr>
          <a:xfrm>
            <a:off x="7277082" y="3428991"/>
            <a:ext cx="4248139" cy="1879992"/>
          </a:xfrm>
          <a:prstGeom prst="roundRect">
            <a:avLst>
              <a:gd name="adj" fmla="val 2918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  <a:effectLst>
            <a:outerShdw sx="100000" sy="100000" kx="0" ky="0" algn="bl" rotWithShape="0" blurRad="127000" dist="50800" dir="5400000">
              <a:srgbClr val="0F1B2E">
                <a:alpha val="16000"/>
              </a:srgbClr>
            </a:outerShdw>
          </a:effectLst>
        </p:spPr>
      </p:sp>
      <p:pic>
        <p:nvPicPr>
          <p:cNvPr id="103" name="Image 7" descr="/home/user/mplanit/ai-solution/assets/png/adreport-go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96132" y="3448041"/>
            <a:ext cx="4210039" cy="1841892"/>
          </a:xfrm>
          <a:prstGeom prst="rect">
            <a:avLst/>
          </a:prstGeom>
        </p:spPr>
      </p:pic>
      <p:sp>
        <p:nvSpPr>
          <p:cNvPr id="104" name="Shape 94"/>
          <p:cNvSpPr/>
          <p:nvPr/>
        </p:nvSpPr>
        <p:spPr>
          <a:xfrm>
            <a:off x="7296132" y="5128009"/>
            <a:ext cx="1722116" cy="161925"/>
          </a:xfrm>
          <a:prstGeom prst="rect">
            <a:avLst/>
          </a:prstGeom>
          <a:solidFill>
            <a:srgbClr val="FFFFFF"/>
          </a:solidFill>
          <a:ln w="6350">
            <a:solidFill>
              <a:srgbClr val="E3EAF4"/>
            </a:solidFill>
            <a:prstDash val="solid"/>
          </a:ln>
        </p:spPr>
      </p:sp>
      <p:sp>
        <p:nvSpPr>
          <p:cNvPr id="105" name="Text 95"/>
          <p:cNvSpPr txBox="1"/>
          <p:nvPr/>
        </p:nvSpPr>
        <p:spPr>
          <a:xfrm>
            <a:off x="7343757" y="5128009"/>
            <a:ext cx="17221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② 목표 현황 — 매체별 목표 대비 실적</a:t>
            </a:r>
            <a:endParaRPr lang="en-US" sz="750" dirty="0"/>
          </a:p>
        </p:txBody>
      </p:sp>
      <p:sp>
        <p:nvSpPr>
          <p:cNvPr id="106" name="Shape 96"/>
          <p:cNvSpPr/>
          <p:nvPr/>
        </p:nvSpPr>
        <p:spPr>
          <a:xfrm>
            <a:off x="533399" y="5486386"/>
            <a:ext cx="11125172" cy="590549"/>
          </a:xfrm>
          <a:prstGeom prst="roundRect">
            <a:avLst>
              <a:gd name="adj" fmla="val 7742"/>
            </a:avLst>
          </a:prstGeom>
          <a:solidFill>
            <a:srgbClr val="1B468B"/>
          </a:solidFill>
          <a:ln w="12700">
            <a:solidFill>
              <a:srgbClr val="1B468B"/>
            </a:solidFill>
            <a:prstDash val="solid"/>
          </a:ln>
        </p:spPr>
      </p:sp>
      <p:sp>
        <p:nvSpPr>
          <p:cNvPr id="107" name="Text 97"/>
          <p:cNvSpPr txBox="1"/>
          <p:nvPr/>
        </p:nvSpPr>
        <p:spPr>
          <a:xfrm>
            <a:off x="723898" y="5581636"/>
            <a:ext cx="6667483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도입 3단계 — 진단 → 연동 세팅 → 운영</a:t>
            </a:r>
            <a:endParaRPr lang="en-US" sz="1200" dirty="0"/>
          </a:p>
        </p:txBody>
      </p:sp>
      <p:sp>
        <p:nvSpPr>
          <p:cNvPr id="108" name="Text 98"/>
          <p:cNvSpPr txBox="1"/>
          <p:nvPr/>
        </p:nvSpPr>
        <p:spPr>
          <a:xfrm>
            <a:off x="723898" y="5791186"/>
            <a:ext cx="66674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6F7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광고주 성과 · 대행사 공수 · 1인 기업 인력 대체</a:t>
            </a:r>
            <a:endParaRPr lang="en-US" sz="900" dirty="0"/>
          </a:p>
        </p:txBody>
      </p:sp>
      <p:sp>
        <p:nvSpPr>
          <p:cNvPr id="109" name="Shape 99"/>
          <p:cNvSpPr/>
          <p:nvPr/>
        </p:nvSpPr>
        <p:spPr>
          <a:xfrm>
            <a:off x="8953478" y="5619736"/>
            <a:ext cx="2514594" cy="323849"/>
          </a:xfrm>
          <a:prstGeom prst="roundRect">
            <a:avLst>
              <a:gd name="adj" fmla="val 282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0" name="Text 100"/>
          <p:cNvSpPr txBox="1"/>
          <p:nvPr/>
        </p:nvSpPr>
        <p:spPr>
          <a:xfrm>
            <a:off x="8953478" y="5619736"/>
            <a:ext cx="2514594" cy="323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엠플랜잇 AIU본부 · mplanit.co.kr</a:t>
            </a:r>
            <a:endParaRPr lang="en-US" sz="900" dirty="0"/>
          </a:p>
        </p:txBody>
      </p:sp>
      <p:sp>
        <p:nvSpPr>
          <p:cNvPr id="111" name="Shape 101"/>
          <p:cNvSpPr/>
          <p:nvPr/>
        </p:nvSpPr>
        <p:spPr>
          <a:xfrm>
            <a:off x="533399" y="6400784"/>
            <a:ext cx="11125172" cy="0"/>
          </a:xfrm>
          <a:prstGeom prst="line">
            <a:avLst/>
          </a:prstGeom>
          <a:noFill/>
          <a:ln w="9525">
            <a:solidFill>
              <a:srgbClr val="E3EAF4"/>
            </a:solidFill>
            <a:prstDash val="solid"/>
          </a:ln>
        </p:spPr>
      </p:sp>
      <p:sp>
        <p:nvSpPr>
          <p:cNvPr id="112" name="Text 102"/>
          <p:cNvSpPr txBox="1"/>
          <p:nvPr/>
        </p:nvSpPr>
        <p:spPr>
          <a:xfrm>
            <a:off x="533399" y="6457934"/>
            <a:ext cx="76199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출처 · Similarweb AI Search Stats 2026 · OpenAI(2026.07) · 크몽 숏폼 단가 가이드 · 엠플랜잇 운영 자료(2026.09)</a:t>
            </a:r>
            <a:endParaRPr lang="en-US" sz="800" dirty="0"/>
          </a:p>
        </p:txBody>
      </p:sp>
      <p:sp>
        <p:nvSpPr>
          <p:cNvPr id="113" name="Text 103"/>
          <p:cNvSpPr txBox="1"/>
          <p:nvPr/>
        </p:nvSpPr>
        <p:spPr>
          <a:xfrm>
            <a:off x="9524976" y="6457934"/>
            <a:ext cx="21335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07 / 08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47625"/>
          </a:xfrm>
          <a:prstGeom prst="rect">
            <a:avLst/>
          </a:prstGeom>
          <a:solidFill>
            <a:srgbClr val="1B468B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6248370" cy="47625"/>
          </a:xfrm>
          <a:prstGeom prst="rect">
            <a:avLst/>
          </a:prstGeom>
          <a:solidFill>
            <a:srgbClr val="399BC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33399" y="419099"/>
            <a:ext cx="66674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399BC1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06 OPERATION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33399" y="590549"/>
            <a:ext cx="8953478" cy="323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MI 솔루션 — </a:t>
            </a:r>
            <a:pPr indent="0" marL="0">
              <a:buNone/>
            </a:pPr>
            <a:r>
              <a:rPr lang="en-US" sz="21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네이버 자동입찰 · 대량 통합 리포트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33399" y="952498"/>
            <a:ext cx="89534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외부 입찰관리 툴(애드몬스터 유형) 기능의 사내 내재화 · 애드리포트 데이터와 동일 기준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048727" y="571499"/>
            <a:ext cx="2609843" cy="247649"/>
          </a:xfrm>
          <a:prstGeom prst="roundRect">
            <a:avLst>
              <a:gd name="adj" fmla="val 44308"/>
            </a:avLst>
          </a:prstGeom>
          <a:solidFill>
            <a:srgbClr val="EAF1FC"/>
          </a:solidFill>
          <a:ln w="9525">
            <a:solidFill>
              <a:srgbClr val="CFDC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48727" y="571499"/>
            <a:ext cx="2609843" cy="247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Marketing Intelligence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33399" y="1200147"/>
            <a:ext cx="11125172" cy="0"/>
          </a:xfrm>
          <a:prstGeom prst="line">
            <a:avLst/>
          </a:prstGeom>
          <a:noFill/>
          <a:ln w="9525">
            <a:solidFill>
              <a:srgbClr val="E3EA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3399" y="1523996"/>
            <a:ext cx="247649" cy="190500"/>
          </a:xfrm>
          <a:prstGeom prst="roundRect">
            <a:avLst>
              <a:gd name="adj" fmla="val 48000"/>
            </a:avLst>
          </a:prstGeom>
          <a:solidFill>
            <a:srgbClr val="1B468B"/>
          </a:solidFill>
          <a:ln w="12700">
            <a:solidFill>
              <a:srgbClr val="1B468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3399" y="1523996"/>
            <a:ext cx="2476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876298" y="1504946"/>
            <a:ext cx="32384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네이버 검색광고 자동입찰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76298" y="1695446"/>
            <a:ext cx="3238492" cy="342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키워드 순위 목표 기반 입찰 조정 · 시간대/요일 규칙 · 예산 소진 제어.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3399" y="2266944"/>
            <a:ext cx="247649" cy="190500"/>
          </a:xfrm>
          <a:prstGeom prst="roundRect">
            <a:avLst>
              <a:gd name="adj" fmla="val 48000"/>
            </a:avLst>
          </a:prstGeom>
          <a:solidFill>
            <a:srgbClr val="1B468B"/>
          </a:solidFill>
          <a:ln w="12700">
            <a:solidFill>
              <a:srgbClr val="1B468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3399" y="2266944"/>
            <a:ext cx="2476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876298" y="2247894"/>
            <a:ext cx="32384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대량 통합 리포트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76298" y="2438394"/>
            <a:ext cx="3238492" cy="342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다계정 · 다광고주 실적 일괄 수집 · 키워드 단위 대량 추출 · 정기 자동 발송.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3399" y="3009892"/>
            <a:ext cx="247649" cy="190500"/>
          </a:xfrm>
          <a:prstGeom prst="roundRect">
            <a:avLst>
              <a:gd name="adj" fmla="val 48000"/>
            </a:avLst>
          </a:prstGeom>
          <a:solidFill>
            <a:srgbClr val="1B468B"/>
          </a:solidFill>
          <a:ln w="12700">
            <a:solidFill>
              <a:srgbClr val="1B468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3399" y="3009892"/>
            <a:ext cx="2476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876298" y="2990843"/>
            <a:ext cx="32384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운영 공수 대체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76298" y="3181342"/>
            <a:ext cx="3238492" cy="342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수기 입찰 조정 · 리포트 취합 제거. 외부 입찰관리 툴 구독 대체.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3399" y="3752841"/>
            <a:ext cx="247649" cy="190500"/>
          </a:xfrm>
          <a:prstGeom prst="roundRect">
            <a:avLst>
              <a:gd name="adj" fmla="val 48000"/>
            </a:avLst>
          </a:prstGeom>
          <a:solidFill>
            <a:srgbClr val="1B468B"/>
          </a:solidFill>
          <a:ln w="12700">
            <a:solidFill>
              <a:srgbClr val="1B468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3399" y="3752841"/>
            <a:ext cx="2476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04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876298" y="3733791"/>
            <a:ext cx="32384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사내 데이터 연동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76298" y="3924290"/>
            <a:ext cx="3238492" cy="342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애드리포트 성과 · 커머스허브 매출과 같은 기준으로 결합.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3399" y="4476739"/>
            <a:ext cx="3581391" cy="45719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3399" y="4476739"/>
            <a:ext cx="28575" cy="457199"/>
          </a:xfrm>
          <a:prstGeom prst="rect">
            <a:avLst/>
          </a:prstGeom>
          <a:solidFill>
            <a:srgbClr val="1B468B"/>
          </a:solidFill>
          <a:ln w="12700">
            <a:solidFill>
              <a:srgbClr val="1B468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6748" y="4543414"/>
            <a:ext cx="33337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입찰은 자동으로, 리포트는 일괄로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66748" y="4724388"/>
            <a:ext cx="33337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운영자는 전략 판단에만 개입</a:t>
            </a:r>
            <a:endParaRPr lang="en-US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533399" y="4991088"/>
            <a:ext cx="35813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기능 범위·오픈 일정은 내부 확정 후 갱신 — 현재 장표는 개발 방향 기준.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438639" y="1447796"/>
            <a:ext cx="7219932" cy="1047747"/>
          </a:xfrm>
          <a:prstGeom prst="roundRect">
            <a:avLst>
              <a:gd name="adj" fmla="val 4364"/>
            </a:avLst>
          </a:prstGeom>
          <a:solidFill>
            <a:srgbClr val="FBFD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91039" y="1562096"/>
            <a:ext cx="69151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자동입찰 — 목표 기반 반복 조정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91039" y="1828795"/>
            <a:ext cx="1628771" cy="495299"/>
          </a:xfrm>
          <a:prstGeom prst="roundRect">
            <a:avLst>
              <a:gd name="adj" fmla="val 1107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91039" y="1924045"/>
            <a:ext cx="16287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목표 설정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4591039" y="2076445"/>
            <a:ext cx="16287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키워드 순위 · 예산</a:t>
            </a:r>
            <a:endParaRPr lang="en-US" sz="700" dirty="0"/>
          </a:p>
        </p:txBody>
      </p:sp>
      <p:sp>
        <p:nvSpPr>
          <p:cNvPr id="36" name="Text 34"/>
          <p:cNvSpPr txBox="1"/>
          <p:nvPr/>
        </p:nvSpPr>
        <p:spPr>
          <a:xfrm>
            <a:off x="6219809" y="1828795"/>
            <a:ext cx="133350" cy="4952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CE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›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53159" y="1828795"/>
            <a:ext cx="1628771" cy="495299"/>
          </a:xfrm>
          <a:prstGeom prst="roundRect">
            <a:avLst>
              <a:gd name="adj" fmla="val 1107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53159" y="1924045"/>
            <a:ext cx="16287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현황 수집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6353159" y="2076445"/>
            <a:ext cx="16287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순위 · 노출 · 비용</a:t>
            </a:r>
            <a:endParaRPr lang="en-US" sz="700" dirty="0"/>
          </a:p>
        </p:txBody>
      </p:sp>
      <p:sp>
        <p:nvSpPr>
          <p:cNvPr id="40" name="Text 38"/>
          <p:cNvSpPr txBox="1"/>
          <p:nvPr/>
        </p:nvSpPr>
        <p:spPr>
          <a:xfrm>
            <a:off x="7981930" y="1828795"/>
            <a:ext cx="133350" cy="4952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CE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›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115280" y="1828795"/>
            <a:ext cx="1628771" cy="495299"/>
          </a:xfrm>
          <a:prstGeom prst="roundRect">
            <a:avLst>
              <a:gd name="adj" fmla="val 1107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115280" y="1924045"/>
            <a:ext cx="16287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입찰 조정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8115280" y="2076445"/>
            <a:ext cx="16287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규칙 기반 자동</a:t>
            </a:r>
            <a:endParaRPr lang="en-US" sz="700" dirty="0"/>
          </a:p>
        </p:txBody>
      </p:sp>
      <p:sp>
        <p:nvSpPr>
          <p:cNvPr id="44" name="Text 42"/>
          <p:cNvSpPr txBox="1"/>
          <p:nvPr/>
        </p:nvSpPr>
        <p:spPr>
          <a:xfrm>
            <a:off x="9744051" y="1828795"/>
            <a:ext cx="133350" cy="4952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CE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›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877400" y="1828795"/>
            <a:ext cx="1628771" cy="495299"/>
          </a:xfrm>
          <a:prstGeom prst="roundRect">
            <a:avLst>
              <a:gd name="adj" fmla="val 1107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877400" y="1924045"/>
            <a:ext cx="16287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결과 확인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9877400" y="2076445"/>
            <a:ext cx="16287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변경 이력 · 성과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438639" y="2628893"/>
            <a:ext cx="7219932" cy="1047747"/>
          </a:xfrm>
          <a:prstGeom prst="roundRect">
            <a:avLst>
              <a:gd name="adj" fmla="val 4364"/>
            </a:avLst>
          </a:prstGeom>
          <a:solidFill>
            <a:srgbClr val="FBFD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591039" y="2743193"/>
            <a:ext cx="69151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대량 통합 리포트 — 계정 수와 무관한 산출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91039" y="3009892"/>
            <a:ext cx="2216144" cy="495299"/>
          </a:xfrm>
          <a:prstGeom prst="roundRect">
            <a:avLst>
              <a:gd name="adj" fmla="val 1107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591039" y="3105142"/>
            <a:ext cx="22161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다계정 수집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4591039" y="3257542"/>
            <a:ext cx="22161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광고주 N · 매체별</a:t>
            </a:r>
            <a:endParaRPr lang="en-US" sz="700" dirty="0"/>
          </a:p>
        </p:txBody>
      </p:sp>
      <p:sp>
        <p:nvSpPr>
          <p:cNvPr id="53" name="Text 51"/>
          <p:cNvSpPr txBox="1"/>
          <p:nvPr/>
        </p:nvSpPr>
        <p:spPr>
          <a:xfrm>
            <a:off x="6807183" y="3009892"/>
            <a:ext cx="133350" cy="4952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CE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›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940533" y="3009892"/>
            <a:ext cx="2216144" cy="495299"/>
          </a:xfrm>
          <a:prstGeom prst="roundRect">
            <a:avLst>
              <a:gd name="adj" fmla="val 1107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940533" y="3105142"/>
            <a:ext cx="22161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통합 집계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6940533" y="3257542"/>
            <a:ext cx="22161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키워드 · 캠페인 단위</a:t>
            </a:r>
            <a:endParaRPr lang="en-US" sz="700" dirty="0"/>
          </a:p>
        </p:txBody>
      </p:sp>
      <p:sp>
        <p:nvSpPr>
          <p:cNvPr id="57" name="Text 55"/>
          <p:cNvSpPr txBox="1"/>
          <p:nvPr/>
        </p:nvSpPr>
        <p:spPr>
          <a:xfrm>
            <a:off x="9156677" y="3009892"/>
            <a:ext cx="133350" cy="4952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CE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›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9290027" y="3009892"/>
            <a:ext cx="2216144" cy="495299"/>
          </a:xfrm>
          <a:prstGeom prst="roundRect">
            <a:avLst>
              <a:gd name="adj" fmla="val 1107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290027" y="3105142"/>
            <a:ext cx="22161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자동 발송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9290027" y="3257542"/>
            <a:ext cx="22161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정기 리포트 · 파일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4438639" y="3809990"/>
            <a:ext cx="7219932" cy="1047747"/>
          </a:xfrm>
          <a:prstGeom prst="roundRect">
            <a:avLst>
              <a:gd name="adj" fmla="val 4364"/>
            </a:avLst>
          </a:prstGeom>
          <a:solidFill>
            <a:srgbClr val="FBFD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4591039" y="3924290"/>
            <a:ext cx="69151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연결 구조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91039" y="4190990"/>
            <a:ext cx="2216144" cy="495299"/>
          </a:xfrm>
          <a:prstGeom prst="roundRect">
            <a:avLst>
              <a:gd name="adj" fmla="val 1107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591039" y="4286239"/>
            <a:ext cx="22161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MI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4591039" y="4438639"/>
            <a:ext cx="22161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입찰 · 대량 리포트</a:t>
            </a:r>
            <a:endParaRPr lang="en-US" sz="700" dirty="0"/>
          </a:p>
        </p:txBody>
      </p:sp>
      <p:sp>
        <p:nvSpPr>
          <p:cNvPr id="66" name="Text 64"/>
          <p:cNvSpPr txBox="1"/>
          <p:nvPr/>
        </p:nvSpPr>
        <p:spPr>
          <a:xfrm>
            <a:off x="6807183" y="4190990"/>
            <a:ext cx="133350" cy="4952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CE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›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940533" y="4190990"/>
            <a:ext cx="2216144" cy="495299"/>
          </a:xfrm>
          <a:prstGeom prst="roundRect">
            <a:avLst>
              <a:gd name="adj" fmla="val 1107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6940533" y="4286239"/>
            <a:ext cx="22161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애드리포트</a:t>
            </a:r>
            <a:endParaRPr lang="en-US" sz="900" dirty="0"/>
          </a:p>
        </p:txBody>
      </p:sp>
      <p:sp>
        <p:nvSpPr>
          <p:cNvPr id="69" name="Text 67"/>
          <p:cNvSpPr txBox="1"/>
          <p:nvPr/>
        </p:nvSpPr>
        <p:spPr>
          <a:xfrm>
            <a:off x="6940533" y="4438639"/>
            <a:ext cx="22161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매체 성과 · ROAS</a:t>
            </a:r>
            <a:endParaRPr lang="en-US" sz="700" dirty="0"/>
          </a:p>
        </p:txBody>
      </p:sp>
      <p:sp>
        <p:nvSpPr>
          <p:cNvPr id="70" name="Text 68"/>
          <p:cNvSpPr txBox="1"/>
          <p:nvPr/>
        </p:nvSpPr>
        <p:spPr>
          <a:xfrm>
            <a:off x="9156677" y="4190990"/>
            <a:ext cx="133350" cy="4952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CE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›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9290027" y="4190990"/>
            <a:ext cx="2216144" cy="495299"/>
          </a:xfrm>
          <a:prstGeom prst="roundRect">
            <a:avLst>
              <a:gd name="adj" fmla="val 11077"/>
            </a:avLst>
          </a:prstGeom>
          <a:solidFill>
            <a:srgbClr val="FFFF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9290027" y="4286239"/>
            <a:ext cx="22161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B2E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커머스허브</a:t>
            </a:r>
            <a:endParaRPr lang="en-US" sz="900" dirty="0"/>
          </a:p>
        </p:txBody>
      </p:sp>
      <p:sp>
        <p:nvSpPr>
          <p:cNvPr id="73" name="Text 71"/>
          <p:cNvSpPr txBox="1"/>
          <p:nvPr/>
        </p:nvSpPr>
        <p:spPr>
          <a:xfrm>
            <a:off x="9290027" y="4438639"/>
            <a:ext cx="22161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채널 매출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533399" y="5219687"/>
            <a:ext cx="3638541" cy="704848"/>
          </a:xfrm>
          <a:prstGeom prst="roundRect">
            <a:avLst>
              <a:gd name="adj" fmla="val 7784"/>
            </a:avLst>
          </a:prstGeom>
          <a:solidFill>
            <a:srgbClr val="FBFD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685798" y="5333987"/>
            <a:ext cx="33337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구독 비용 대체</a:t>
            </a:r>
            <a:endParaRPr lang="en-US" sz="1000" dirty="0"/>
          </a:p>
        </p:txBody>
      </p:sp>
      <p:sp>
        <p:nvSpPr>
          <p:cNvPr id="76" name="Text 74"/>
          <p:cNvSpPr txBox="1"/>
          <p:nvPr/>
        </p:nvSpPr>
        <p:spPr>
          <a:xfrm>
            <a:off x="685798" y="5543536"/>
            <a:ext cx="3333742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외부 입찰관리 툴 이용료 없이 사내 계정으로 운영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286239" y="5219687"/>
            <a:ext cx="3638541" cy="704848"/>
          </a:xfrm>
          <a:prstGeom prst="roundRect">
            <a:avLst>
              <a:gd name="adj" fmla="val 7784"/>
            </a:avLst>
          </a:prstGeom>
          <a:solidFill>
            <a:srgbClr val="FBFD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4438639" y="5333987"/>
            <a:ext cx="33337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데이터 단절 없음</a:t>
            </a:r>
            <a:endParaRPr lang="en-US" sz="1000" dirty="0"/>
          </a:p>
        </p:txBody>
      </p:sp>
      <p:sp>
        <p:nvSpPr>
          <p:cNvPr id="79" name="Text 77"/>
          <p:cNvSpPr txBox="1"/>
          <p:nvPr/>
        </p:nvSpPr>
        <p:spPr>
          <a:xfrm>
            <a:off x="4438639" y="5543536"/>
            <a:ext cx="3333742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입찰·리포트·매출이 애드리포트/커머스허브와 같은 기준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8039080" y="5219687"/>
            <a:ext cx="3638541" cy="704848"/>
          </a:xfrm>
          <a:prstGeom prst="roundRect">
            <a:avLst>
              <a:gd name="adj" fmla="val 7784"/>
            </a:avLst>
          </a:prstGeom>
          <a:solidFill>
            <a:srgbClr val="FBFDFF"/>
          </a:solidFill>
          <a:ln w="9525">
            <a:solidFill>
              <a:srgbClr val="E3EAF4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8191480" y="5333987"/>
            <a:ext cx="33337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468B"/>
                </a:solidFill>
                <a:latin typeface="페이퍼로지 8 ExtraBold" pitchFamily="34" charset="0"/>
                <a:ea typeface="페이퍼로지 8 ExtraBold" pitchFamily="34" charset="-122"/>
                <a:cs typeface="페이퍼로지 8 ExtraBold" pitchFamily="34" charset="-120"/>
              </a:rPr>
              <a:t>광고주 단위 권한</a:t>
            </a:r>
            <a:endParaRPr lang="en-US" sz="1000" dirty="0"/>
          </a:p>
        </p:txBody>
      </p:sp>
      <p:sp>
        <p:nvSpPr>
          <p:cNvPr id="82" name="Text 80"/>
          <p:cNvSpPr txBox="1"/>
          <p:nvPr/>
        </p:nvSpPr>
        <p:spPr>
          <a:xfrm>
            <a:off x="8191480" y="5543536"/>
            <a:ext cx="3333742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사업자·브랜드·담당자 권한 체계 그대로 적용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533399" y="6400784"/>
            <a:ext cx="11125172" cy="0"/>
          </a:xfrm>
          <a:prstGeom prst="line">
            <a:avLst/>
          </a:prstGeom>
          <a:noFill/>
          <a:ln w="9525">
            <a:solidFill>
              <a:srgbClr val="E3EAF4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533399" y="6457934"/>
            <a:ext cx="76199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MI 솔루션 · Marketing Intelligence</a:t>
            </a:r>
            <a:endParaRPr lang="en-US" sz="800" dirty="0"/>
          </a:p>
        </p:txBody>
      </p:sp>
      <p:sp>
        <p:nvSpPr>
          <p:cNvPr id="85" name="Text 83"/>
          <p:cNvSpPr txBox="1"/>
          <p:nvPr/>
        </p:nvSpPr>
        <p:spPr>
          <a:xfrm>
            <a:off x="9524976" y="6457934"/>
            <a:ext cx="21335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페이퍼로지 4 Regular" pitchFamily="34" charset="0"/>
                <a:ea typeface="페이퍼로지 4 Regular" pitchFamily="34" charset="-122"/>
                <a:cs typeface="페이퍼로지 4 Regular" pitchFamily="34" charset="-120"/>
              </a:rPr>
              <a:t>08 / 08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Mplanit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엠플랜잇 AI 솔루션 소개서</dc:title>
  <dc:subject>PptxGenJS Presentation</dc:subject>
  <dc:creator>Mplanit AIU</dc:creator>
  <cp:lastModifiedBy>Mplanit AIU</cp:lastModifiedBy>
  <cp:revision>1</cp:revision>
  <dcterms:created xsi:type="dcterms:W3CDTF">2026-09-20T08:45:21Z</dcterms:created>
  <dcterms:modified xsi:type="dcterms:W3CDTF">2026-09-20T08:45:21Z</dcterms:modified>
</cp:coreProperties>
</file>