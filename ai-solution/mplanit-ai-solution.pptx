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MI는 AI 솔루션이 아닌 데이터 인프라·운영 자동화 영역. 6종 솔루션이 공유하는 수집·정규화·집계 기반이 자체 기술임을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62194"/>
            <a:ext cx="11048972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5종 + 데이터 인프라 1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 —  M Ai Platform · AI LAB · 커머스허브 · MI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1318257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131825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· 데이터 인프라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생성 · 규격 변형 · 레이어 편집 · 영상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입력 · 컷 승인형 숏폼 제작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개선 가이드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정산 · 재고 통합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성과 · ROAS · 알림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DATA INFRA · AI 솔루션 아님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리포트 · 데이터 인프라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기술 기반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533399" y="5124437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72" name="Shape 69"/>
          <p:cNvSpPr/>
          <p:nvPr/>
        </p:nvSpPr>
        <p:spPr>
          <a:xfrm>
            <a:off x="1423031" y="5124437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176825"/>
            <a:ext cx="104775" cy="104775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623056" y="5124437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75" name="Shape 71"/>
          <p:cNvSpPr/>
          <p:nvPr/>
        </p:nvSpPr>
        <p:spPr>
          <a:xfrm>
            <a:off x="2200269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2276469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2371719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78" name="Shape 74"/>
          <p:cNvSpPr/>
          <p:nvPr/>
        </p:nvSpPr>
        <p:spPr>
          <a:xfrm>
            <a:off x="2703188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2779388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2874638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81" name="Shape 77"/>
          <p:cNvSpPr/>
          <p:nvPr/>
        </p:nvSpPr>
        <p:spPr>
          <a:xfrm>
            <a:off x="3278497" y="5124437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3354697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3449946" y="5124437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3998585" y="5124437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074785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4170035" y="5124437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4646283" y="5124437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8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958" y="5176825"/>
            <a:ext cx="104775" cy="104775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4846308" y="5124437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5713081" y="5124437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1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56" y="5176825"/>
            <a:ext cx="104775" cy="104775"/>
          </a:xfrm>
          <a:prstGeom prst="rect">
            <a:avLst/>
          </a:prstGeom>
        </p:spPr>
      </p:pic>
      <p:sp>
        <p:nvSpPr>
          <p:cNvPr id="92" name="Text 86"/>
          <p:cNvSpPr txBox="1"/>
          <p:nvPr/>
        </p:nvSpPr>
        <p:spPr>
          <a:xfrm>
            <a:off x="5913105" y="5124437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93" name="Shape 87"/>
          <p:cNvSpPr/>
          <p:nvPr/>
        </p:nvSpPr>
        <p:spPr>
          <a:xfrm>
            <a:off x="6200759" y="5124437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4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34" y="5176825"/>
            <a:ext cx="104775" cy="104775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6400784" y="5124437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96" name="Shape 89"/>
          <p:cNvSpPr/>
          <p:nvPr/>
        </p:nvSpPr>
        <p:spPr>
          <a:xfrm>
            <a:off x="6688438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Shape 90"/>
          <p:cNvSpPr/>
          <p:nvPr/>
        </p:nvSpPr>
        <p:spPr>
          <a:xfrm>
            <a:off x="6764638" y="5200637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98" name="Text 91"/>
          <p:cNvSpPr txBox="1"/>
          <p:nvPr/>
        </p:nvSpPr>
        <p:spPr>
          <a:xfrm>
            <a:off x="6859888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99" name="Shape 92"/>
          <p:cNvSpPr/>
          <p:nvPr/>
        </p:nvSpPr>
        <p:spPr>
          <a:xfrm>
            <a:off x="7263747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7339947" y="5200637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7435196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02" name="Shape 95"/>
          <p:cNvSpPr/>
          <p:nvPr/>
        </p:nvSpPr>
        <p:spPr>
          <a:xfrm>
            <a:off x="7766666" y="5124437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3340" y="5176825"/>
            <a:ext cx="104775" cy="104775"/>
          </a:xfrm>
          <a:prstGeom prst="rect">
            <a:avLst/>
          </a:prstGeom>
        </p:spPr>
      </p:pic>
      <p:sp>
        <p:nvSpPr>
          <p:cNvPr id="104" name="Text 96"/>
          <p:cNvSpPr txBox="1"/>
          <p:nvPr/>
        </p:nvSpPr>
        <p:spPr>
          <a:xfrm>
            <a:off x="7966690" y="5124437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8761073" y="5124437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8"/>
          <p:cNvSpPr/>
          <p:nvPr/>
        </p:nvSpPr>
        <p:spPr>
          <a:xfrm>
            <a:off x="8837273" y="5200637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8932523" y="5124437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08" name="Shape 100"/>
          <p:cNvSpPr/>
          <p:nvPr/>
        </p:nvSpPr>
        <p:spPr>
          <a:xfrm>
            <a:off x="9191602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1"/>
          <p:cNvSpPr/>
          <p:nvPr/>
        </p:nvSpPr>
        <p:spPr>
          <a:xfrm>
            <a:off x="9267802" y="5200637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9363052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11" name="Shape 103"/>
          <p:cNvSpPr/>
          <p:nvPr/>
        </p:nvSpPr>
        <p:spPr>
          <a:xfrm>
            <a:off x="9694521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Shape 104"/>
          <p:cNvSpPr/>
          <p:nvPr/>
        </p:nvSpPr>
        <p:spPr>
          <a:xfrm>
            <a:off x="9770721" y="5200637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13" name="Text 105"/>
          <p:cNvSpPr txBox="1"/>
          <p:nvPr/>
        </p:nvSpPr>
        <p:spPr>
          <a:xfrm>
            <a:off x="9865970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14" name="Text 106"/>
          <p:cNvSpPr txBox="1"/>
          <p:nvPr/>
        </p:nvSpPr>
        <p:spPr>
          <a:xfrm>
            <a:off x="10269829" y="5124437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15" name="Shape 107"/>
          <p:cNvSpPr/>
          <p:nvPr/>
        </p:nvSpPr>
        <p:spPr>
          <a:xfrm>
            <a:off x="10877523" y="5124437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6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4198" y="5176825"/>
            <a:ext cx="104775" cy="104775"/>
          </a:xfrm>
          <a:prstGeom prst="rect">
            <a:avLst/>
          </a:prstGeom>
        </p:spPr>
      </p:pic>
      <p:sp>
        <p:nvSpPr>
          <p:cNvPr id="117" name="Text 108"/>
          <p:cNvSpPr txBox="1"/>
          <p:nvPr/>
        </p:nvSpPr>
        <p:spPr>
          <a:xfrm>
            <a:off x="11077547" y="5124437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18" name="Shape 109"/>
          <p:cNvSpPr/>
          <p:nvPr/>
        </p:nvSpPr>
        <p:spPr>
          <a:xfrm>
            <a:off x="533399" y="5391137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9" name="Shape 110"/>
          <p:cNvSpPr/>
          <p:nvPr/>
        </p:nvSpPr>
        <p:spPr>
          <a:xfrm>
            <a:off x="609598" y="5467336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0" name="Text 111"/>
          <p:cNvSpPr txBox="1"/>
          <p:nvPr/>
        </p:nvSpPr>
        <p:spPr>
          <a:xfrm>
            <a:off x="704848" y="5391137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21" name="Shape 112"/>
          <p:cNvSpPr/>
          <p:nvPr/>
        </p:nvSpPr>
        <p:spPr>
          <a:xfrm>
            <a:off x="963928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2" name="Shape 113"/>
          <p:cNvSpPr/>
          <p:nvPr/>
        </p:nvSpPr>
        <p:spPr>
          <a:xfrm>
            <a:off x="1040127" y="5467336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23" name="Text 114"/>
          <p:cNvSpPr txBox="1"/>
          <p:nvPr/>
        </p:nvSpPr>
        <p:spPr>
          <a:xfrm>
            <a:off x="1135377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24" name="Shape 115"/>
          <p:cNvSpPr/>
          <p:nvPr/>
        </p:nvSpPr>
        <p:spPr>
          <a:xfrm>
            <a:off x="1539236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5" name="Shape 116"/>
          <p:cNvSpPr/>
          <p:nvPr/>
        </p:nvSpPr>
        <p:spPr>
          <a:xfrm>
            <a:off x="1615436" y="5467336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1710686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2114545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2190745" y="546733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2285994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2689853" y="5391137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2766053" y="5467336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2861303" y="5391137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3409941" y="5391137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3486141" y="546733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3581391" y="5391137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136" name="Text 127"/>
          <p:cNvSpPr txBox="1"/>
          <p:nvPr/>
        </p:nvSpPr>
        <p:spPr>
          <a:xfrm>
            <a:off x="533399" y="5772136"/>
            <a:ext cx="11125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삼성전자 DS · AIA생명 · 쿠쿠전자    </a:t>
            </a:r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공식 파트너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· 카카오 · 크리테오 — 공식 홈페이지 공개 기준</a:t>
            </a:r>
            <a:endParaRPr lang="en-US" sz="750" dirty="0"/>
          </a:p>
        </p:txBody>
      </p:sp>
      <p:sp>
        <p:nvSpPr>
          <p:cNvPr id="137" name="Shape 12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39" name="Text 13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5종(M Ai Platform · AI LAB · 커머스허브) + 데이터 인프라 1(MI) — 수집부터 판단까지 단일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만들고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CREATE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8623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623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관리하고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MANAGE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39080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9080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운영·성과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OPERATE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339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339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339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8648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95470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28648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28648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28648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8648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8648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8648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28648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2400294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00294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49554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6236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9554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49554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49554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9554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49554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49554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249554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26718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6718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6718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62439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9261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362439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362439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4362439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362439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362439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62439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4362439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613408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3408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34085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22933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749615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622933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2933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622933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22933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622933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22933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622933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000980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000980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00980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096230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9363052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8096230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096230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8096230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096230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096230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8096230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8096230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986787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· 데이터 인프라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6787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67875" y="1771646"/>
            <a:ext cx="1781171" cy="2666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963125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11229947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Infra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9963125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963125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9963125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963125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9963125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데이터 분석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9963125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7" name="Text 85"/>
          <p:cNvSpPr txBox="1"/>
          <p:nvPr/>
        </p:nvSpPr>
        <p:spPr>
          <a:xfrm>
            <a:off x="9963125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인프라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· 마케팅팀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배너핏 + 릴스 + GEO 케어 + 애드리포트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커머스팀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 + MI + 애드리포트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확장 방향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· AI 솔루션 5종 + 데이터 인프라(MI)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통합 리포트 · 통합 데이터 분석 · 인프라 구성 (AI 솔루션 아님)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자체 기술 기반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· 스타일 · 텍스트 · 출력 · 모델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양식 입력 / 에디터 대화 지시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 4비율 + 매체 규격 23종 · 레이어 분리 수정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Gemini(나노 바나나) · ChatGPT 2.0 → 영상 생성 연결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문장 하나 → AI가 질문 완성 → 초안 스토리보드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→ 의도 → 표현 → 스토리보드 → 완료 · 2/4/7컷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 · 화면 스타일 · 분위기 · 등장인물 선택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승인·재생성 → VEO 3.1 / Gemini Omni 렌더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 — 자사 84 / 95 / 72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80↑ 인용 가능 · 70점대 기본 · 60↓ 개선 필요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 · 통계 포함 · 스키마 · 엔티티 연결성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533399" y="5619736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점수는 자체 진단 기준입니다 — 실제 AI 답변 노출·인용률이나 검색순위를 뜻하지 않습니다.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50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463036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539236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34486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1965955" y="4076690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042155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37405" y="4076690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41264" y="4076690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17463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3261352" y="4076690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33755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432801" y="4076690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685798" y="4343389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3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85823" y="4343389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1752596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0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1952620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240274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49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2440299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727953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2804153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2899403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3303262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3379462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3474711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685798" y="4610088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3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885823" y="4610088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1680206" y="4610088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1756406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1851655" y="4610088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2110735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2186935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282184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2613653" y="4610088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2689853" y="46862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2785103" y="4610088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2958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실제 캡처(캡처 시점 수치 · 광고주명·금액 마스킹) · 채널별 연동 범위와 집계 주기 상이 · 판매 매출과 광고 기여 성과 구분</a:t>
            </a:r>
            <a:endParaRPr lang="en-US" sz="65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08" name="Text 9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TECH BASE · 데이터 인프라 (AI 솔루션 아님)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· 대량 리포트, 그리고 그 아래 인프라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매체·마켓·전환 데이터를 한 기준으로 모으는 수집·정규화·집계 구조 — 엠플랜잇 자체 구축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Solution · Data Infra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기반 입찰 조정 · 시간대 규칙 · 예산 제어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일괄 수집 · 키워드 단위 추출 · 자동 발송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데이터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· 매출 · 전환을 단일 지표 체계로 결합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인프라 구성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· 적재 · 권한 분리 직접 설계·운영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148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815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솔루션이 올라서는 바닥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624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데이터를 모으고 맞추는 인프라가 엠플랜잇의 기술 기반입니다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50291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기능이 아닌 운영 자동화·데이터 기술 영역 · 기능 범위·오픈 일정 내부 확정 후 갱신</a:t>
            </a:r>
            <a:endParaRPr lang="en-US" sz="6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공식 Solution 페이지는 M Ai Platform · MARS로 소개 — MI 명칭·자동입찰은 사내 정보 기준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파이프라인 — 수집에서 판단까지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수집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14 · 마켓 7 API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정규화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매체·채널 기준 통일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적재 · 집계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일/캠페인/키워드/SKU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활용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· 입찰 · ROAS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219809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315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5315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35315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981930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1528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1528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811528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9744051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87740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87740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987740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3339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66748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외부 툴 구독 대체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인프라 운영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28623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19589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애드리포트·커머스허브와 같은 기준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039080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172430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확장 기반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계층만 추가하면 전 솔루션 반영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데이터 인프라 · 엠플랜잇 자체 기술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APPENDIX · 근거와 표기 기준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제공 범위와 표기 기준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과장 없이, 확인된 것만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장표에 쓴 화면·수치·명칭의 출처와, 오해를 막기 위한 표기 원칙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2026.09 기준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848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자료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4848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 장표에 쓰인 화면과 수치의 출처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04848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제품 화면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솔루션 소개 PPTX(배너핏 3장 · 릴스 스튜디오 4장 · GEO 2장), AD_report 화면 4종, 커머스허브 캡처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04848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사양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 API 서비스소개서(판매 채널 7 · 광고 매체 14 · 수집 주기)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4848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기준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최적화 GEO 가이드(AX본부): 점수 해석 · 3대 리스크 · 개선 우선순위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04848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제공 정보(네이버 자동입찰 · 대량 통합 리포트). 공식 Solution 페이지는 M Ai Platform · MARS로 소개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04848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시장 수치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OpenAI(2026.07) · Similarweb AI Search Stats 2026 · 국내 광고업계 보도 · 크몽 숏폼 단가 가이드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04848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· 파트너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공식 홈페이지 공개 기준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86484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FFBF5"/>
          </a:solidFill>
          <a:ln w="9525">
            <a:solidFill>
              <a:srgbClr val="F0E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57934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표기 기준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57934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제안·설명 시 지켜야 할 범위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457934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전체 구조도는 서비스 포트폴리오입니다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간 자동 통합 아키텍처를 뜻하지 않습니다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57934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점수는 자체 진단 기준입니다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노출·인용률이나 검색순위가 아닙니다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457934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 수치는 캡처 시점 데이터이며 광고주명·금액은 마스킹했습니다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현재 성과가 아닙니다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57934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채널·매체별 연동 범위와 집계 주기가 다릅니다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매출과 광고 기여 성과는 구분합니다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57934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카카오쇼핑(톡스토어)은 연동 승인 대기 상태입니다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457934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기능 범위·오픈 일정, 소상공인용 상품은 확정 전입니다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도입 상담에서 확정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57934" y="4457689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프로젝트 수행 경험과 AI 솔루션 도입 실적은 별개입니다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339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6748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이용자(OpenAI, 2026.07)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8623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19589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039080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2430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약 29%) — Similarweb 2026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33399" y="5429236"/>
            <a:ext cx="11125172" cy="552449"/>
          </a:xfrm>
          <a:prstGeom prst="roundRect">
            <a:avLst>
              <a:gd name="adj" fmla="val 827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3898" y="552448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기능·연동·운영 범위는 도입 상담에서 확정합니다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23898" y="573403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DEE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기술을 고르고, 브랜드에 맞추고, 실행을 돕습니다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143977" y="5543536"/>
            <a:ext cx="23240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3977" y="5543536"/>
            <a:ext cx="23240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mplanit@mplanit.co.kr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Appendix · 근거와 표기 기준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09 / 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2026-09-20T15:02:24Z</dcterms:created>
  <dcterms:modified xsi:type="dcterms:W3CDTF">2026-09-20T15:02:24Z</dcterms:modified>
</cp:coreProperties>
</file>