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43144"/>
            <a:ext cx="85724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 LAB 운영 솔루션 5종 — 대행사 실무 기준 설계, 1인 기업까지 사용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33399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674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674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971548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66748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666748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시안 생성 · 매체 규격 변형 · 레이어 편집 · 영상 전환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66748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666748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2819393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52743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52743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257542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2952743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2952743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노드 · 컷별 프롬프트 · 모델 선택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952743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2952743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105387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238737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238737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543536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238737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5238737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점수화 · 개선 가이드 · 정기 재측정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5238737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238737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391382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24731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524731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829530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7524731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7524731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통합 관리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7524731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7524731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9677376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1072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81072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10115525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9810725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810725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현황 · 전환 · ROAS · 알림 · 리포트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9810725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9" name="Text 56"/>
          <p:cNvSpPr txBox="1"/>
          <p:nvPr/>
        </p:nvSpPr>
        <p:spPr>
          <a:xfrm>
            <a:off x="9810725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53339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647698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47698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 — 검색 시작점 이동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426718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4381489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4381489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8000980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115280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115280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29%) — 인용 없으면 유입 없음</a:t>
            </a:r>
            <a:endParaRPr lang="en-US" sz="800" dirty="0"/>
          </a:p>
        </p:txBody>
      </p:sp>
      <p:sp>
        <p:nvSpPr>
          <p:cNvPr id="69" name="Text 66"/>
          <p:cNvSpPr txBox="1"/>
          <p:nvPr/>
        </p:nvSpPr>
        <p:spPr>
          <a:xfrm>
            <a:off x="533399" y="5676886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1423031" y="5676886"/>
            <a:ext cx="50291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1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729273"/>
            <a:ext cx="104775" cy="104775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623056" y="5676886"/>
            <a:ext cx="2552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</a:t>
            </a:r>
            <a:endParaRPr lang="en-US" sz="750" dirty="0"/>
          </a:p>
        </p:txBody>
      </p:sp>
      <p:sp>
        <p:nvSpPr>
          <p:cNvPr id="73" name="Shape 69"/>
          <p:cNvSpPr/>
          <p:nvPr/>
        </p:nvSpPr>
        <p:spPr>
          <a:xfrm>
            <a:off x="1983100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4" name="Image 2" descr="/home/user/mplanit/ai-solution/assets/png/icon-m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75" y="5729273"/>
            <a:ext cx="104775" cy="104775"/>
          </a:xfrm>
          <a:prstGeom prst="rect">
            <a:avLst/>
          </a:prstGeom>
        </p:spPr>
      </p:pic>
      <p:sp>
        <p:nvSpPr>
          <p:cNvPr id="75" name="Text 70"/>
          <p:cNvSpPr txBox="1"/>
          <p:nvPr/>
        </p:nvSpPr>
        <p:spPr>
          <a:xfrm>
            <a:off x="2183125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2470779" y="5676886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7" name="Image 3" descr="/home/user/mplanit/ai-solution/assets/png/icon-googlea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454" y="5729273"/>
            <a:ext cx="104775" cy="104775"/>
          </a:xfrm>
          <a:prstGeom prst="rect">
            <a:avLst/>
          </a:prstGeom>
        </p:spPr>
      </p:pic>
      <p:sp>
        <p:nvSpPr>
          <p:cNvPr id="78" name="Text 72"/>
          <p:cNvSpPr txBox="1"/>
          <p:nvPr/>
        </p:nvSpPr>
        <p:spPr>
          <a:xfrm>
            <a:off x="2670803" y="5676886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9" name="Shape 73"/>
          <p:cNvSpPr/>
          <p:nvPr/>
        </p:nvSpPr>
        <p:spPr>
          <a:xfrm>
            <a:off x="3537576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0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4251" y="5729273"/>
            <a:ext cx="104775" cy="104775"/>
          </a:xfrm>
          <a:prstGeom prst="rect">
            <a:avLst/>
          </a:prstGeom>
        </p:spPr>
      </p:pic>
      <p:sp>
        <p:nvSpPr>
          <p:cNvPr id="81" name="Text 74"/>
          <p:cNvSpPr txBox="1"/>
          <p:nvPr/>
        </p:nvSpPr>
        <p:spPr>
          <a:xfrm>
            <a:off x="3737601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82" name="Shape 75"/>
          <p:cNvSpPr/>
          <p:nvPr/>
        </p:nvSpPr>
        <p:spPr>
          <a:xfrm>
            <a:off x="4025255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Shape 76"/>
          <p:cNvSpPr/>
          <p:nvPr/>
        </p:nvSpPr>
        <p:spPr>
          <a:xfrm>
            <a:off x="4101455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4" name="Text 77"/>
          <p:cNvSpPr txBox="1"/>
          <p:nvPr/>
        </p:nvSpPr>
        <p:spPr>
          <a:xfrm>
            <a:off x="4196705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</a:t>
            </a:r>
            <a:endParaRPr lang="en-US" sz="750" dirty="0"/>
          </a:p>
        </p:txBody>
      </p:sp>
      <p:sp>
        <p:nvSpPr>
          <p:cNvPr id="85" name="Shape 78"/>
          <p:cNvSpPr/>
          <p:nvPr/>
        </p:nvSpPr>
        <p:spPr>
          <a:xfrm>
            <a:off x="4528174" y="5676886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6" name="Shape 79"/>
          <p:cNvSpPr/>
          <p:nvPr/>
        </p:nvSpPr>
        <p:spPr>
          <a:xfrm>
            <a:off x="4604373" y="5753086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4699623" y="5676886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88" name="Shape 81"/>
          <p:cNvSpPr/>
          <p:nvPr/>
        </p:nvSpPr>
        <p:spPr>
          <a:xfrm>
            <a:off x="4958703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5034902" y="5753086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90" name="Text 83"/>
          <p:cNvSpPr txBox="1"/>
          <p:nvPr/>
        </p:nvSpPr>
        <p:spPr>
          <a:xfrm>
            <a:off x="5130152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91" name="Shape 84"/>
          <p:cNvSpPr/>
          <p:nvPr/>
        </p:nvSpPr>
        <p:spPr>
          <a:xfrm>
            <a:off x="5534011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2" name="Shape 85"/>
          <p:cNvSpPr/>
          <p:nvPr/>
        </p:nvSpPr>
        <p:spPr>
          <a:xfrm>
            <a:off x="5610211" y="5753086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93" name="Text 86"/>
          <p:cNvSpPr txBox="1"/>
          <p:nvPr/>
        </p:nvSpPr>
        <p:spPr>
          <a:xfrm>
            <a:off x="5705461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94" name="Shape 87"/>
          <p:cNvSpPr/>
          <p:nvPr/>
        </p:nvSpPr>
        <p:spPr>
          <a:xfrm>
            <a:off x="6036930" y="5676886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3605" y="5729273"/>
            <a:ext cx="104775" cy="104775"/>
          </a:xfrm>
          <a:prstGeom prst="rect">
            <a:avLst/>
          </a:prstGeom>
        </p:spPr>
      </p:pic>
      <p:sp>
        <p:nvSpPr>
          <p:cNvPr id="96" name="Text 88"/>
          <p:cNvSpPr txBox="1"/>
          <p:nvPr/>
        </p:nvSpPr>
        <p:spPr>
          <a:xfrm>
            <a:off x="6236954" y="5676886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97" name="Shape 89"/>
          <p:cNvSpPr/>
          <p:nvPr/>
        </p:nvSpPr>
        <p:spPr>
          <a:xfrm>
            <a:off x="7031337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Shape 90"/>
          <p:cNvSpPr/>
          <p:nvPr/>
        </p:nvSpPr>
        <p:spPr>
          <a:xfrm>
            <a:off x="7107537" y="575308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9" name="Text 91"/>
          <p:cNvSpPr txBox="1"/>
          <p:nvPr/>
        </p:nvSpPr>
        <p:spPr>
          <a:xfrm>
            <a:off x="7202787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00" name="Shape 92"/>
          <p:cNvSpPr/>
          <p:nvPr/>
        </p:nvSpPr>
        <p:spPr>
          <a:xfrm>
            <a:off x="7606646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1" name="Shape 93"/>
          <p:cNvSpPr/>
          <p:nvPr/>
        </p:nvSpPr>
        <p:spPr>
          <a:xfrm>
            <a:off x="7682846" y="5753086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02" name="Text 94"/>
          <p:cNvSpPr txBox="1"/>
          <p:nvPr/>
        </p:nvSpPr>
        <p:spPr>
          <a:xfrm>
            <a:off x="7778096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03" name="Text 95"/>
          <p:cNvSpPr txBox="1"/>
          <p:nvPr/>
        </p:nvSpPr>
        <p:spPr>
          <a:xfrm>
            <a:off x="8109565" y="5676886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04" name="Shape 96"/>
          <p:cNvSpPr/>
          <p:nvPr/>
        </p:nvSpPr>
        <p:spPr>
          <a:xfrm>
            <a:off x="8717258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5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933" y="5729273"/>
            <a:ext cx="104775" cy="104775"/>
          </a:xfrm>
          <a:prstGeom prst="rect">
            <a:avLst/>
          </a:prstGeom>
        </p:spPr>
      </p:pic>
      <p:sp>
        <p:nvSpPr>
          <p:cNvPr id="106" name="Text 97"/>
          <p:cNvSpPr txBox="1"/>
          <p:nvPr/>
        </p:nvSpPr>
        <p:spPr>
          <a:xfrm>
            <a:off x="8917283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07" name="Shape 98"/>
          <p:cNvSpPr/>
          <p:nvPr/>
        </p:nvSpPr>
        <p:spPr>
          <a:xfrm>
            <a:off x="9494496" y="5676886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8" name="Shape 99"/>
          <p:cNvSpPr/>
          <p:nvPr/>
        </p:nvSpPr>
        <p:spPr>
          <a:xfrm>
            <a:off x="9570696" y="5753086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09" name="Text 100"/>
          <p:cNvSpPr txBox="1"/>
          <p:nvPr/>
        </p:nvSpPr>
        <p:spPr>
          <a:xfrm>
            <a:off x="9665946" y="5676886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10" name="Shape 101"/>
          <p:cNvSpPr/>
          <p:nvPr/>
        </p:nvSpPr>
        <p:spPr>
          <a:xfrm>
            <a:off x="9925025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1" name="Shape 102"/>
          <p:cNvSpPr/>
          <p:nvPr/>
        </p:nvSpPr>
        <p:spPr>
          <a:xfrm>
            <a:off x="10001225" y="5753086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12" name="Text 103"/>
          <p:cNvSpPr txBox="1"/>
          <p:nvPr/>
        </p:nvSpPr>
        <p:spPr>
          <a:xfrm>
            <a:off x="10096475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13" name="Shape 104"/>
          <p:cNvSpPr/>
          <p:nvPr/>
        </p:nvSpPr>
        <p:spPr>
          <a:xfrm>
            <a:off x="10500334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4" name="Shape 105"/>
          <p:cNvSpPr/>
          <p:nvPr/>
        </p:nvSpPr>
        <p:spPr>
          <a:xfrm>
            <a:off x="10576534" y="5753086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15" name="Text 106"/>
          <p:cNvSpPr txBox="1"/>
          <p:nvPr/>
        </p:nvSpPr>
        <p:spPr>
          <a:xfrm>
            <a:off x="10671783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16" name="Shape 107"/>
          <p:cNvSpPr/>
          <p:nvPr/>
        </p:nvSpPr>
        <p:spPr>
          <a:xfrm>
            <a:off x="11075642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7" name="Shape 108"/>
          <p:cNvSpPr/>
          <p:nvPr/>
        </p:nvSpPr>
        <p:spPr>
          <a:xfrm>
            <a:off x="11151842" y="575308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11247092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19" name="Shape 110"/>
          <p:cNvSpPr/>
          <p:nvPr/>
        </p:nvSpPr>
        <p:spPr>
          <a:xfrm>
            <a:off x="533399" y="5943585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0" name="Shape 111"/>
          <p:cNvSpPr/>
          <p:nvPr/>
        </p:nvSpPr>
        <p:spPr>
          <a:xfrm>
            <a:off x="609598" y="6019785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21" name="Text 112"/>
          <p:cNvSpPr txBox="1"/>
          <p:nvPr/>
        </p:nvSpPr>
        <p:spPr>
          <a:xfrm>
            <a:off x="704848" y="5943585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22" name="Shape 113"/>
          <p:cNvSpPr/>
          <p:nvPr/>
        </p:nvSpPr>
        <p:spPr>
          <a:xfrm>
            <a:off x="1253487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3" name="Shape 114"/>
          <p:cNvSpPr/>
          <p:nvPr/>
        </p:nvSpPr>
        <p:spPr>
          <a:xfrm>
            <a:off x="1329687" y="6019785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24" name="Text 115"/>
          <p:cNvSpPr txBox="1"/>
          <p:nvPr/>
        </p:nvSpPr>
        <p:spPr>
          <a:xfrm>
            <a:off x="1424936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125" name="Text 116"/>
          <p:cNvSpPr txBox="1"/>
          <p:nvPr/>
        </p:nvSpPr>
        <p:spPr>
          <a:xfrm>
            <a:off x="533399" y="6210284"/>
            <a:ext cx="11125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OpenAI(2026.07), Similarweb AI Search Stats 2026, 국내 광고업계 AI 제작 비중 전망 보도(2025.10) · 매체/채널 표기는 연동 현황 안내용</a:t>
            </a:r>
            <a:endParaRPr lang="en-US" sz="650" dirty="0"/>
          </a:p>
        </p:txBody>
      </p:sp>
      <p:sp>
        <p:nvSpPr>
          <p:cNvPr id="126" name="Shape 117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7" name="Text 118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AI LAB · mplanit.co.kr</a:t>
            </a:r>
            <a:endParaRPr lang="en-US" sz="800" dirty="0"/>
          </a:p>
        </p:txBody>
      </p:sp>
      <p:sp>
        <p:nvSpPr>
          <p:cNvPr id="128" name="Text 119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INTEGRATION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5종 · 단계별 역할 · 데이터 연결 · 적용 대상 요약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3399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3399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3399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7698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66944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647698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7698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47698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7698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47698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7698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47698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28918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828918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28918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943218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62464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2943218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43218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943218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43218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943218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943218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2943218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124437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4437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4437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238737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857983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238737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8737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5238737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238737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5238737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238737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5238737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7419956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419956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19956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34256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53502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7534256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34256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7534256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534256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7534256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534256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7534256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9715476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715476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15476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9829775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11449021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9829775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9829775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9829775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829775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9829775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829775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9829775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광고주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캠페인 소재 대량 생성 · 매체별 성과 통합 리포트 · AI 검색 브랜드 노출 관리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중소 광고주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소재 제작비 절감 · 채널별 ROAS 비교 · 성과 이상 즉시 알림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디자이너 없이 배너·영상 자체 제작 · 마켓 주문/정산 단일 화면 관리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02" name="Text 100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통합 구조 요약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업로드 · 스타일 · 텍스트&amp;폰트 · 출력 옵션 · 생성 모델. 로고 노출 위치 9분할 지정.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— 양식 입력형 / 에디터 — 대화 지시형. 한 줄 요청으로도 시안 생성.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1:1 · 4:3 · 16:9 · 9:16 기본 비율 + 매체 규격 23종 이상. 레이어 분리 후 브라우저 수정.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Gemini(나노 바나나) · ChatGPT 2.0. 완성 시안은 영상 생성 탭으로 연결.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상황 한 문장 입력 → AI가 질문 자동 완성 → 초안 스토리보드 제시.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· 의도 · 표현 · 스토리보드 · 완료. 길이 2컷 / 4컷 / 7컷 선택.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종류(실사 · 3D · 현실+3D · 웹툰) · 화면 스타일 · 분위기 · 주인공/조연.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 · 재생성 후 VEO 3.1(1080p) 또는 Gemini Omni(720p)로 출력.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답변 내 브랜드 인용 진단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URL 입력 → SEO · GEO 통합 분석 → 점수 · 개선 가이드 · PDF 리포트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산출. 자사 사이트 기준 84 / 95 / 72.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80점 이상 인용 가능 · 70점대 기본 충족 · 60점 이하 구조 개선 필요.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브리핑(Yeti · 서치어드바이저).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신뢰도(E-E-A-T 70점 이상) · 통계 포함 · 스키마 · 엔티티 연결성.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 · 지오 메트릭 케어</a:t>
            </a:r>
            <a:endParaRPr lang="en-US" sz="800" dirty="0"/>
          </a:p>
        </p:txBody>
      </p:sp>
      <p:sp>
        <p:nvSpPr>
          <p:cNvPr id="49" name="Text 45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계정으로 AD REPORT · AD MONITOR · COMMERCE HUB · SETTINGS 이동 (네이버웍스 SSO)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50291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2552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245867" y="4076690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8" name="Image 2" descr="/home/user/mplanit/ai-solution/assets/png/icon-m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542" y="4129077"/>
            <a:ext cx="104775" cy="104775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1445891" y="4076690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60" name="Shape 55"/>
          <p:cNvSpPr/>
          <p:nvPr/>
        </p:nvSpPr>
        <p:spPr>
          <a:xfrm>
            <a:off x="1733546" y="4076690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61" name="Image 3" descr="/home/user/mplanit/ai-solution/assets/png/icon-googlea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220" y="4129077"/>
            <a:ext cx="104775" cy="104775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1933570" y="4076690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63" name="Shape 57"/>
          <p:cNvSpPr/>
          <p:nvPr/>
        </p:nvSpPr>
        <p:spPr>
          <a:xfrm>
            <a:off x="2800343" y="4076690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64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7018" y="4129077"/>
            <a:ext cx="104775" cy="104775"/>
          </a:xfrm>
          <a:prstGeom prst="rect">
            <a:avLst/>
          </a:prstGeom>
        </p:spPr>
      </p:pic>
      <p:sp>
        <p:nvSpPr>
          <p:cNvPr id="65" name="Text 58"/>
          <p:cNvSpPr txBox="1"/>
          <p:nvPr/>
        </p:nvSpPr>
        <p:spPr>
          <a:xfrm>
            <a:off x="3000367" y="4076690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66" name="Shape 59"/>
          <p:cNvSpPr/>
          <p:nvPr/>
        </p:nvSpPr>
        <p:spPr>
          <a:xfrm>
            <a:off x="3288022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0"/>
          <p:cNvSpPr/>
          <p:nvPr/>
        </p:nvSpPr>
        <p:spPr>
          <a:xfrm>
            <a:off x="336422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1"/>
          <p:cNvSpPr txBox="1"/>
          <p:nvPr/>
        </p:nvSpPr>
        <p:spPr>
          <a:xfrm>
            <a:off x="3459471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</a:t>
            </a:r>
            <a:endParaRPr lang="en-US" sz="750" dirty="0"/>
          </a:p>
        </p:txBody>
      </p:sp>
      <p:sp>
        <p:nvSpPr>
          <p:cNvPr id="69" name="Shape 62"/>
          <p:cNvSpPr/>
          <p:nvPr/>
        </p:nvSpPr>
        <p:spPr>
          <a:xfrm>
            <a:off x="685798" y="4343389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0" name="Shape 63"/>
          <p:cNvSpPr/>
          <p:nvPr/>
        </p:nvSpPr>
        <p:spPr>
          <a:xfrm>
            <a:off x="761998" y="4419589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857248" y="4343389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72" name="Shape 65"/>
          <p:cNvSpPr/>
          <p:nvPr/>
        </p:nvSpPr>
        <p:spPr>
          <a:xfrm>
            <a:off x="1116327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3" name="Shape 66"/>
          <p:cNvSpPr/>
          <p:nvPr/>
        </p:nvSpPr>
        <p:spPr>
          <a:xfrm>
            <a:off x="1192527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74" name="Text 67"/>
          <p:cNvSpPr txBox="1"/>
          <p:nvPr/>
        </p:nvSpPr>
        <p:spPr>
          <a:xfrm>
            <a:off x="1287777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75" name="Shape 68"/>
          <p:cNvSpPr/>
          <p:nvPr/>
        </p:nvSpPr>
        <p:spPr>
          <a:xfrm>
            <a:off x="1691636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Shape 69"/>
          <p:cNvSpPr/>
          <p:nvPr/>
        </p:nvSpPr>
        <p:spPr>
          <a:xfrm>
            <a:off x="1767836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77" name="Text 70"/>
          <p:cNvSpPr txBox="1"/>
          <p:nvPr/>
        </p:nvSpPr>
        <p:spPr>
          <a:xfrm>
            <a:off x="1863085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194555" y="4343389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9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1229" y="4395777"/>
            <a:ext cx="104775" cy="104775"/>
          </a:xfrm>
          <a:prstGeom prst="rect">
            <a:avLst/>
          </a:prstGeom>
        </p:spPr>
      </p:pic>
      <p:sp>
        <p:nvSpPr>
          <p:cNvPr id="80" name="Text 72"/>
          <p:cNvSpPr txBox="1"/>
          <p:nvPr/>
        </p:nvSpPr>
        <p:spPr>
          <a:xfrm>
            <a:off x="2394579" y="4343389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1" name="Shape 73"/>
          <p:cNvSpPr/>
          <p:nvPr/>
        </p:nvSpPr>
        <p:spPr>
          <a:xfrm>
            <a:off x="3188962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4"/>
          <p:cNvSpPr/>
          <p:nvPr/>
        </p:nvSpPr>
        <p:spPr>
          <a:xfrm>
            <a:off x="3265162" y="4419589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83" name="Text 75"/>
          <p:cNvSpPr txBox="1"/>
          <p:nvPr/>
        </p:nvSpPr>
        <p:spPr>
          <a:xfrm>
            <a:off x="3360412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84" name="Shape 76"/>
          <p:cNvSpPr/>
          <p:nvPr/>
        </p:nvSpPr>
        <p:spPr>
          <a:xfrm>
            <a:off x="685798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77"/>
          <p:cNvSpPr/>
          <p:nvPr/>
        </p:nvSpPr>
        <p:spPr>
          <a:xfrm>
            <a:off x="761998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86" name="Text 78"/>
          <p:cNvSpPr txBox="1"/>
          <p:nvPr/>
        </p:nvSpPr>
        <p:spPr>
          <a:xfrm>
            <a:off x="857248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87" name="Text 79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88" name="Text 80"/>
          <p:cNvSpPr txBox="1"/>
          <p:nvPr/>
        </p:nvSpPr>
        <p:spPr>
          <a:xfrm>
            <a:off x="533399" y="5391137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애드리포트 실제 캡처. 광고주명·금액·건수 마스킹 처리.</a:t>
            </a:r>
            <a:endParaRPr lang="en-US" sz="700" dirty="0"/>
          </a:p>
        </p:txBody>
      </p:sp>
      <p:sp>
        <p:nvSpPr>
          <p:cNvPr id="89" name="Shape 81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0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91" name="Shape 82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92" name="Text 83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93" name="Shape 84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4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95" name="Shape 85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96" name="Text 86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97" name="Shape 87"/>
          <p:cNvSpPr/>
          <p:nvPr/>
        </p:nvSpPr>
        <p:spPr>
          <a:xfrm>
            <a:off x="533399" y="5486386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98" name="Text 88"/>
          <p:cNvSpPr txBox="1"/>
          <p:nvPr/>
        </p:nvSpPr>
        <p:spPr>
          <a:xfrm>
            <a:off x="723898" y="558163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도입 3단계 — 진단 → 연동 세팅 → 운영</a:t>
            </a:r>
            <a:endParaRPr lang="en-US" sz="1200" dirty="0"/>
          </a:p>
        </p:txBody>
      </p:sp>
      <p:sp>
        <p:nvSpPr>
          <p:cNvPr id="99" name="Text 89"/>
          <p:cNvSpPr txBox="1"/>
          <p:nvPr/>
        </p:nvSpPr>
        <p:spPr>
          <a:xfrm>
            <a:off x="723898" y="579118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6F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성과 · 대행사 공수 · 1인 기업 인력 대체</a:t>
            </a:r>
            <a:endParaRPr lang="en-US" sz="900" dirty="0"/>
          </a:p>
        </p:txBody>
      </p:sp>
      <p:sp>
        <p:nvSpPr>
          <p:cNvPr id="100" name="Shape 90"/>
          <p:cNvSpPr/>
          <p:nvPr/>
        </p:nvSpPr>
        <p:spPr>
          <a:xfrm>
            <a:off x="8953478" y="5619736"/>
            <a:ext cx="25145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Text 91"/>
          <p:cNvSpPr txBox="1"/>
          <p:nvPr/>
        </p:nvSpPr>
        <p:spPr>
          <a:xfrm>
            <a:off x="8953478" y="5619736"/>
            <a:ext cx="25145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AIU본부 · mplanit.co.kr</a:t>
            </a:r>
            <a:endParaRPr lang="en-US" sz="900" dirty="0"/>
          </a:p>
        </p:txBody>
      </p:sp>
      <p:sp>
        <p:nvSpPr>
          <p:cNvPr id="102" name="Shape 9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3" name="Text 9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04" name="Text 9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2026-09-20T08:29:18Z</dcterms:created>
  <dcterms:modified xsi:type="dcterms:W3CDTF">2026-09-20T08:29:18Z</dcterms:modified>
</cp:coreProperties>
</file>