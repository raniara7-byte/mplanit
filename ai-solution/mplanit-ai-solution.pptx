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솔루션 이미지맵 — 단독 1장 배포용. 커머스허브/MI 화면은 확보 후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43144"/>
            <a:ext cx="11048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 Platform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— AI 그로스 통합 플랫폼(소재 제작 · 실시간 통합 리포트)  +  </a:t>
            </a:r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— GEO Metric Care(SEO + GEO 통합 분석) · 솔루션 6종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38884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10333" y="2724143"/>
            <a:ext cx="963928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10333" y="2724143"/>
            <a:ext cx="963928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339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769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69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95249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7698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47698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시안 생성 · 매체 규격 변형 · 레이어 편집 · 영상 전환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47698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47698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400294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1459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1459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819393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51459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650" dirty="0"/>
          </a:p>
        </p:txBody>
      </p:sp>
      <p:sp>
        <p:nvSpPr>
          <p:cNvPr id="36" name="Text 33"/>
          <p:cNvSpPr txBox="1"/>
          <p:nvPr/>
        </p:nvSpPr>
        <p:spPr>
          <a:xfrm>
            <a:off x="251459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노드 · 컷별 프롬프트 · 모델 선택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251459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251459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426718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381489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381489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468628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381489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4381489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점수화 · 개선 가이드 · 정기 재측정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381489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4381489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13408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4838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4838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55318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4838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650" dirty="0"/>
          </a:p>
        </p:txBody>
      </p:sp>
      <p:sp>
        <p:nvSpPr>
          <p:cNvPr id="52" name="Text 49"/>
          <p:cNvSpPr txBox="1"/>
          <p:nvPr/>
        </p:nvSpPr>
        <p:spPr>
          <a:xfrm>
            <a:off x="624838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통합 관리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24838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624838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8000980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15280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115280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20079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115280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650" dirty="0"/>
          </a:p>
        </p:txBody>
      </p:sp>
      <p:sp>
        <p:nvSpPr>
          <p:cNvPr id="60" name="Text 57"/>
          <p:cNvSpPr txBox="1"/>
          <p:nvPr/>
        </p:nvSpPr>
        <p:spPr>
          <a:xfrm>
            <a:off x="8115280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현황 · 전환 · ROAS · 알림 · 리포트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8115280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62" name="Text 59"/>
          <p:cNvSpPr txBox="1"/>
          <p:nvPr/>
        </p:nvSpPr>
        <p:spPr>
          <a:xfrm>
            <a:off x="8115280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986787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8217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98217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1028697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982175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MARKETING INTELLIGENCE</a:t>
            </a:r>
            <a:endParaRPr lang="en-US" sz="650" dirty="0"/>
          </a:p>
        </p:txBody>
      </p:sp>
      <p:sp>
        <p:nvSpPr>
          <p:cNvPr id="68" name="Text 65"/>
          <p:cNvSpPr txBox="1"/>
          <p:nvPr/>
        </p:nvSpPr>
        <p:spPr>
          <a:xfrm>
            <a:off x="9982175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검색광고 자동입찰 · 다계정 대량 통합 리포트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982175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9982175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자동화 · 공수 대체</a:t>
            </a:r>
            <a:endParaRPr lang="en-US" sz="700" dirty="0"/>
          </a:p>
        </p:txBody>
      </p:sp>
      <p:sp>
        <p:nvSpPr>
          <p:cNvPr id="71" name="Shape 68"/>
          <p:cNvSpPr/>
          <p:nvPr/>
        </p:nvSpPr>
        <p:spPr>
          <a:xfrm>
            <a:off x="53339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647698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647698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 — 검색 시작점 이동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426718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4381489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4381489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8000980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8115280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115280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29%) — 인용 없으면 유입 없음</a:t>
            </a:r>
            <a:endParaRPr lang="en-US" sz="800" dirty="0"/>
          </a:p>
        </p:txBody>
      </p:sp>
      <p:sp>
        <p:nvSpPr>
          <p:cNvPr id="80" name="Text 77"/>
          <p:cNvSpPr txBox="1"/>
          <p:nvPr/>
        </p:nvSpPr>
        <p:spPr>
          <a:xfrm>
            <a:off x="533399" y="5676886"/>
            <a:ext cx="85153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1423031" y="5676886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2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06" y="5729273"/>
            <a:ext cx="104775" cy="104775"/>
          </a:xfrm>
          <a:prstGeom prst="rect">
            <a:avLst/>
          </a:prstGeom>
        </p:spPr>
      </p:pic>
      <p:sp>
        <p:nvSpPr>
          <p:cNvPr id="83" name="Text 79"/>
          <p:cNvSpPr txBox="1"/>
          <p:nvPr/>
        </p:nvSpPr>
        <p:spPr>
          <a:xfrm>
            <a:off x="1623056" y="5676886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84" name="Shape 80"/>
          <p:cNvSpPr/>
          <p:nvPr/>
        </p:nvSpPr>
        <p:spPr>
          <a:xfrm>
            <a:off x="2200269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2276469" y="5753086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2371719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2703188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779388" y="5753086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2874638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90" name="Shape 86"/>
          <p:cNvSpPr/>
          <p:nvPr/>
        </p:nvSpPr>
        <p:spPr>
          <a:xfrm>
            <a:off x="3278497" y="5676886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3354697" y="575308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3449946" y="5676886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93" name="Shape 89"/>
          <p:cNvSpPr/>
          <p:nvPr/>
        </p:nvSpPr>
        <p:spPr>
          <a:xfrm>
            <a:off x="3998585" y="5676886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4074785" y="575308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4170035" y="5676886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96" name="Shape 92"/>
          <p:cNvSpPr/>
          <p:nvPr/>
        </p:nvSpPr>
        <p:spPr>
          <a:xfrm>
            <a:off x="4646283" y="5676886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7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958" y="5729273"/>
            <a:ext cx="104775" cy="104775"/>
          </a:xfrm>
          <a:prstGeom prst="rect">
            <a:avLst/>
          </a:prstGeom>
        </p:spPr>
      </p:pic>
      <p:sp>
        <p:nvSpPr>
          <p:cNvPr id="98" name="Text 93"/>
          <p:cNvSpPr txBox="1"/>
          <p:nvPr/>
        </p:nvSpPr>
        <p:spPr>
          <a:xfrm>
            <a:off x="4846308" y="5676886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99" name="Shape 94"/>
          <p:cNvSpPr/>
          <p:nvPr/>
        </p:nvSpPr>
        <p:spPr>
          <a:xfrm>
            <a:off x="5713081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0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756" y="5729273"/>
            <a:ext cx="104775" cy="104775"/>
          </a:xfrm>
          <a:prstGeom prst="rect">
            <a:avLst/>
          </a:prstGeom>
        </p:spPr>
      </p:pic>
      <p:sp>
        <p:nvSpPr>
          <p:cNvPr id="101" name="Text 95"/>
          <p:cNvSpPr txBox="1"/>
          <p:nvPr/>
        </p:nvSpPr>
        <p:spPr>
          <a:xfrm>
            <a:off x="5913105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102" name="Shape 96"/>
          <p:cNvSpPr/>
          <p:nvPr/>
        </p:nvSpPr>
        <p:spPr>
          <a:xfrm>
            <a:off x="6200759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3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34" y="5729273"/>
            <a:ext cx="104775" cy="104775"/>
          </a:xfrm>
          <a:prstGeom prst="rect">
            <a:avLst/>
          </a:prstGeom>
        </p:spPr>
      </p:pic>
      <p:sp>
        <p:nvSpPr>
          <p:cNvPr id="104" name="Text 97"/>
          <p:cNvSpPr txBox="1"/>
          <p:nvPr/>
        </p:nvSpPr>
        <p:spPr>
          <a:xfrm>
            <a:off x="6400784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105" name="Shape 98"/>
          <p:cNvSpPr/>
          <p:nvPr/>
        </p:nvSpPr>
        <p:spPr>
          <a:xfrm>
            <a:off x="6688438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Shape 99"/>
          <p:cNvSpPr/>
          <p:nvPr/>
        </p:nvSpPr>
        <p:spPr>
          <a:xfrm>
            <a:off x="6764638" y="5753086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107" name="Text 100"/>
          <p:cNvSpPr txBox="1"/>
          <p:nvPr/>
        </p:nvSpPr>
        <p:spPr>
          <a:xfrm>
            <a:off x="6859888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7263747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Shape 102"/>
          <p:cNvSpPr/>
          <p:nvPr/>
        </p:nvSpPr>
        <p:spPr>
          <a:xfrm>
            <a:off x="7339947" y="5753086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10" name="Text 103"/>
          <p:cNvSpPr txBox="1"/>
          <p:nvPr/>
        </p:nvSpPr>
        <p:spPr>
          <a:xfrm>
            <a:off x="7435196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111" name="Shape 104"/>
          <p:cNvSpPr/>
          <p:nvPr/>
        </p:nvSpPr>
        <p:spPr>
          <a:xfrm>
            <a:off x="7766666" y="5676886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12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3340" y="5729273"/>
            <a:ext cx="104775" cy="104775"/>
          </a:xfrm>
          <a:prstGeom prst="rect">
            <a:avLst/>
          </a:prstGeom>
        </p:spPr>
      </p:pic>
      <p:sp>
        <p:nvSpPr>
          <p:cNvPr id="113" name="Text 105"/>
          <p:cNvSpPr txBox="1"/>
          <p:nvPr/>
        </p:nvSpPr>
        <p:spPr>
          <a:xfrm>
            <a:off x="7966690" y="5676886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114" name="Shape 106"/>
          <p:cNvSpPr/>
          <p:nvPr/>
        </p:nvSpPr>
        <p:spPr>
          <a:xfrm>
            <a:off x="8761073" y="5676886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Shape 107"/>
          <p:cNvSpPr/>
          <p:nvPr/>
        </p:nvSpPr>
        <p:spPr>
          <a:xfrm>
            <a:off x="8837273" y="5753086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16" name="Text 108"/>
          <p:cNvSpPr txBox="1"/>
          <p:nvPr/>
        </p:nvSpPr>
        <p:spPr>
          <a:xfrm>
            <a:off x="8932523" y="5676886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117" name="Shape 109"/>
          <p:cNvSpPr/>
          <p:nvPr/>
        </p:nvSpPr>
        <p:spPr>
          <a:xfrm>
            <a:off x="9191602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8" name="Shape 110"/>
          <p:cNvSpPr/>
          <p:nvPr/>
        </p:nvSpPr>
        <p:spPr>
          <a:xfrm>
            <a:off x="9267802" y="5753086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19" name="Text 111"/>
          <p:cNvSpPr txBox="1"/>
          <p:nvPr/>
        </p:nvSpPr>
        <p:spPr>
          <a:xfrm>
            <a:off x="9363052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20" name="Shape 112"/>
          <p:cNvSpPr/>
          <p:nvPr/>
        </p:nvSpPr>
        <p:spPr>
          <a:xfrm>
            <a:off x="9694521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1" name="Shape 113"/>
          <p:cNvSpPr/>
          <p:nvPr/>
        </p:nvSpPr>
        <p:spPr>
          <a:xfrm>
            <a:off x="9770721" y="575308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22" name="Text 114"/>
          <p:cNvSpPr txBox="1"/>
          <p:nvPr/>
        </p:nvSpPr>
        <p:spPr>
          <a:xfrm>
            <a:off x="9865970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23" name="Text 115"/>
          <p:cNvSpPr txBox="1"/>
          <p:nvPr/>
        </p:nvSpPr>
        <p:spPr>
          <a:xfrm>
            <a:off x="10269829" y="5676886"/>
            <a:ext cx="56959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24" name="Shape 116"/>
          <p:cNvSpPr/>
          <p:nvPr/>
        </p:nvSpPr>
        <p:spPr>
          <a:xfrm>
            <a:off x="10877523" y="5676886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25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4198" y="5729273"/>
            <a:ext cx="104775" cy="104775"/>
          </a:xfrm>
          <a:prstGeom prst="rect">
            <a:avLst/>
          </a:prstGeom>
        </p:spPr>
      </p:pic>
      <p:sp>
        <p:nvSpPr>
          <p:cNvPr id="126" name="Text 117"/>
          <p:cNvSpPr txBox="1"/>
          <p:nvPr/>
        </p:nvSpPr>
        <p:spPr>
          <a:xfrm>
            <a:off x="11077547" y="5676886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27" name="Shape 118"/>
          <p:cNvSpPr/>
          <p:nvPr/>
        </p:nvSpPr>
        <p:spPr>
          <a:xfrm>
            <a:off x="533399" y="5943585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8" name="Shape 119"/>
          <p:cNvSpPr/>
          <p:nvPr/>
        </p:nvSpPr>
        <p:spPr>
          <a:xfrm>
            <a:off x="609598" y="6019785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29" name="Text 120"/>
          <p:cNvSpPr txBox="1"/>
          <p:nvPr/>
        </p:nvSpPr>
        <p:spPr>
          <a:xfrm>
            <a:off x="704848" y="5943585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30" name="Shape 121"/>
          <p:cNvSpPr/>
          <p:nvPr/>
        </p:nvSpPr>
        <p:spPr>
          <a:xfrm>
            <a:off x="963928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1" name="Shape 122"/>
          <p:cNvSpPr/>
          <p:nvPr/>
        </p:nvSpPr>
        <p:spPr>
          <a:xfrm>
            <a:off x="1040127" y="6019785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32" name="Text 123"/>
          <p:cNvSpPr txBox="1"/>
          <p:nvPr/>
        </p:nvSpPr>
        <p:spPr>
          <a:xfrm>
            <a:off x="1135377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33" name="Shape 124"/>
          <p:cNvSpPr/>
          <p:nvPr/>
        </p:nvSpPr>
        <p:spPr>
          <a:xfrm>
            <a:off x="1539236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4" name="Shape 125"/>
          <p:cNvSpPr/>
          <p:nvPr/>
        </p:nvSpPr>
        <p:spPr>
          <a:xfrm>
            <a:off x="1615436" y="6019785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35" name="Text 126"/>
          <p:cNvSpPr txBox="1"/>
          <p:nvPr/>
        </p:nvSpPr>
        <p:spPr>
          <a:xfrm>
            <a:off x="1710686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36" name="Shape 127"/>
          <p:cNvSpPr/>
          <p:nvPr/>
        </p:nvSpPr>
        <p:spPr>
          <a:xfrm>
            <a:off x="2114545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7" name="Shape 128"/>
          <p:cNvSpPr/>
          <p:nvPr/>
        </p:nvSpPr>
        <p:spPr>
          <a:xfrm>
            <a:off x="2190745" y="6019785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38" name="Text 129"/>
          <p:cNvSpPr txBox="1"/>
          <p:nvPr/>
        </p:nvSpPr>
        <p:spPr>
          <a:xfrm>
            <a:off x="2285994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39" name="Shape 130"/>
          <p:cNvSpPr/>
          <p:nvPr/>
        </p:nvSpPr>
        <p:spPr>
          <a:xfrm>
            <a:off x="2689853" y="5943585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40" name="Shape 131"/>
          <p:cNvSpPr/>
          <p:nvPr/>
        </p:nvSpPr>
        <p:spPr>
          <a:xfrm>
            <a:off x="2766053" y="6019785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41" name="Text 132"/>
          <p:cNvSpPr txBox="1"/>
          <p:nvPr/>
        </p:nvSpPr>
        <p:spPr>
          <a:xfrm>
            <a:off x="2861303" y="5943585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42" name="Shape 133"/>
          <p:cNvSpPr/>
          <p:nvPr/>
        </p:nvSpPr>
        <p:spPr>
          <a:xfrm>
            <a:off x="3409941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43" name="Shape 134"/>
          <p:cNvSpPr/>
          <p:nvPr/>
        </p:nvSpPr>
        <p:spPr>
          <a:xfrm>
            <a:off x="3486141" y="6019785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44" name="Text 135"/>
          <p:cNvSpPr txBox="1"/>
          <p:nvPr/>
        </p:nvSpPr>
        <p:spPr>
          <a:xfrm>
            <a:off x="3581391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</a:t>
            </a:r>
            <a:endParaRPr lang="en-US" sz="750" dirty="0"/>
          </a:p>
        </p:txBody>
      </p:sp>
      <p:sp>
        <p:nvSpPr>
          <p:cNvPr id="145" name="Text 136"/>
          <p:cNvSpPr txBox="1"/>
          <p:nvPr/>
        </p:nvSpPr>
        <p:spPr>
          <a:xfrm>
            <a:off x="533399" y="6210284"/>
            <a:ext cx="11125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OpenAI(2026.07), Similarweb AI Search Stats 2026, 국내 광고업계 AI 제작 비중 전망 보도(2025.10) · 매체/채널 표기는 연동 현황 안내용</a:t>
            </a:r>
            <a:endParaRPr lang="en-US" sz="650" dirty="0"/>
          </a:p>
        </p:txBody>
      </p:sp>
      <p:sp>
        <p:nvSpPr>
          <p:cNvPr id="146" name="Shape 137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47" name="Text 138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M Ai Platform · AI LAB · mplanit.co.kr</a:t>
            </a:r>
            <a:endParaRPr lang="en-US" sz="800" dirty="0"/>
          </a:p>
        </p:txBody>
      </p:sp>
      <p:sp>
        <p:nvSpPr>
          <p:cNvPr id="148" name="Text 139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ARCHITECTURE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 솔루션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 Ai Platform 제작·성과·운영 · AI LAB AI 검색 최적화 · 커머스허브 판매 — 6종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3399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33399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3399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8648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895470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15" name="Text 13"/>
          <p:cNvSpPr txBox="1"/>
          <p:nvPr/>
        </p:nvSpPr>
        <p:spPr>
          <a:xfrm>
            <a:off x="628648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28648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628648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28648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28648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28648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28648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2400294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400294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00294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495544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762366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2495544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495544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2495544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5544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495544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495544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2495544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4267189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67189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67189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362439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29261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4362439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362439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4362439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362439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4362439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62439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4362439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6134085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134085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34085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29334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7496156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Hub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6229334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229334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229334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229334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6229334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229334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6229334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8000980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8000980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00980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096230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9363052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8096230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8096230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5" name="Text 63"/>
          <p:cNvSpPr txBox="1"/>
          <p:nvPr/>
        </p:nvSpPr>
        <p:spPr>
          <a:xfrm>
            <a:off x="8096230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096230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8096230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096230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9" name="Text 67"/>
          <p:cNvSpPr txBox="1"/>
          <p:nvPr/>
        </p:nvSpPr>
        <p:spPr>
          <a:xfrm>
            <a:off x="8096230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9867875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 운영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867875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67875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9963125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11229947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준비</a:t>
            </a:r>
            <a:endParaRPr lang="en-US" sz="650" dirty="0"/>
          </a:p>
        </p:txBody>
      </p:sp>
      <p:sp>
        <p:nvSpPr>
          <p:cNvPr id="75" name="Text 73"/>
          <p:cNvSpPr txBox="1"/>
          <p:nvPr/>
        </p:nvSpPr>
        <p:spPr>
          <a:xfrm>
            <a:off x="9963125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963125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9963125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목표 · 시간대 규칙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9963125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9" name="Text 77"/>
          <p:cNvSpPr txBox="1"/>
          <p:nvPr/>
        </p:nvSpPr>
        <p:spPr>
          <a:xfrm>
            <a:off x="9963125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통합 리포트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9963125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1" name="Text 79"/>
          <p:cNvSpPr txBox="1"/>
          <p:nvPr/>
        </p:nvSpPr>
        <p:spPr>
          <a:xfrm>
            <a:off x="9963125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자동 발송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101" name="Text 99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광고주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캠페인 소재 대량 생성 · 매체별 성과 통합 리포트 · AI 검색 브랜드 노출 관리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중소 광고주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소재 제작비 절감 · 채널별 ROAS 비교 · 성과 이상 즉시 알림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디자이너 없이 배너·영상 자체 제작 · 마켓 주문/정산 단일 화면 관리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3399" y="51434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399" y="51434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666748" y="52101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14" name="Text 112"/>
          <p:cNvSpPr txBox="1"/>
          <p:nvPr/>
        </p:nvSpPr>
        <p:spPr>
          <a:xfrm>
            <a:off x="666748" y="53911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 · 카카오쇼핑 API 연동 신청 자료(2026.09)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Architecture · 통합 구조 요약</a:t>
            </a:r>
            <a:endParaRPr lang="en-US" sz="800" dirty="0"/>
          </a:p>
        </p:txBody>
      </p:sp>
      <p:sp>
        <p:nvSpPr>
          <p:cNvPr id="117" name="Text 115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MAP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솔루션 이미지맵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화면으로 보는 6종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제작 → 노출 → 판매 → 성과 → 운영 · M Ai Platform / AI LAB / 커머스허브 구성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장 요약 · 배포용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1" name="Image 0" descr="/home/user/mplanit/ai-solution/assets/png/bannerfit-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399" y="1409696"/>
            <a:ext cx="3600441" cy="140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339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6748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6748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085847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6748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매체 규격 변형 · 레이어 편집 · 영상 전환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666748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3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9" name="Image 1" descr="/home/user/mplanit/ai-solution/assets/png/reels-ide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6239" y="1409696"/>
            <a:ext cx="3600441" cy="140969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28623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19589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19589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4838688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19589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5단계 · 컷 승인형 렌더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419589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8039080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27" name="Image 2" descr="/home/user/mplanit/ai-solution/assets/png/geo-resul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39080" y="1409696"/>
            <a:ext cx="3600441" cy="140969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039080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172430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172430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8591529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172430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· 개선 가이드 · 정기 재측정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8172430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53339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화면 — 준비 중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3339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6748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6748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</a:t>
            </a:r>
            <a:endParaRPr lang="en-US" sz="700" dirty="0"/>
          </a:p>
        </p:txBody>
      </p:sp>
      <p:sp>
        <p:nvSpPr>
          <p:cNvPr id="40" name="Text 35"/>
          <p:cNvSpPr txBox="1"/>
          <p:nvPr/>
        </p:nvSpPr>
        <p:spPr>
          <a:xfrm>
            <a:off x="1085847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66748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· 광고비 통합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666748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· 매출 · 재고 · 배송 · 광고비 · 설정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428623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44" name="Image 3" descr="/home/user/mplanit/ai-solution/assets/png/adreport-dash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86239" y="3943340"/>
            <a:ext cx="3600441" cy="140969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428623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419589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419589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4838688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00" dirty="0"/>
          </a:p>
        </p:txBody>
      </p:sp>
      <p:sp>
        <p:nvSpPr>
          <p:cNvPr id="49" name="Text 43"/>
          <p:cNvSpPr txBox="1"/>
          <p:nvPr/>
        </p:nvSpPr>
        <p:spPr>
          <a:xfrm>
            <a:off x="4419589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· 목표 진척 · ROAS · 이상 알림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4419589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대시보드 · 목표/실시간 현황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8039080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화면 — 준비 중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8039080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8172430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72430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8591529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8172430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검색광고 자동입찰 · 다계정 대량 통합 리포트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8172430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자동화 · 공수 대체</a:t>
            </a:r>
            <a:endParaRPr lang="en-US" sz="700" dirty="0"/>
          </a:p>
        </p:txBody>
      </p:sp>
      <p:sp>
        <p:nvSpPr>
          <p:cNvPr id="60" name="Shape 5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Map · 화면 기준 요약</a:t>
            </a:r>
            <a:endParaRPr lang="en-US" sz="800" dirty="0"/>
          </a:p>
        </p:txBody>
      </p:sp>
      <p:sp>
        <p:nvSpPr>
          <p:cNvPr id="62" name="Text 5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업로드 · 스타일 · 텍스트&amp;폰트 · 출력 옵션 · 생성 모델. 로고 노출 위치 9분할 지정.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— 양식 입력형 / 에디터 — 대화 지시형. 한 줄 요청으로도 시안 생성.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1:1 · 4:3 · 16:9 · 9:16 기본 비율 + 매체 규격 23종 이상. 레이어 분리 후 브라우저 수정.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Gemini(나노 바나나) · ChatGPT 2.0. 완성 시안은 영상 생성 탭으로 연결.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업로드와 요청 한 줄 → 배경 · 카피 · 레이아웃 시안 동시 산출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상황 한 문장 입력 → AI가 질문 자동 완성 → 초안 스토리보드 제시.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· 의도 · 표현 · 스토리보드 · 완료. 길이 2컷 / 4컷 / 7컷 선택.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종류(실사 · 3D · 현실+3D · 웹툰) · 화면 스타일 · 분위기 · 주인공/조연.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 · 재생성 후 VEO 3.1(1080p) 또는 Gemini Omni(720p)로 출력.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 · AI LAB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· 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기반 SEO + GEO 통합 분석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전통적인 SEO 점검과 AI 검색 최적화 분석을 한 번에 — 메타 태그 최적화 상태까지 점검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산출. 자사 사이트 기준 84 / 95 / 72.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80점 이상 인용 가능 · 70점대 기본 충족 · 60점 이하 구조 개선 필요.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브리핑(Yeti · 서치어드바이저).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신뢰도(E-E-A-T 70점 이상) · 통계 포함 · 스키마 · 엔티티 연결성.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고객은 AI에게 묻고 있는데, 우리 브랜드는 AI 답변에 등장하고 있나요?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AEO·GEO 개선 가이드(2026.09)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GEO Metric Care Solution</a:t>
            </a:r>
            <a:endParaRPr lang="en-US" sz="800" dirty="0"/>
          </a:p>
        </p:txBody>
      </p:sp>
      <p:sp>
        <p:nvSpPr>
          <p:cNvPr id="49" name="Text 45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AI 자동 소재 제작 · 실시간 통합 리포트 분석 — AD REPORT · AD MONITOR · COMMERCE HUB · SETTINGS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798" y="2266944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85823" y="2266944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463036" y="2266944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53923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34486" y="2266944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1893565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976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65015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468874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45074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40323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044182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12038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15632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85798" y="2533644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99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7248" y="2533644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05886" y="25336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48208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77336" y="25336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85798" y="4076690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85823" y="4076690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463036" y="4076690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539236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634486" y="4076690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60" name="Shape 56"/>
          <p:cNvSpPr/>
          <p:nvPr/>
        </p:nvSpPr>
        <p:spPr>
          <a:xfrm>
            <a:off x="1965955" y="4076690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2042155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37405" y="4076690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63" name="Shape 59"/>
          <p:cNvSpPr/>
          <p:nvPr/>
        </p:nvSpPr>
        <p:spPr>
          <a:xfrm>
            <a:off x="2541264" y="4076690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2617463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712713" y="4076690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66" name="Shape 62"/>
          <p:cNvSpPr/>
          <p:nvPr/>
        </p:nvSpPr>
        <p:spPr>
          <a:xfrm>
            <a:off x="3261352" y="4076690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337552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3432801" y="4076690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69" name="Shape 65"/>
          <p:cNvSpPr/>
          <p:nvPr/>
        </p:nvSpPr>
        <p:spPr>
          <a:xfrm>
            <a:off x="685798" y="4343389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0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73" y="4395777"/>
            <a:ext cx="104775" cy="104775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885823" y="4343389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1752596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0" y="4395777"/>
            <a:ext cx="104775" cy="104775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1952620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2240274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6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6949" y="4395777"/>
            <a:ext cx="104775" cy="104775"/>
          </a:xfrm>
          <a:prstGeom prst="rect">
            <a:avLst/>
          </a:prstGeom>
        </p:spPr>
      </p:pic>
      <p:sp>
        <p:nvSpPr>
          <p:cNvPr id="77" name="Text 70"/>
          <p:cNvSpPr txBox="1"/>
          <p:nvPr/>
        </p:nvSpPr>
        <p:spPr>
          <a:xfrm>
            <a:off x="2440299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2727953" y="4343389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2804153" y="4419589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2899403" y="4343389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81" name="Shape 74"/>
          <p:cNvSpPr/>
          <p:nvPr/>
        </p:nvSpPr>
        <p:spPr>
          <a:xfrm>
            <a:off x="3303262" y="4343389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3379462" y="4419589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3474711" y="4343389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84" name="Shape 77"/>
          <p:cNvSpPr/>
          <p:nvPr/>
        </p:nvSpPr>
        <p:spPr>
          <a:xfrm>
            <a:off x="685798" y="4610088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3" y="4662476"/>
            <a:ext cx="104775" cy="104775"/>
          </a:xfrm>
          <a:prstGeom prst="rect">
            <a:avLst/>
          </a:prstGeom>
        </p:spPr>
      </p:pic>
      <p:sp>
        <p:nvSpPr>
          <p:cNvPr id="86" name="Text 78"/>
          <p:cNvSpPr txBox="1"/>
          <p:nvPr/>
        </p:nvSpPr>
        <p:spPr>
          <a:xfrm>
            <a:off x="885823" y="4610088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7" name="Shape 79"/>
          <p:cNvSpPr/>
          <p:nvPr/>
        </p:nvSpPr>
        <p:spPr>
          <a:xfrm>
            <a:off x="1680206" y="4610088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0"/>
          <p:cNvSpPr/>
          <p:nvPr/>
        </p:nvSpPr>
        <p:spPr>
          <a:xfrm>
            <a:off x="1756406" y="4686288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1851655" y="4610088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90" name="Shape 82"/>
          <p:cNvSpPr/>
          <p:nvPr/>
        </p:nvSpPr>
        <p:spPr>
          <a:xfrm>
            <a:off x="2110735" y="4610088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3"/>
          <p:cNvSpPr/>
          <p:nvPr/>
        </p:nvSpPr>
        <p:spPr>
          <a:xfrm>
            <a:off x="2186935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2282184" y="4610088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93" name="Shape 85"/>
          <p:cNvSpPr/>
          <p:nvPr/>
        </p:nvSpPr>
        <p:spPr>
          <a:xfrm>
            <a:off x="2613653" y="4610088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2689853" y="4686288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2785103" y="4610088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96" name="Text 88"/>
          <p:cNvSpPr txBox="1"/>
          <p:nvPr/>
        </p:nvSpPr>
        <p:spPr>
          <a:xfrm>
            <a:off x="685798" y="4895838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533399" y="5391137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애드리포트 실제 캡처. 광고주명·금액·건수 마스킹 처리.</a:t>
            </a:r>
            <a:endParaRPr lang="en-US" sz="700" dirty="0"/>
          </a:p>
        </p:txBody>
      </p:sp>
      <p:sp>
        <p:nvSpPr>
          <p:cNvPr id="98" name="Shape 90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9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100" name="Shape 91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102" name="Shape 93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103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104" name="Shape 94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106" name="Shape 96"/>
          <p:cNvSpPr/>
          <p:nvPr/>
        </p:nvSpPr>
        <p:spPr>
          <a:xfrm>
            <a:off x="533399" y="5486386"/>
            <a:ext cx="11125172" cy="590549"/>
          </a:xfrm>
          <a:prstGeom prst="roundRect">
            <a:avLst>
              <a:gd name="adj" fmla="val 7742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723898" y="558163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도입 3단계 — 진단 → 연동 세팅 → 운영</a:t>
            </a:r>
            <a:endParaRPr lang="en-US" sz="1200" dirty="0"/>
          </a:p>
        </p:txBody>
      </p:sp>
      <p:sp>
        <p:nvSpPr>
          <p:cNvPr id="108" name="Text 98"/>
          <p:cNvSpPr txBox="1"/>
          <p:nvPr/>
        </p:nvSpPr>
        <p:spPr>
          <a:xfrm>
            <a:off x="723898" y="579118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6F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성과 · 대행사 공수 · 1인 기업 인력 대체</a:t>
            </a:r>
            <a:endParaRPr lang="en-US" sz="900" dirty="0"/>
          </a:p>
        </p:txBody>
      </p:sp>
      <p:sp>
        <p:nvSpPr>
          <p:cNvPr id="109" name="Shape 99"/>
          <p:cNvSpPr/>
          <p:nvPr/>
        </p:nvSpPr>
        <p:spPr>
          <a:xfrm>
            <a:off x="8953478" y="5619736"/>
            <a:ext cx="25145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0"/>
          <p:cNvSpPr txBox="1"/>
          <p:nvPr/>
        </p:nvSpPr>
        <p:spPr>
          <a:xfrm>
            <a:off x="8953478" y="5619736"/>
            <a:ext cx="25145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AIU본부 · mplanit.co.kr</a:t>
            </a:r>
            <a:endParaRPr lang="en-US" sz="900" dirty="0"/>
          </a:p>
        </p:txBody>
      </p:sp>
      <p:sp>
        <p:nvSpPr>
          <p:cNvPr id="111" name="Shape 101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02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13" name="Text 103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07 / 08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 OPERATION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자동입찰 · 대량 통합 리포트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외부 입찰관리 툴(애드몬스터 유형) 기능의 사내 내재화 · 애드리포트 데이터와 동일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Marketing Intelligence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검색광고 자동입찰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목표 기반 입찰 조정 · 시간대/요일 규칙 · 예산 소진 제어.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· 다광고주 실적 일괄 수집 · 키워드 단위 대량 추출 · 정기 자동 발송.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공수 대체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수기 입찰 조정 · 리포트 취합 제거. 외부 입찰관리 툴 구독 대체.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사내 데이터 연동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 성과 · 커머스허브 매출과 같은 기준으로 결합.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4767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4767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543414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입찰은 자동으로, 리포트는 일괄로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7243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운영자는 전략 판단에만 개입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33399" y="4991088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기능 범위·오픈 일정은 내부 확정 후 갱신 — 현재 장표는 개발 방향 기준.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438639" y="1447796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1039" y="1562096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— 목표 기반 반복 조정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9103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103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목표 설정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9103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· 예산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219809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315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315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현황 수집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35315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· 노출 · 비용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981930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528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1528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 조정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11528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규칙 기반 자동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9744051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7740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87740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7740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변경 이력 · 성과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639" y="2628893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91039" y="2743193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 — 계정 수와 무관한 산출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91039" y="3009892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91039" y="31051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다계정 수집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591039" y="32575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N · 매체별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807183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940533" y="3009892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940533" y="31051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집계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940533" y="32575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· 캠페인 단위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9156677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290027" y="3009892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290027" y="31051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 발송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9290027" y="32575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리포트 · 파일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4438639" y="3809990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91039" y="3924290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연결 구조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91039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591039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4591039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입찰 · 대량 리포트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6807183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6940533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940533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6940533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성과 · ROAS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9156677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9290027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290027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9290027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 매출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533399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85798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구독 비용 대체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85798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외부 입찰관리 툴 이용료 없이 사내 계정으로 운영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286239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438639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단절 없음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4438639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입찰·리포트·매출이 애드리포트/커머스허브와 같은 기준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039080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191480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광고주 단위 권한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8191480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사업자·브랜드·담당자 권한 체계 그대로 적용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 · Marketing Intelligence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08 / 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2026-09-20T08:47:59Z</dcterms:created>
  <dcterms:modified xsi:type="dcterms:W3CDTF">2026-09-20T08:47:59Z</dcterms:modified>
</cp:coreProperties>
</file>