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 — 솔루션 5종과 시장 근거 3가지. 제작·노출·판매·성과 흐름으로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LAB 통합 요약 — 단독 1장으로도 사용 가능. 5개 솔루션의 역할, 데이터 연결, 대상별 활용.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pic>
        <p:nvPicPr>
          <p:cNvPr id="4" name="Image 0" descr="/home/user/mplanit/ai-solution/assets/png/logo-mplan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99" y="419099"/>
            <a:ext cx="1095372" cy="36303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29677" y="438149"/>
            <a:ext cx="2628893" cy="266699"/>
          </a:xfrm>
          <a:prstGeom prst="roundRect">
            <a:avLst>
              <a:gd name="adj" fmla="val 41143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29677" y="438149"/>
            <a:ext cx="262889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 솔루션 소개서 · 2026.09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33399" y="1219197"/>
            <a:ext cx="8572479" cy="1047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· 노출 · 판매 · 성과
</a:t>
            </a:r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광고 실무 전 과정의 AI 전환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33399" y="2343144"/>
            <a:ext cx="85724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AI LAB 운영 솔루션 5종 — 대행사 실무 기준 설계, 1인 기업까지 사용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33399" y="2724143"/>
            <a:ext cx="2085970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3399" y="2724143"/>
            <a:ext cx="208597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Reels Studio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2619368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90818" y="2724143"/>
            <a:ext cx="1495421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0818" y="2724143"/>
            <a:ext cx="1495421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GEO Metric Care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286239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57689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57689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커머스허브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362562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34011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34011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33399" y="3181342"/>
            <a:ext cx="2171695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6748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6748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971548" y="3333742"/>
            <a:ext cx="161924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66748" y="3619491"/>
            <a:ext cx="19049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666748" y="3809990"/>
            <a:ext cx="1904995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시안 생성 · 매체 규격 변형 · 레이어 편집 · 영상 전환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66748" y="4552939"/>
            <a:ext cx="1904995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666748" y="4610088"/>
            <a:ext cx="19049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라이트 · 에디터 2모드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2819393" y="3181342"/>
            <a:ext cx="2171695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952743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52743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3257542" y="3333742"/>
            <a:ext cx="161924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2952743" y="3619491"/>
            <a:ext cx="19049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2952743" y="3809990"/>
            <a:ext cx="1904995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· 기획 노드 · 컷별 프롬프트 · 모델 선택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2952743" y="4552939"/>
            <a:ext cx="1904995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5" name="Text 32"/>
          <p:cNvSpPr txBox="1"/>
          <p:nvPr/>
        </p:nvSpPr>
        <p:spPr>
          <a:xfrm>
            <a:off x="2952743" y="4610088"/>
            <a:ext cx="19049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105387" y="3181342"/>
            <a:ext cx="2171695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238737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238737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5543536" y="3333742"/>
            <a:ext cx="161924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5238737" y="3619491"/>
            <a:ext cx="19049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METRIC CARE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5238737" y="3809990"/>
            <a:ext cx="1904995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노출 진단 · 점수화 · 개선 가이드 · 정기 재측정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5238737" y="4552939"/>
            <a:ext cx="1904995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5238737" y="4610088"/>
            <a:ext cx="19049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종합 · SEO · GEO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7391382" y="3181342"/>
            <a:ext cx="2171695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24731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524731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7829530" y="3333742"/>
            <a:ext cx="161924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7524731" y="3619491"/>
            <a:ext cx="19049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7524731" y="3809990"/>
            <a:ext cx="1904995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배송 · 정산 · 재고 통합 관리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7524731" y="4552939"/>
            <a:ext cx="1904995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51" name="Text 48"/>
          <p:cNvSpPr txBox="1"/>
          <p:nvPr/>
        </p:nvSpPr>
        <p:spPr>
          <a:xfrm>
            <a:off x="7524731" y="4610088"/>
            <a:ext cx="19049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 주문 · 06:30 정산</a:t>
            </a:r>
            <a:endParaRPr lang="en-US" sz="800" dirty="0"/>
          </a:p>
        </p:txBody>
      </p:sp>
      <p:sp>
        <p:nvSpPr>
          <p:cNvPr id="52" name="Shape 49"/>
          <p:cNvSpPr/>
          <p:nvPr/>
        </p:nvSpPr>
        <p:spPr>
          <a:xfrm>
            <a:off x="9677376" y="3181342"/>
            <a:ext cx="2171695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810725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810725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5</a:t>
            </a:r>
            <a:endParaRPr lang="en-US" sz="900" dirty="0"/>
          </a:p>
        </p:txBody>
      </p:sp>
      <p:sp>
        <p:nvSpPr>
          <p:cNvPr id="55" name="Text 52"/>
          <p:cNvSpPr txBox="1"/>
          <p:nvPr/>
        </p:nvSpPr>
        <p:spPr>
          <a:xfrm>
            <a:off x="10115525" y="3333742"/>
            <a:ext cx="161924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9810725" y="3619491"/>
            <a:ext cx="19049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810725" y="3809990"/>
            <a:ext cx="1904995" cy="62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집행 현황 · 전환 · ROAS · 알림 · 리포트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9810725" y="4552939"/>
            <a:ext cx="1904995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59" name="Text 56"/>
          <p:cNvSpPr txBox="1"/>
          <p:nvPr/>
        </p:nvSpPr>
        <p:spPr>
          <a:xfrm>
            <a:off x="9810725" y="4610088"/>
            <a:ext cx="19049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이상 즉시 알림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533399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647698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주간 10억 명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647698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주간 활성 이용자 — 검색 시작점 이동</a:t>
            </a:r>
            <a:endParaRPr lang="en-US" sz="800" dirty="0"/>
          </a:p>
        </p:txBody>
      </p:sp>
      <p:sp>
        <p:nvSpPr>
          <p:cNvPr id="63" name="Shape 60"/>
          <p:cNvSpPr/>
          <p:nvPr/>
        </p:nvSpPr>
        <p:spPr>
          <a:xfrm>
            <a:off x="4267189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4381489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약 40%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4381489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2026년 AI 제작 디지털 광고 비중 전망</a:t>
            </a:r>
            <a:endParaRPr lang="en-US" sz="800" dirty="0"/>
          </a:p>
        </p:txBody>
      </p:sp>
      <p:sp>
        <p:nvSpPr>
          <p:cNvPr id="66" name="Shape 63"/>
          <p:cNvSpPr/>
          <p:nvPr/>
        </p:nvSpPr>
        <p:spPr>
          <a:xfrm>
            <a:off x="8000980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8115280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0.8~1.3%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8115280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클릭률(구글 29%) — 인용 없으면 유입 없음</a:t>
            </a:r>
            <a:endParaRPr lang="en-US" sz="800" dirty="0"/>
          </a:p>
        </p:txBody>
      </p:sp>
      <p:sp>
        <p:nvSpPr>
          <p:cNvPr id="69" name="Text 66"/>
          <p:cNvSpPr txBox="1"/>
          <p:nvPr/>
        </p:nvSpPr>
        <p:spPr>
          <a:xfrm>
            <a:off x="533399" y="5676886"/>
            <a:ext cx="104774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출처 · OpenAI(2026.07), Similarweb AI Search Stats 2026, 국내 광고업계 AI 제작 비중 전망 보도(2025.10)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AIU본부 · AI LAB · mplanit.co.kr</a:t>
            </a:r>
            <a:endParaRPr lang="en-US" sz="800" dirty="0"/>
          </a:p>
        </p:txBody>
      </p:sp>
      <p:sp>
        <p:nvSpPr>
          <p:cNvPr id="72" name="Text 69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01 / 06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 INTEGRATION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 통합 구조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소재에서 매출까지 한 줄로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솔루션 5종 · 단계별 역할 · 데이터 연결 · 적용 대상 요약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요약 1장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3399" y="1390647"/>
            <a:ext cx="21907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제작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33399" y="1600196"/>
            <a:ext cx="2190745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3399" y="1600196"/>
            <a:ext cx="2190745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7698" y="1600196"/>
            <a:ext cx="1619246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66944" y="1666871"/>
            <a:ext cx="3428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647698" y="1962145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입력 6단계 / 대화형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7698" y="2190745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647698" y="224789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규격 23종+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47698" y="2476494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47698" y="253364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레이어 분리 · PSD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47698" y="2762243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47698" y="2819393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모델 2종 선택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2828918" y="1390647"/>
            <a:ext cx="21907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제작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828918" y="1600196"/>
            <a:ext cx="2190745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28918" y="1600196"/>
            <a:ext cx="2190745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943218" y="1600196"/>
            <a:ext cx="1619246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62464" y="1666871"/>
            <a:ext cx="3428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2943218" y="1962145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→ AI 질문 완성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943218" y="2190745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2943218" y="224789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기획 5단계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43218" y="2476494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2943218" y="253364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 승인형 디렉팅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943218" y="2762243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3" name="Text 31"/>
          <p:cNvSpPr txBox="1"/>
          <p:nvPr/>
        </p:nvSpPr>
        <p:spPr>
          <a:xfrm>
            <a:off x="2943218" y="2819393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2종 선택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5124437" y="1390647"/>
            <a:ext cx="21907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노출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4437" y="1600196"/>
            <a:ext cx="2190745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24437" y="1600196"/>
            <a:ext cx="2190745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238737" y="1600196"/>
            <a:ext cx="1619246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케어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857983" y="1666871"/>
            <a:ext cx="3428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5238737" y="1962145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점수 3종 진단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238737" y="2190745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1" name="Text 39"/>
          <p:cNvSpPr txBox="1"/>
          <p:nvPr/>
        </p:nvSpPr>
        <p:spPr>
          <a:xfrm>
            <a:off x="5238737" y="224789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4종 점검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238737" y="2476494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5238737" y="253364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개선 가이드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238737" y="2762243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5" name="Text 43"/>
          <p:cNvSpPr txBox="1"/>
          <p:nvPr/>
        </p:nvSpPr>
        <p:spPr>
          <a:xfrm>
            <a:off x="5238737" y="2819393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월 1~2회 재측정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7419956" y="1390647"/>
            <a:ext cx="21907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판매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419956" y="1600196"/>
            <a:ext cx="2190745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419956" y="1600196"/>
            <a:ext cx="2190745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534256" y="1600196"/>
            <a:ext cx="1619246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9153502" y="1666871"/>
            <a:ext cx="3428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</a:t>
            </a:r>
            <a:endParaRPr lang="en-US" sz="700" dirty="0"/>
          </a:p>
        </p:txBody>
      </p:sp>
      <p:sp>
        <p:nvSpPr>
          <p:cNvPr id="51" name="Text 49"/>
          <p:cNvSpPr txBox="1"/>
          <p:nvPr/>
        </p:nvSpPr>
        <p:spPr>
          <a:xfrm>
            <a:off x="7534256" y="1962145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 7개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534256" y="2190745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7534256" y="224789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매시 수집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534256" y="2476494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5" name="Text 53"/>
          <p:cNvSpPr txBox="1"/>
          <p:nvPr/>
        </p:nvSpPr>
        <p:spPr>
          <a:xfrm>
            <a:off x="7534256" y="253364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06:30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534256" y="2762243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7" name="Text 55"/>
          <p:cNvSpPr txBox="1"/>
          <p:nvPr/>
        </p:nvSpPr>
        <p:spPr>
          <a:xfrm>
            <a:off x="7534256" y="2819393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SKU 재고 · 원가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9715476" y="1390647"/>
            <a:ext cx="21907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05 성과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9715476" y="1600196"/>
            <a:ext cx="2190745" cy="1600196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715476" y="1600196"/>
            <a:ext cx="2190745" cy="28574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9829775" y="1600196"/>
            <a:ext cx="1619246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11449021" y="1666871"/>
            <a:ext cx="3428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</a:t>
            </a:r>
            <a:endParaRPr lang="en-US" sz="700" dirty="0"/>
          </a:p>
        </p:txBody>
      </p:sp>
      <p:sp>
        <p:nvSpPr>
          <p:cNvPr id="63" name="Text 61"/>
          <p:cNvSpPr txBox="1"/>
          <p:nvPr/>
        </p:nvSpPr>
        <p:spPr>
          <a:xfrm>
            <a:off x="9829775" y="1962145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 14개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9829775" y="2190745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5" name="Text 63"/>
          <p:cNvSpPr txBox="1"/>
          <p:nvPr/>
        </p:nvSpPr>
        <p:spPr>
          <a:xfrm>
            <a:off x="9829775" y="224789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일 · 매체 · 캠페인 · 키워드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9829775" y="2476494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7" name="Text 65"/>
          <p:cNvSpPr txBox="1"/>
          <p:nvPr/>
        </p:nvSpPr>
        <p:spPr>
          <a:xfrm>
            <a:off x="9829775" y="2533644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· 목표 진척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829775" y="2762243"/>
            <a:ext cx="1962145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9" name="Text 67"/>
          <p:cNvSpPr txBox="1"/>
          <p:nvPr/>
        </p:nvSpPr>
        <p:spPr>
          <a:xfrm>
            <a:off x="9829775" y="2819393"/>
            <a:ext cx="196214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알림 · 정기 리포트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33399" y="3352792"/>
            <a:ext cx="11125172" cy="704848"/>
          </a:xfrm>
          <a:prstGeom prst="roundRect">
            <a:avLst>
              <a:gd name="adj" fmla="val 6487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6674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81048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781048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· 영상 산출물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262889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2819393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2933693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2933693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집행 + AI 검색 인용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4781538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497203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508633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주문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508633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채널 매출 집계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693418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7124682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7238982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238982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광고비 + 전환매출 결합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9086827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9277327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39162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판단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939162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기준 예산 배분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53339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685798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브랜드 광고주</a:t>
            </a:r>
            <a:endParaRPr lang="en-US" sz="1000" dirty="0"/>
          </a:p>
        </p:txBody>
      </p:sp>
      <p:sp>
        <p:nvSpPr>
          <p:cNvPr id="92" name="Text 90"/>
          <p:cNvSpPr txBox="1"/>
          <p:nvPr/>
        </p:nvSpPr>
        <p:spPr>
          <a:xfrm>
            <a:off x="685798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캠페인 소재 대량 생성 · 매체별 성과 통합 리포트 · AI 검색 브랜드 노출 관리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28623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4438639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그로스 · 중소 광고주</a:t>
            </a:r>
            <a:endParaRPr lang="en-US" sz="1000" dirty="0"/>
          </a:p>
        </p:txBody>
      </p:sp>
      <p:sp>
        <p:nvSpPr>
          <p:cNvPr id="95" name="Text 93"/>
          <p:cNvSpPr txBox="1"/>
          <p:nvPr/>
        </p:nvSpPr>
        <p:spPr>
          <a:xfrm>
            <a:off x="4438639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소재 제작비 절감 · 채널별 ROAS 비교 · 성과 이상 즉시 알림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8039080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8191480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소상공인 · 1인 기업</a:t>
            </a:r>
            <a:endParaRPr lang="en-US" sz="1000" dirty="0"/>
          </a:p>
        </p:txBody>
      </p:sp>
      <p:sp>
        <p:nvSpPr>
          <p:cNvPr id="98" name="Text 96"/>
          <p:cNvSpPr txBox="1"/>
          <p:nvPr/>
        </p:nvSpPr>
        <p:spPr>
          <a:xfrm>
            <a:off x="8191480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디자이너 없이 배너·영상 자체 제작 · 마켓 주문/정산 단일 화면 관리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LAB · 통합 구조 요약</a:t>
            </a:r>
            <a:endParaRPr lang="en-US" sz="800" dirty="0"/>
          </a:p>
        </p:txBody>
      </p:sp>
      <p:sp>
        <p:nvSpPr>
          <p:cNvPr id="101" name="Text 99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02 / 06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CREATIVE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1장이 아닌 캠페인 한 세트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규격 변형 · 레이어 편집 · 영상 전환, 한 도구 안에서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입력 6단계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기본정보 · 이미지 업로드 · 스타일 · 텍스트&amp;폰트 · 출력 옵션 · 생성 모델. 로고 노출 위치 9분할 지정.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 작업 모드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라이트 — 양식 입력형 / 에디터 — 대화 지시형. 한 줄 요청으로도 시안 생성.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규격 변형 · 레이어 편집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1:1 · 4:3 · 16:9 · 9:16 기본 비율 + 매체 규격 23종 이상. 레이어 분리 후 브라우저 수정.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생성 모델 선택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이미지 Gemini(나노 바나나) · ChatGPT 2.0. 완성 시안은 영상 생성 탭으로 연결.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크리에이티브 생성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520186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20186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 사이즈 변형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506974" y="4514839"/>
            <a:ext cx="60959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506974" y="4514839"/>
            <a:ext cx="6095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영상 생성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089657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08965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편집하기 · 프로젝트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33399" y="5219687"/>
            <a:ext cx="3581391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운영 중인 Banner Fit 실제 캡처. 편집 화면 시안은 당사 집행 소재.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457689" y="1562096"/>
            <a:ext cx="2666993" cy="1652679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36" name="Image 0" descr="/home/user/mplanit/ai-solution/assets/png/bannerfi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581146"/>
            <a:ext cx="2628893" cy="1614579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4476739" y="3033800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24364" y="3033800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라이트 모드 · 6단계 입력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7200882" y="1504946"/>
            <a:ext cx="4362439" cy="2088557"/>
          </a:xfrm>
          <a:prstGeom prst="roundRect">
            <a:avLst>
              <a:gd name="adj" fmla="val 262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1" descr="/home/user/mplanit/ai-solution/assets/png/bannerfit-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932" y="1523996"/>
            <a:ext cx="4324339" cy="2050457"/>
          </a:xfrm>
          <a:prstGeom prst="rect">
            <a:avLst/>
          </a:prstGeom>
        </p:spPr>
      </p:pic>
      <p:sp>
        <p:nvSpPr>
          <p:cNvPr id="41" name="Shape 37"/>
          <p:cNvSpPr/>
          <p:nvPr/>
        </p:nvSpPr>
        <p:spPr>
          <a:xfrm>
            <a:off x="7219932" y="3412529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7267557" y="3412529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에디터 모드 · 한 줄 지시</a:t>
            </a:r>
            <a:endParaRPr lang="en-US" sz="750" dirty="0"/>
          </a:p>
        </p:txBody>
      </p:sp>
      <p:sp>
        <p:nvSpPr>
          <p:cNvPr id="43" name="Shape 39"/>
          <p:cNvSpPr/>
          <p:nvPr/>
        </p:nvSpPr>
        <p:spPr>
          <a:xfrm>
            <a:off x="5124437" y="3371842"/>
            <a:ext cx="5753086" cy="2747956"/>
          </a:xfrm>
          <a:prstGeom prst="roundRect">
            <a:avLst>
              <a:gd name="adj" fmla="val 199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2" descr="/home/user/mplanit/ai-solution/assets/png/bannerfit-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487" y="3390892"/>
            <a:ext cx="5714986" cy="2709856"/>
          </a:xfrm>
          <a:prstGeom prst="rect">
            <a:avLst/>
          </a:prstGeom>
        </p:spPr>
      </p:pic>
      <p:sp>
        <p:nvSpPr>
          <p:cNvPr id="45" name="Shape 40"/>
          <p:cNvSpPr/>
          <p:nvPr/>
        </p:nvSpPr>
        <p:spPr>
          <a:xfrm>
            <a:off x="5143487" y="5938823"/>
            <a:ext cx="1863085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191112" y="5938823"/>
            <a:ext cx="18630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레이어 편집 · 사이즈 변형 · 다운로드</a:t>
            </a:r>
            <a:endParaRPr lang="en-US" sz="750" dirty="0"/>
          </a:p>
        </p:txBody>
      </p:sp>
      <p:sp>
        <p:nvSpPr>
          <p:cNvPr id="47" name="Shape 42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배너핏</a:t>
            </a:r>
            <a:endParaRPr lang="en-US" sz="800" dirty="0"/>
          </a:p>
        </p:txBody>
      </p:sp>
      <p:sp>
        <p:nvSpPr>
          <p:cNvPr id="49" name="Text 44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03 / 06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VIDEO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프롬프트 대신 질문 응답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→ AI 초안 → 컷 승인 → 렌더, 5단계 진행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줄 입력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상황 한 문장 입력 → AI가 질문 자동 완성 → 초안 스토리보드 제시.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기획 5단계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아이디어 · 의도 · 표현 · 스토리보드 · 완료. 길이 2컷 / 4컷 / 7컷 선택.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표현 선택형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영상 종류(실사 · 3D · 현실+3D · 웹툰) · 화면 스타일 · 분위기 · 주인공/조연.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컷별 승인 · 재생성 후 VEO 3.1(1080p) 또는 Gemini Omni(720p)로 출력.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쇼츠 9:16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360167" y="4514839"/>
            <a:ext cx="84962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0167" y="4514839"/>
            <a:ext cx="84962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유튜브 16:9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266944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266944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인스타 1:1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569716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56971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영상 · 시작/엔드 프레임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33399" y="5219687"/>
            <a:ext cx="3581391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참고 — 국내 숏폼 외주 단가 15만~200만원, 기간 2~3주(크몽 단가 가이드 기준).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457689" y="1581146"/>
            <a:ext cx="2895593" cy="1609721"/>
          </a:xfrm>
          <a:prstGeom prst="roundRect">
            <a:avLst>
              <a:gd name="adj" fmla="val 340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36" name="Image 0" descr="/home/user/mplanit/ai-solution/assets/png/reels-i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600196"/>
            <a:ext cx="2857493" cy="1571621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4476739" y="3009892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24364" y="3009892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한 줄 아이디어 + 5단계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7505681" y="1504946"/>
            <a:ext cx="4057640" cy="2436425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1" descr="/home/user/mplanit/ai-solution/assets/png/reels-sty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1" y="1523996"/>
            <a:ext cx="4019540" cy="2398326"/>
          </a:xfrm>
          <a:prstGeom prst="rect">
            <a:avLst/>
          </a:prstGeom>
        </p:spPr>
      </p:pic>
      <p:sp>
        <p:nvSpPr>
          <p:cNvPr id="41" name="Shape 37"/>
          <p:cNvSpPr/>
          <p:nvPr/>
        </p:nvSpPr>
        <p:spPr>
          <a:xfrm>
            <a:off x="7524731" y="3760397"/>
            <a:ext cx="108775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7572356" y="3760397"/>
            <a:ext cx="10877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표현 · 스타일 선택</a:t>
            </a:r>
            <a:endParaRPr lang="en-US" sz="750" dirty="0"/>
          </a:p>
        </p:txBody>
      </p:sp>
      <p:sp>
        <p:nvSpPr>
          <p:cNvPr id="43" name="Shape 39"/>
          <p:cNvSpPr/>
          <p:nvPr/>
        </p:nvSpPr>
        <p:spPr>
          <a:xfrm>
            <a:off x="5029187" y="3638541"/>
            <a:ext cx="4991088" cy="238664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2" descr="/home/user/mplanit/ai-solution/assets/png/reels-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37" y="3657591"/>
            <a:ext cx="4952988" cy="2348542"/>
          </a:xfrm>
          <a:prstGeom prst="rect">
            <a:avLst/>
          </a:prstGeom>
        </p:spPr>
      </p:pic>
      <p:sp>
        <p:nvSpPr>
          <p:cNvPr id="45" name="Shape 40"/>
          <p:cNvSpPr/>
          <p:nvPr/>
        </p:nvSpPr>
        <p:spPr>
          <a:xfrm>
            <a:off x="5048237" y="5844208"/>
            <a:ext cx="2356479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095862" y="5844208"/>
            <a:ext cx="23564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배너 영상 · VEO 3.1 / Gemini Omni</a:t>
            </a:r>
            <a:endParaRPr lang="en-US" sz="750" dirty="0"/>
          </a:p>
        </p:txBody>
      </p:sp>
      <p:sp>
        <p:nvSpPr>
          <p:cNvPr id="47" name="Shape 42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Reels Studio · 릴스 스튜디오</a:t>
            </a:r>
            <a:endParaRPr lang="en-US" sz="800" dirty="0"/>
          </a:p>
        </p:txBody>
      </p:sp>
      <p:sp>
        <p:nvSpPr>
          <p:cNvPr id="49" name="Text 44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04 / 06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VISIBILITY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Metric Care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답변 내 브랜드 인용 진단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URL 입력 → SEO · GEO 통합 분석 → 점수 · 개선 가이드 · PDF 리포트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점수 3종 진단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동시 산출. 자사 사이트 기준 84 / 95 / 72.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판정 기준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80점 이상 인용 가능 · 70점대 기본 충족 · 60점 이하 구조 개선 필요.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진단 범위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· Gemini · Perplexity · 네이버 AI 브리핑(Yeti · 서치어드바이저).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항목별 현재값 · 권장 기준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인용 신뢰도(E-E-A-T 70점 이상) · 통계 포함 · 스키마 · 엔티티 연결성.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629138"/>
            <a:ext cx="28575" cy="53339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7698" y="4591039"/>
            <a:ext cx="163829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76% → 53%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7698" y="4819638"/>
            <a:ext cx="1638296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생성형 AI 방문 점유율 중 ChatGPT 비중(Gemini 27% · Claude 9%)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400294" y="4629138"/>
            <a:ext cx="28575" cy="53339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14594" y="4591039"/>
            <a:ext cx="163829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85%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514594" y="4819638"/>
            <a:ext cx="1638296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브랜드 언급 중 외부 콘텐츠 발생 비율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648188" y="1504946"/>
            <a:ext cx="4514839" cy="2630878"/>
          </a:xfrm>
          <a:prstGeom prst="roundRect">
            <a:avLst>
              <a:gd name="adj" fmla="val 2085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33" name="Image 0" descr="/home/user/mplanit/ai-solution/assets/png/geo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38" y="1523996"/>
            <a:ext cx="4476739" cy="2592778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4667238" y="3954849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714863" y="3954849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URL 입력 → 분석 시작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5695936" y="3314692"/>
            <a:ext cx="5372087" cy="2802883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37" name="Image 1" descr="/home/user/mplanit/ai-solution/assets/png/geo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986" y="3333742"/>
            <a:ext cx="5333987" cy="2764783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5714986" y="5936600"/>
            <a:ext cx="2990843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762611" y="5936600"/>
            <a:ext cx="29908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분석 결과 — 자사 진단(종합 84 / SEO 95 / GEO 72)</a:t>
            </a:r>
            <a:endParaRPr lang="en-US" sz="750" dirty="0"/>
          </a:p>
        </p:txBody>
      </p:sp>
      <p:sp>
        <p:nvSpPr>
          <p:cNvPr id="40" name="Shape 3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GEO Metric Care · 지오 메트릭 케어</a:t>
            </a:r>
            <a:endParaRPr lang="en-US" sz="800" dirty="0"/>
          </a:p>
        </p:txBody>
      </p:sp>
      <p:sp>
        <p:nvSpPr>
          <p:cNvPr id="42" name="Text 3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05 / 06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COMMERCE · 05 PERFORMANCE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+ 애드리포트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매출과 광고비 단일 기준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계정으로 AD REPORT · AD MONITOR · COMMERCE HUB · SETTINGS 이동 (네이버웍스 SSO)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중 · 카카오쇼핑 승인 대기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04946"/>
            <a:ext cx="3581391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798" y="1619246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798" y="1866895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1048" y="19240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81048" y="20383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7개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790696" y="1866895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85945" y="19240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수집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1885945" y="20383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895593" y="1866895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90843" y="19240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수집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2990843" y="20383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06:30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85798" y="2381244"/>
            <a:ext cx="3276592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메뉴 —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· 매출 · 재고 · 배송 · 광고비 · 설정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85798" y="2647943"/>
            <a:ext cx="3276592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정산 —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채널별 금액 · 월별 추이 · 전월 동기간 비교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85798" y="2914643"/>
            <a:ext cx="3276592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연동 —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오픈마켓 · 네이버 광고 API · 사업자/브랜드 권한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3399" y="3352792"/>
            <a:ext cx="3581391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798" y="3467091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85798" y="37147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1048" y="37718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781048" y="3886190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14개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790696" y="37147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885945" y="37718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실적 수집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1885945" y="3886190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895593" y="37147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990843" y="37718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리포트 유형</a:t>
            </a:r>
            <a:endParaRPr lang="en-US" sz="700" dirty="0"/>
          </a:p>
        </p:txBody>
      </p:sp>
      <p:sp>
        <p:nvSpPr>
          <p:cNvPr id="34" name="Text 32"/>
          <p:cNvSpPr txBox="1"/>
          <p:nvPr/>
        </p:nvSpPr>
        <p:spPr>
          <a:xfrm>
            <a:off x="2990843" y="3886190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798" y="4229089"/>
            <a:ext cx="3276592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리포트 —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통합 대시보드 · 목표 현황 · 배분 현황 · 실시간 현황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685798" y="4495789"/>
            <a:ext cx="3276592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분석 —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소재 · 키워드 · 광고주 코드 · UTM 생성/현황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685798" y="4762488"/>
            <a:ext cx="3276592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알림 —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CPA 급등 · 전환 급감 메신저 통보 · 정시 실적 보고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181587"/>
            <a:ext cx="3581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운영 중 애드리포트 실제 캡처. 광고주명·금액·건수 마스킹 처리.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419589" y="1485896"/>
            <a:ext cx="5372087" cy="3265162"/>
          </a:xfrm>
          <a:prstGeom prst="roundRect">
            <a:avLst>
              <a:gd name="adj" fmla="val 168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adreport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8639" y="1504946"/>
            <a:ext cx="5333987" cy="3227062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38639" y="4570084"/>
            <a:ext cx="207454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486264" y="4570084"/>
            <a:ext cx="20745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통합 대시보드 — 매체군별 성과 · 목표 진척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105632" y="3600441"/>
            <a:ext cx="4419589" cy="1955001"/>
          </a:xfrm>
          <a:prstGeom prst="roundRect">
            <a:avLst>
              <a:gd name="adj" fmla="val 2806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adreport-go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4682" y="3619491"/>
            <a:ext cx="4381489" cy="1916901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124682" y="5374468"/>
            <a:ext cx="1722116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172307" y="5374468"/>
            <a:ext cx="17221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목표 현황 — 매체별 목표 대비 실적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33399" y="5486386"/>
            <a:ext cx="11125172" cy="590549"/>
          </a:xfrm>
          <a:prstGeom prst="roundRect">
            <a:avLst>
              <a:gd name="adj" fmla="val 7742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23898" y="5581636"/>
            <a:ext cx="666748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도입 3단계 — 진단 → 연동 세팅 → 운영</a:t>
            </a:r>
            <a:endParaRPr lang="en-US" sz="1200" dirty="0"/>
          </a:p>
        </p:txBody>
      </p:sp>
      <p:sp>
        <p:nvSpPr>
          <p:cNvPr id="49" name="Text 45"/>
          <p:cNvSpPr txBox="1"/>
          <p:nvPr/>
        </p:nvSpPr>
        <p:spPr>
          <a:xfrm>
            <a:off x="723898" y="5791186"/>
            <a:ext cx="66674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6F7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성과 · 대행사 공수 · 1인 기업 인력 대체</a:t>
            </a:r>
            <a:endParaRPr lang="en-US" sz="900" dirty="0"/>
          </a:p>
        </p:txBody>
      </p:sp>
      <p:sp>
        <p:nvSpPr>
          <p:cNvPr id="50" name="Shape 46"/>
          <p:cNvSpPr/>
          <p:nvPr/>
        </p:nvSpPr>
        <p:spPr>
          <a:xfrm>
            <a:off x="8953478" y="5619736"/>
            <a:ext cx="2514594" cy="323849"/>
          </a:xfrm>
          <a:prstGeom prst="roundRect">
            <a:avLst>
              <a:gd name="adj" fmla="val 282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953478" y="5619736"/>
            <a:ext cx="2514594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AIU본부 · mplanit.co.kr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출처 · Similarweb AI Search Stats 2026 · OpenAI(2026.07) · 크몽 숏폼 단가 가이드 · 엠플랜잇 운영 자료(2026.09)</a:t>
            </a:r>
            <a:endParaRPr lang="en-US" sz="800" dirty="0"/>
          </a:p>
        </p:txBody>
      </p:sp>
      <p:sp>
        <p:nvSpPr>
          <p:cNvPr id="54" name="Text 50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06 / 06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Mplanit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엠플랜잇 AI 솔루션 소개서</dc:title>
  <dc:subject>PptxGenJS Presentation</dc:subject>
  <dc:creator>Mplanit AIU</dc:creator>
  <cp:lastModifiedBy>Mplanit AIU</cp:lastModifiedBy>
  <cp:revision>1</cp:revision>
  <dcterms:created xsi:type="dcterms:W3CDTF">2026-09-20T08:19:10Z</dcterms:created>
  <dcterms:modified xsi:type="dcterms:W3CDTF">2026-09-20T08:19:10Z</dcterms:modified>
</cp:coreProperties>
</file>