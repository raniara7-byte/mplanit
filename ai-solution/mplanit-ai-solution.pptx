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— 솔루션 5종과 시장 근거 3가지. 제작·노출·판매·성과 흐름으로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LAB 통합 요약 — 단독 1장으로도 사용 가능. 5개 솔루션의 역할, 데이터 연결, 대상별 활용.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솔루션 이미지맵 — 단독 1장 배포용. 커머스허브/MI 화면은 확보 후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MI는 AI 솔루션이 아닌 데이터 인프라·운영 자동화 영역. 6종 솔루션이 공유하는 수집·정규화·집계 기반이 자체 기술임을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pic>
        <p:nvPicPr>
          <p:cNvPr id="4" name="Image 0" descr="/home/user/mplanit/ai-solution/assets/png/logo-mplan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99" y="419099"/>
            <a:ext cx="1095372" cy="36303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29677" y="438149"/>
            <a:ext cx="2628893" cy="266699"/>
          </a:xfrm>
          <a:prstGeom prst="roundRect">
            <a:avLst>
              <a:gd name="adj" fmla="val 41143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29677" y="438149"/>
            <a:ext cx="262889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소개서 · 2026.09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33399" y="1219197"/>
            <a:ext cx="8572479" cy="1047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· 노출 · 판매 · 성과
</a:t>
            </a:r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 실무 전 과정의 AI 전환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33399" y="2362194"/>
            <a:ext cx="11048972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5종 + 데이터 인프라 1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  —  M Ai Platform · AI LAB · 커머스허브 · MI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33399" y="2724143"/>
            <a:ext cx="2085970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3399" y="2724143"/>
            <a:ext cx="208597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Reels Studio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619368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0818" y="2724143"/>
            <a:ext cx="1495421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0818" y="2724143"/>
            <a:ext cx="1495421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286239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57689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57689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362562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34011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4011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38884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10333" y="2724143"/>
            <a:ext cx="1318257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10333" y="2724143"/>
            <a:ext cx="1318257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· 데이터 인프라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339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7698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7698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95249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47698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47698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생성 · 규격 변형 · 레이어 편집 · 영상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47698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647698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라이트 · 에디터 2모드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2400294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1459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51459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2819393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51459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</a:t>
            </a:r>
            <a:endParaRPr lang="en-US" sz="650" dirty="0"/>
          </a:p>
        </p:txBody>
      </p:sp>
      <p:sp>
        <p:nvSpPr>
          <p:cNvPr id="36" name="Text 33"/>
          <p:cNvSpPr txBox="1"/>
          <p:nvPr/>
        </p:nvSpPr>
        <p:spPr>
          <a:xfrm>
            <a:off x="251459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입력 · 컷 승인형 숏폼 제작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251459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251459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426718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381489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381489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468628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381489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</a:t>
            </a:r>
            <a:endParaRPr lang="en-US" sz="650" dirty="0"/>
          </a:p>
        </p:txBody>
      </p:sp>
      <p:sp>
        <p:nvSpPr>
          <p:cNvPr id="44" name="Text 41"/>
          <p:cNvSpPr txBox="1"/>
          <p:nvPr/>
        </p:nvSpPr>
        <p:spPr>
          <a:xfrm>
            <a:off x="4381489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노출 진단 · 개선 가이드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381489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4381489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종합 · SEO · GEO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613408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4838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4838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655318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24838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650" dirty="0"/>
          </a:p>
        </p:txBody>
      </p:sp>
      <p:sp>
        <p:nvSpPr>
          <p:cNvPr id="52" name="Text 49"/>
          <p:cNvSpPr txBox="1"/>
          <p:nvPr/>
        </p:nvSpPr>
        <p:spPr>
          <a:xfrm>
            <a:off x="624838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정산 · 재고 통합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24838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4" name="Text 51"/>
          <p:cNvSpPr txBox="1"/>
          <p:nvPr/>
        </p:nvSpPr>
        <p:spPr>
          <a:xfrm>
            <a:off x="624838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 주문 · 06:30 정산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8000980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115280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115280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5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8420079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8115280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650" dirty="0"/>
          </a:p>
        </p:txBody>
      </p:sp>
      <p:sp>
        <p:nvSpPr>
          <p:cNvPr id="60" name="Text 57"/>
          <p:cNvSpPr txBox="1"/>
          <p:nvPr/>
        </p:nvSpPr>
        <p:spPr>
          <a:xfrm>
            <a:off x="8115280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성과 · ROAS · 알림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8115280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62" name="Text 59"/>
          <p:cNvSpPr txBox="1"/>
          <p:nvPr/>
        </p:nvSpPr>
        <p:spPr>
          <a:xfrm>
            <a:off x="8115280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이상 즉시 알림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986787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982175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9982175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6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1028697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982175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DATA INFRA · AI 솔루션 아님</a:t>
            </a:r>
            <a:endParaRPr lang="en-US" sz="650" dirty="0"/>
          </a:p>
        </p:txBody>
      </p:sp>
      <p:sp>
        <p:nvSpPr>
          <p:cNvPr id="68" name="Text 65"/>
          <p:cNvSpPr txBox="1"/>
          <p:nvPr/>
        </p:nvSpPr>
        <p:spPr>
          <a:xfrm>
            <a:off x="9982175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자동입찰 · 대량 리포트 · 데이터 인프라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9982175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9982175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기술 기반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533399" y="5124437"/>
            <a:ext cx="92582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광고 매체 14</a:t>
            </a:r>
            <a:endParaRPr lang="en-US" sz="750" dirty="0"/>
          </a:p>
        </p:txBody>
      </p:sp>
      <p:sp>
        <p:nvSpPr>
          <p:cNvPr id="72" name="Shape 69"/>
          <p:cNvSpPr/>
          <p:nvPr/>
        </p:nvSpPr>
        <p:spPr>
          <a:xfrm>
            <a:off x="1497326" y="5124437"/>
            <a:ext cx="843913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001" y="5176825"/>
            <a:ext cx="104775" cy="104775"/>
          </a:xfrm>
          <a:prstGeom prst="rect">
            <a:avLst/>
          </a:prstGeom>
        </p:spPr>
      </p:pic>
      <p:sp>
        <p:nvSpPr>
          <p:cNvPr id="74" name="Text 70"/>
          <p:cNvSpPr txBox="1"/>
          <p:nvPr/>
        </p:nvSpPr>
        <p:spPr>
          <a:xfrm>
            <a:off x="1687826" y="5124437"/>
            <a:ext cx="634363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75" name="Shape 71"/>
          <p:cNvSpPr/>
          <p:nvPr/>
        </p:nvSpPr>
        <p:spPr>
          <a:xfrm>
            <a:off x="2398389" y="5124437"/>
            <a:ext cx="4076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2474589" y="5200637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2560314" y="5124437"/>
            <a:ext cx="2171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78" name="Shape 74"/>
          <p:cNvSpPr/>
          <p:nvPr/>
        </p:nvSpPr>
        <p:spPr>
          <a:xfrm>
            <a:off x="2863208" y="5124437"/>
            <a:ext cx="4610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2939408" y="5200637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3025132" y="5124437"/>
            <a:ext cx="27050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81" name="Shape 77"/>
          <p:cNvSpPr/>
          <p:nvPr/>
        </p:nvSpPr>
        <p:spPr>
          <a:xfrm>
            <a:off x="3381367" y="5124437"/>
            <a:ext cx="83057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3457566" y="5200637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3543291" y="5124437"/>
            <a:ext cx="64007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84" name="Shape 80"/>
          <p:cNvSpPr/>
          <p:nvPr/>
        </p:nvSpPr>
        <p:spPr>
          <a:xfrm>
            <a:off x="4269094" y="5124437"/>
            <a:ext cx="733423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345294" y="5200637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4431019" y="5124437"/>
            <a:ext cx="54292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87" name="Shape 83"/>
          <p:cNvSpPr/>
          <p:nvPr/>
        </p:nvSpPr>
        <p:spPr>
          <a:xfrm>
            <a:off x="5059667" y="5124437"/>
            <a:ext cx="83819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8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342" y="5176825"/>
            <a:ext cx="104775" cy="104775"/>
          </a:xfrm>
          <a:prstGeom prst="rect">
            <a:avLst/>
          </a:prstGeom>
        </p:spPr>
      </p:pic>
      <p:sp>
        <p:nvSpPr>
          <p:cNvPr id="89" name="Text 84"/>
          <p:cNvSpPr txBox="1"/>
          <p:nvPr/>
        </p:nvSpPr>
        <p:spPr>
          <a:xfrm>
            <a:off x="5250167" y="5124437"/>
            <a:ext cx="62864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90" name="Shape 85"/>
          <p:cNvSpPr/>
          <p:nvPr/>
        </p:nvSpPr>
        <p:spPr>
          <a:xfrm>
            <a:off x="5955015" y="5124437"/>
            <a:ext cx="4991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1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1690" y="5176825"/>
            <a:ext cx="104775" cy="104775"/>
          </a:xfrm>
          <a:prstGeom prst="rect">
            <a:avLst/>
          </a:prstGeom>
        </p:spPr>
      </p:pic>
      <p:sp>
        <p:nvSpPr>
          <p:cNvPr id="92" name="Text 86"/>
          <p:cNvSpPr txBox="1"/>
          <p:nvPr/>
        </p:nvSpPr>
        <p:spPr>
          <a:xfrm>
            <a:off x="6145515" y="5124437"/>
            <a:ext cx="2895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93" name="Shape 87"/>
          <p:cNvSpPr/>
          <p:nvPr/>
        </p:nvSpPr>
        <p:spPr>
          <a:xfrm>
            <a:off x="6511274" y="5124437"/>
            <a:ext cx="4991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4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7949" y="5176825"/>
            <a:ext cx="104775" cy="104775"/>
          </a:xfrm>
          <a:prstGeom prst="rect">
            <a:avLst/>
          </a:prstGeom>
        </p:spPr>
      </p:pic>
      <p:sp>
        <p:nvSpPr>
          <p:cNvPr id="95" name="Text 88"/>
          <p:cNvSpPr txBox="1"/>
          <p:nvPr/>
        </p:nvSpPr>
        <p:spPr>
          <a:xfrm>
            <a:off x="6701773" y="5124437"/>
            <a:ext cx="2895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96" name="Shape 89"/>
          <p:cNvSpPr/>
          <p:nvPr/>
        </p:nvSpPr>
        <p:spPr>
          <a:xfrm>
            <a:off x="7067532" y="5124437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7" name="Shape 90"/>
          <p:cNvSpPr/>
          <p:nvPr/>
        </p:nvSpPr>
        <p:spPr>
          <a:xfrm>
            <a:off x="7143732" y="5200637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98" name="Text 91"/>
          <p:cNvSpPr txBox="1"/>
          <p:nvPr/>
        </p:nvSpPr>
        <p:spPr>
          <a:xfrm>
            <a:off x="7229457" y="5124437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99" name="Shape 92"/>
          <p:cNvSpPr/>
          <p:nvPr/>
        </p:nvSpPr>
        <p:spPr>
          <a:xfrm>
            <a:off x="7760951" y="5124437"/>
            <a:ext cx="539114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7837150" y="5200637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7922875" y="5124437"/>
            <a:ext cx="34861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102" name="Shape 95"/>
          <p:cNvSpPr/>
          <p:nvPr/>
        </p:nvSpPr>
        <p:spPr>
          <a:xfrm>
            <a:off x="8357214" y="5124437"/>
            <a:ext cx="7848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3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889" y="5176825"/>
            <a:ext cx="104775" cy="104775"/>
          </a:xfrm>
          <a:prstGeom prst="rect">
            <a:avLst/>
          </a:prstGeom>
        </p:spPr>
      </p:pic>
      <p:sp>
        <p:nvSpPr>
          <p:cNvPr id="104" name="Text 96"/>
          <p:cNvSpPr txBox="1"/>
          <p:nvPr/>
        </p:nvSpPr>
        <p:spPr>
          <a:xfrm>
            <a:off x="8547714" y="5124437"/>
            <a:ext cx="57530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105" name="Shape 97"/>
          <p:cNvSpPr/>
          <p:nvPr/>
        </p:nvSpPr>
        <p:spPr>
          <a:xfrm>
            <a:off x="9199222" y="5124437"/>
            <a:ext cx="4419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Shape 98"/>
          <p:cNvSpPr/>
          <p:nvPr/>
        </p:nvSpPr>
        <p:spPr>
          <a:xfrm>
            <a:off x="9275422" y="5200637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07" name="Text 99"/>
          <p:cNvSpPr txBox="1"/>
          <p:nvPr/>
        </p:nvSpPr>
        <p:spPr>
          <a:xfrm>
            <a:off x="9361147" y="5124437"/>
            <a:ext cx="2514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108" name="Shape 100"/>
          <p:cNvSpPr/>
          <p:nvPr/>
        </p:nvSpPr>
        <p:spPr>
          <a:xfrm>
            <a:off x="9698331" y="5124437"/>
            <a:ext cx="539114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Shape 101"/>
          <p:cNvSpPr/>
          <p:nvPr/>
        </p:nvSpPr>
        <p:spPr>
          <a:xfrm>
            <a:off x="9774531" y="5200637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110" name="Text 102"/>
          <p:cNvSpPr txBox="1"/>
          <p:nvPr/>
        </p:nvSpPr>
        <p:spPr>
          <a:xfrm>
            <a:off x="9860255" y="5124437"/>
            <a:ext cx="34861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111" name="Shape 103"/>
          <p:cNvSpPr/>
          <p:nvPr/>
        </p:nvSpPr>
        <p:spPr>
          <a:xfrm>
            <a:off x="10294594" y="5124437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2" name="Shape 104"/>
          <p:cNvSpPr/>
          <p:nvPr/>
        </p:nvSpPr>
        <p:spPr>
          <a:xfrm>
            <a:off x="10370794" y="5200637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13" name="Text 105"/>
          <p:cNvSpPr txBox="1"/>
          <p:nvPr/>
        </p:nvSpPr>
        <p:spPr>
          <a:xfrm>
            <a:off x="10456519" y="5124437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114" name="Text 106"/>
          <p:cNvSpPr txBox="1"/>
          <p:nvPr/>
        </p:nvSpPr>
        <p:spPr>
          <a:xfrm>
            <a:off x="10988013" y="5124437"/>
            <a:ext cx="6248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채널 7</a:t>
            </a:r>
            <a:endParaRPr lang="en-US" sz="750" dirty="0"/>
          </a:p>
        </p:txBody>
      </p:sp>
      <p:sp>
        <p:nvSpPr>
          <p:cNvPr id="115" name="Shape 107"/>
          <p:cNvSpPr/>
          <p:nvPr/>
        </p:nvSpPr>
        <p:spPr>
          <a:xfrm>
            <a:off x="533399" y="5391137"/>
            <a:ext cx="88772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16" name="Image 6" descr="/home/user/mplanit/ai-solution/assets/png/icon-nav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073" y="5443524"/>
            <a:ext cx="104775" cy="104775"/>
          </a:xfrm>
          <a:prstGeom prst="rect">
            <a:avLst/>
          </a:prstGeom>
        </p:spPr>
      </p:pic>
      <p:sp>
        <p:nvSpPr>
          <p:cNvPr id="117" name="Text 108"/>
          <p:cNvSpPr txBox="1"/>
          <p:nvPr/>
        </p:nvSpPr>
        <p:spPr>
          <a:xfrm>
            <a:off x="723898" y="5391137"/>
            <a:ext cx="67817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118" name="Shape 109"/>
          <p:cNvSpPr/>
          <p:nvPr/>
        </p:nvSpPr>
        <p:spPr>
          <a:xfrm>
            <a:off x="1478276" y="5391137"/>
            <a:ext cx="4419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9" name="Shape 110"/>
          <p:cNvSpPr/>
          <p:nvPr/>
        </p:nvSpPr>
        <p:spPr>
          <a:xfrm>
            <a:off x="1554476" y="5467336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120" name="Text 111"/>
          <p:cNvSpPr txBox="1"/>
          <p:nvPr/>
        </p:nvSpPr>
        <p:spPr>
          <a:xfrm>
            <a:off x="1640201" y="5391137"/>
            <a:ext cx="2514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121" name="Shape 112"/>
          <p:cNvSpPr/>
          <p:nvPr/>
        </p:nvSpPr>
        <p:spPr>
          <a:xfrm>
            <a:off x="1977385" y="5391137"/>
            <a:ext cx="54863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2" name="Shape 113"/>
          <p:cNvSpPr/>
          <p:nvPr/>
        </p:nvSpPr>
        <p:spPr>
          <a:xfrm>
            <a:off x="2053585" y="5467336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123" name="Text 114"/>
          <p:cNvSpPr txBox="1"/>
          <p:nvPr/>
        </p:nvSpPr>
        <p:spPr>
          <a:xfrm>
            <a:off x="2139310" y="5391137"/>
            <a:ext cx="35813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124" name="Shape 115"/>
          <p:cNvSpPr/>
          <p:nvPr/>
        </p:nvSpPr>
        <p:spPr>
          <a:xfrm>
            <a:off x="2583174" y="5391137"/>
            <a:ext cx="54863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5" name="Shape 116"/>
          <p:cNvSpPr/>
          <p:nvPr/>
        </p:nvSpPr>
        <p:spPr>
          <a:xfrm>
            <a:off x="2659373" y="5467336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2745098" y="5391137"/>
            <a:ext cx="35813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127" name="Shape 118"/>
          <p:cNvSpPr/>
          <p:nvPr/>
        </p:nvSpPr>
        <p:spPr>
          <a:xfrm>
            <a:off x="3188962" y="5391137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8" name="Shape 119"/>
          <p:cNvSpPr/>
          <p:nvPr/>
        </p:nvSpPr>
        <p:spPr>
          <a:xfrm>
            <a:off x="3265162" y="5467336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29" name="Text 120"/>
          <p:cNvSpPr txBox="1"/>
          <p:nvPr/>
        </p:nvSpPr>
        <p:spPr>
          <a:xfrm>
            <a:off x="3350887" y="5391137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130" name="Shape 121"/>
          <p:cNvSpPr/>
          <p:nvPr/>
        </p:nvSpPr>
        <p:spPr>
          <a:xfrm>
            <a:off x="3882380" y="5391137"/>
            <a:ext cx="74294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1" name="Shape 122"/>
          <p:cNvSpPr/>
          <p:nvPr/>
        </p:nvSpPr>
        <p:spPr>
          <a:xfrm>
            <a:off x="3958580" y="5467336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132" name="Text 123"/>
          <p:cNvSpPr txBox="1"/>
          <p:nvPr/>
        </p:nvSpPr>
        <p:spPr>
          <a:xfrm>
            <a:off x="4044305" y="5391137"/>
            <a:ext cx="55244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133" name="Shape 124"/>
          <p:cNvSpPr/>
          <p:nvPr/>
        </p:nvSpPr>
        <p:spPr>
          <a:xfrm>
            <a:off x="4682478" y="5391137"/>
            <a:ext cx="12382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4" name="Shape 125"/>
          <p:cNvSpPr/>
          <p:nvPr/>
        </p:nvSpPr>
        <p:spPr>
          <a:xfrm>
            <a:off x="4758678" y="546733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35" name="Text 126"/>
          <p:cNvSpPr txBox="1"/>
          <p:nvPr/>
        </p:nvSpPr>
        <p:spPr>
          <a:xfrm>
            <a:off x="4844403" y="5391137"/>
            <a:ext cx="1047747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 (승인 대기)</a:t>
            </a:r>
            <a:endParaRPr lang="en-US" sz="750" dirty="0"/>
          </a:p>
        </p:txBody>
      </p:sp>
      <p:sp>
        <p:nvSpPr>
          <p:cNvPr id="136" name="Text 127"/>
          <p:cNvSpPr txBox="1"/>
          <p:nvPr/>
        </p:nvSpPr>
        <p:spPr>
          <a:xfrm>
            <a:off x="533399" y="5772136"/>
            <a:ext cx="11125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공개 프로젝트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삼성전자 DS · AIA생명 · 쿠쿠전자    </a:t>
            </a:r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공식 파트너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· 카카오 · 크리테오 — 공식 홈페이지 공개 기준</a:t>
            </a:r>
            <a:endParaRPr lang="en-US" sz="750" dirty="0"/>
          </a:p>
        </p:txBody>
      </p:sp>
      <p:sp>
        <p:nvSpPr>
          <p:cNvPr id="137" name="Shape 128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8" name="Text 129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AIU본부 · M Ai Platform · AI LAB · mplanit.co.kr</a:t>
            </a:r>
            <a:endParaRPr lang="en-US" sz="800" dirty="0"/>
          </a:p>
        </p:txBody>
      </p:sp>
      <p:sp>
        <p:nvSpPr>
          <p:cNvPr id="139" name="Text 130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01 / 09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ARCHITECTURE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 솔루션 통합 구조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소재에서 매출까지 한 줄로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솔루션 5종(M Ai Platform · AI LAB · 커머스허브) + 데이터 인프라 1(MI) — 수집부터 판단까지 단일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요약 1장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만들고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CREATE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86239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86239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관리하고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MANAGE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39080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9080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운영·성과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OPERATE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33399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제작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3399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3399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8648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95470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628648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입력 6단계 / 대화형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28648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628648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규격 23종+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28648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628648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레이어 분리 · PSD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28648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628648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모델 2종 선택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2400294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제작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400294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00294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495544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62366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95544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→ AI 질문 완성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495544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2495544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기획 5단계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495544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2495544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 승인형 디렉팅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495544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2495544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2종 선택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4267189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노출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267189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67189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362439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케어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629261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</a:t>
            </a:r>
            <a:endParaRPr lang="en-US" sz="650" dirty="0"/>
          </a:p>
        </p:txBody>
      </p:sp>
      <p:sp>
        <p:nvSpPr>
          <p:cNvPr id="45" name="Text 43"/>
          <p:cNvSpPr txBox="1"/>
          <p:nvPr/>
        </p:nvSpPr>
        <p:spPr>
          <a:xfrm>
            <a:off x="4362439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 3종 진단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362439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7" name="Text 45"/>
          <p:cNvSpPr txBox="1"/>
          <p:nvPr/>
        </p:nvSpPr>
        <p:spPr>
          <a:xfrm>
            <a:off x="4362439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4종 점검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362439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4362439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개선 가이드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362439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1" name="Text 49"/>
          <p:cNvSpPr txBox="1"/>
          <p:nvPr/>
        </p:nvSpPr>
        <p:spPr>
          <a:xfrm>
            <a:off x="4362439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월 1~2회 재측정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6134085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판매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134085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134085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229334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7496156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Hub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6229334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 7개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229334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6229334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매시 수집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229334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1" name="Text 59"/>
          <p:cNvSpPr txBox="1"/>
          <p:nvPr/>
        </p:nvSpPr>
        <p:spPr>
          <a:xfrm>
            <a:off x="6229334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06:30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229334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3" name="Text 61"/>
          <p:cNvSpPr txBox="1"/>
          <p:nvPr/>
        </p:nvSpPr>
        <p:spPr>
          <a:xfrm>
            <a:off x="6229334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SKU 재고 · 원가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8000980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05 성과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8000980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00980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096230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9363052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69" name="Text 67"/>
          <p:cNvSpPr txBox="1"/>
          <p:nvPr/>
        </p:nvSpPr>
        <p:spPr>
          <a:xfrm>
            <a:off x="8096230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 14개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8096230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1" name="Text 69"/>
          <p:cNvSpPr txBox="1"/>
          <p:nvPr/>
        </p:nvSpPr>
        <p:spPr>
          <a:xfrm>
            <a:off x="8096230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 · 매체 · 캠페인 · 키워드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8096230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8096230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· 목표 진척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8096230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8096230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알림 · 정기 리포트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9867875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 · 데이터 인프라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67875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67875" y="1771646"/>
            <a:ext cx="1781171" cy="2666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963125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11229947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Infra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9963125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자동입찰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9963125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3" name="Text 81"/>
          <p:cNvSpPr txBox="1"/>
          <p:nvPr/>
        </p:nvSpPr>
        <p:spPr>
          <a:xfrm>
            <a:off x="9963125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통합 리포트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9963125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9963125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데이터 분석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9963125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7" name="Text 85"/>
          <p:cNvSpPr txBox="1"/>
          <p:nvPr/>
        </p:nvSpPr>
        <p:spPr>
          <a:xfrm>
            <a:off x="9963125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· 정규화 인프라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33399" y="3352792"/>
            <a:ext cx="11125172" cy="704848"/>
          </a:xfrm>
          <a:prstGeom prst="roundRect">
            <a:avLst>
              <a:gd name="adj" fmla="val 6487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674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781048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1048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· 영상 산출물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262889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19393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2933693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2933693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집행 + AI 검색 인용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4781538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497203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508633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주문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508633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채널 매출 집계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693418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7124682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238982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238982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+ 전환매출 결합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9086827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7327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939162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판단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939162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기준 예산 배분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53339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85798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· 마케팅팀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685798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배너핏 + 릴스 + GEO 케어 + 애드리포트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428623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4438639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그로스 · 커머스팀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4438639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 + MI + 애드리포트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8039080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8191480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소상공인 · 1인 기업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8191480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확장 방향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33399" y="5143487"/>
            <a:ext cx="11125172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33399" y="51434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666748" y="5210162"/>
            <a:ext cx="10877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판매와 광고를 한곳에서 — 광고비가 실제로 얼마를 팔았는지 확인</a:t>
            </a:r>
            <a:endParaRPr lang="en-US" sz="1000" dirty="0"/>
          </a:p>
        </p:txBody>
      </p:sp>
      <p:sp>
        <p:nvSpPr>
          <p:cNvPr id="120" name="Text 118"/>
          <p:cNvSpPr txBox="1"/>
          <p:nvPr/>
        </p:nvSpPr>
        <p:spPr>
          <a:xfrm>
            <a:off x="666748" y="5391137"/>
            <a:ext cx="10877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채널마다 접속·다운로드·옮겨적기 없이, 주문과 광고비가 같은 기준으로 합쳐집니다 · 카카오쇼핑 API 연동 신청 자료(2026.09)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Architecture · 통합 구조 요약</a:t>
            </a:r>
            <a:endParaRPr lang="en-US" sz="800" dirty="0"/>
          </a:p>
        </p:txBody>
      </p:sp>
      <p:sp>
        <p:nvSpPr>
          <p:cNvPr id="123" name="Text 121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02 / 09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MAP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솔루션 이미지맵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화면으로 보는 6종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제작 → 노출 → 판매 → 성과 · AI 솔루션 5종 + 데이터 인프라(MI) 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장 요약 · 배포용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1" name="Image 0" descr="/home/user/mplanit/ai-solution/assets/png/bannerfit-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399" y="1409696"/>
            <a:ext cx="3600441" cy="14096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339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6748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6748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085847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66748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매체 규격 변형 · 레이어 편집 · 영상 전환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666748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28623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9" name="Image 1" descr="/home/user/mplanit/ai-solution/assets/png/reels-ide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86239" y="1409696"/>
            <a:ext cx="3600441" cy="140969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28623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419589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19589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23" name="Text 19"/>
          <p:cNvSpPr txBox="1"/>
          <p:nvPr/>
        </p:nvSpPr>
        <p:spPr>
          <a:xfrm>
            <a:off x="4838688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19589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5단계 · 컷 승인형 렌더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419589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700" dirty="0"/>
          </a:p>
        </p:txBody>
      </p:sp>
      <p:sp>
        <p:nvSpPr>
          <p:cNvPr id="26" name="Shape 22"/>
          <p:cNvSpPr/>
          <p:nvPr/>
        </p:nvSpPr>
        <p:spPr>
          <a:xfrm>
            <a:off x="8039080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27" name="Image 2" descr="/home/user/mplanit/ai-solution/assets/png/geo-resul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39080" y="1409696"/>
            <a:ext cx="3600441" cy="140969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8039080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172430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172430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700" dirty="0"/>
          </a:p>
        </p:txBody>
      </p:sp>
      <p:sp>
        <p:nvSpPr>
          <p:cNvPr id="31" name="Text 26"/>
          <p:cNvSpPr txBox="1"/>
          <p:nvPr/>
        </p:nvSpPr>
        <p:spPr>
          <a:xfrm>
            <a:off x="8591529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8172430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점수 진단 · 개선 가이드 · 정기 재측정</a:t>
            </a:r>
            <a:endParaRPr lang="en-US" sz="800" dirty="0"/>
          </a:p>
        </p:txBody>
      </p:sp>
      <p:sp>
        <p:nvSpPr>
          <p:cNvPr id="33" name="Text 28"/>
          <p:cNvSpPr txBox="1"/>
          <p:nvPr/>
        </p:nvSpPr>
        <p:spPr>
          <a:xfrm>
            <a:off x="8172430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53339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화면 — 준비 중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3339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66748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66748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</a:t>
            </a:r>
            <a:endParaRPr lang="en-US" sz="700" dirty="0"/>
          </a:p>
        </p:txBody>
      </p:sp>
      <p:sp>
        <p:nvSpPr>
          <p:cNvPr id="40" name="Text 35"/>
          <p:cNvSpPr txBox="1"/>
          <p:nvPr/>
        </p:nvSpPr>
        <p:spPr>
          <a:xfrm>
            <a:off x="1085847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666748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· 광고비 통합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666748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정산 · 매출 · 재고 · 배송 · 광고비 · 설정</a:t>
            </a:r>
            <a:endParaRPr lang="en-US" sz="700" dirty="0"/>
          </a:p>
        </p:txBody>
      </p:sp>
      <p:sp>
        <p:nvSpPr>
          <p:cNvPr id="43" name="Shape 38"/>
          <p:cNvSpPr/>
          <p:nvPr/>
        </p:nvSpPr>
        <p:spPr>
          <a:xfrm>
            <a:off x="428623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44" name="Image 3" descr="/home/user/mplanit/ai-solution/assets/png/adreport-dashboar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86239" y="3943340"/>
            <a:ext cx="3600441" cy="140969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428623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419589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419589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700" dirty="0"/>
          </a:p>
        </p:txBody>
      </p:sp>
      <p:sp>
        <p:nvSpPr>
          <p:cNvPr id="48" name="Text 42"/>
          <p:cNvSpPr txBox="1"/>
          <p:nvPr/>
        </p:nvSpPr>
        <p:spPr>
          <a:xfrm>
            <a:off x="4838688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100" dirty="0"/>
          </a:p>
        </p:txBody>
      </p:sp>
      <p:sp>
        <p:nvSpPr>
          <p:cNvPr id="49" name="Text 43"/>
          <p:cNvSpPr txBox="1"/>
          <p:nvPr/>
        </p:nvSpPr>
        <p:spPr>
          <a:xfrm>
            <a:off x="4419589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· 목표 진척 · ROAS · 이상 알림</a:t>
            </a:r>
            <a:endParaRPr lang="en-US" sz="800" dirty="0"/>
          </a:p>
        </p:txBody>
      </p:sp>
      <p:sp>
        <p:nvSpPr>
          <p:cNvPr id="50" name="Text 44"/>
          <p:cNvSpPr txBox="1"/>
          <p:nvPr/>
        </p:nvSpPr>
        <p:spPr>
          <a:xfrm>
            <a:off x="4419589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대시보드 · 목표/실시간 현황</a:t>
            </a:r>
            <a:endParaRPr lang="en-US" sz="700" dirty="0"/>
          </a:p>
        </p:txBody>
      </p:sp>
      <p:sp>
        <p:nvSpPr>
          <p:cNvPr id="51" name="Shape 45"/>
          <p:cNvSpPr/>
          <p:nvPr/>
        </p:nvSpPr>
        <p:spPr>
          <a:xfrm>
            <a:off x="8039080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52" name="Shape 46"/>
          <p:cNvSpPr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화면 — 준비 중</a:t>
            </a:r>
            <a:endParaRPr lang="en-US" sz="900" dirty="0"/>
          </a:p>
        </p:txBody>
      </p:sp>
      <p:sp>
        <p:nvSpPr>
          <p:cNvPr id="54" name="Shape 48"/>
          <p:cNvSpPr/>
          <p:nvPr/>
        </p:nvSpPr>
        <p:spPr>
          <a:xfrm>
            <a:off x="8039080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8172430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72430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8591529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100" dirty="0"/>
          </a:p>
        </p:txBody>
      </p:sp>
      <p:sp>
        <p:nvSpPr>
          <p:cNvPr id="58" name="Text 52"/>
          <p:cNvSpPr txBox="1"/>
          <p:nvPr/>
        </p:nvSpPr>
        <p:spPr>
          <a:xfrm>
            <a:off x="8172430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자동입찰 · 대량 통합 리포트 · 통합 데이터 분석 · 인프라 구성 (AI 솔루션 아님)</a:t>
            </a:r>
            <a:endParaRPr lang="en-US" sz="800" dirty="0"/>
          </a:p>
        </p:txBody>
      </p:sp>
      <p:sp>
        <p:nvSpPr>
          <p:cNvPr id="59" name="Text 53"/>
          <p:cNvSpPr txBox="1"/>
          <p:nvPr/>
        </p:nvSpPr>
        <p:spPr>
          <a:xfrm>
            <a:off x="8172430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자체 기술 기반</a:t>
            </a:r>
            <a:endParaRPr lang="en-US" sz="700" dirty="0"/>
          </a:p>
        </p:txBody>
      </p:sp>
      <p:sp>
        <p:nvSpPr>
          <p:cNvPr id="60" name="Shape 5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Map · 화면 기준 요약</a:t>
            </a:r>
            <a:endParaRPr lang="en-US" sz="800" dirty="0"/>
          </a:p>
        </p:txBody>
      </p:sp>
      <p:sp>
        <p:nvSpPr>
          <p:cNvPr id="62" name="Text 5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03 / 09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CREATIVE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1장이 아닌 캠페인 한 세트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규격 변형 · 레이어 편집 · 영상 전환, 한 도구 안에서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입력 6단계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기본정보 · 이미지 · 스타일 · 텍스트 · 출력 · 모델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 작업 모드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라이트 양식 입력 / 에디터 대화 지시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규격 변형 · 레이어 편집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 4비율 + 매체 규격 23종 · 레이어 분리 수정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생성 모델 선택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Gemini(나노 바나나) · ChatGPT 2.0 → 영상 생성 연결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크리에이티브 생성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20186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20186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 사이즈 변형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506974" y="4514839"/>
            <a:ext cx="60959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06974" y="4514839"/>
            <a:ext cx="6095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영상 생성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089657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08965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편집하기 · 프로젝트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번 입력으로 즉시 생성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업로드와 요청 한 줄 → 배경 · 카피 · 레이아웃 시안 동시 산출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Banner Fit 실제 캡처. 편집 화면 시안은 당사 집행 소재.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62096"/>
            <a:ext cx="2666993" cy="1652679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bannerfi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581146"/>
            <a:ext cx="2628893" cy="1614579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33800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33800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라이트 모드 · 6단계 입력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200882" y="1504946"/>
            <a:ext cx="4362439" cy="2088557"/>
          </a:xfrm>
          <a:prstGeom prst="roundRect">
            <a:avLst>
              <a:gd name="adj" fmla="val 262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bannerfit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932" y="1523996"/>
            <a:ext cx="4324339" cy="2050457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219932" y="3412529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267557" y="3412529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에디터 모드 · 한 줄 지시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124437" y="3371842"/>
            <a:ext cx="5753086" cy="2747956"/>
          </a:xfrm>
          <a:prstGeom prst="roundRect">
            <a:avLst>
              <a:gd name="adj" fmla="val 199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bannerfit-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487" y="3390892"/>
            <a:ext cx="5714986" cy="2709856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143487" y="5938823"/>
            <a:ext cx="1863085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191112" y="5938823"/>
            <a:ext cx="18630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레이어 편집 · 사이즈 변형 · 다운로드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배너핏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04 / 09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VIDEO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프롬프트 대신 질문 응답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→ AI 초안 → 컷 승인 → 렌더, 5단계 진행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줄 입력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문장 하나 → AI가 질문 완성 → 초안 스토리보드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기획 5단계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아이디어 → 의도 → 표현 → 스토리보드 → 완료 · 2/4/7컷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표현 선택형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영상 종류 · 화면 스타일 · 분위기 · 등장인물 선택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컷별 승인·재생성 → VEO 3.1 / Gemini Omni 렌더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쇼츠 9:16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360167" y="4514839"/>
            <a:ext cx="84962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0167" y="4514839"/>
            <a:ext cx="84962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유튜브 16:9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66944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66944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인스타 1:1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569716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56971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영상 · 시작/엔드 프레임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'만들기'가 아니라 '다듬기'부터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AI가 대본·키프레임 포함 콘티 전체를 먼저 제안 · 승인한 컷만 과금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참고 — 국내 숏폼 외주 단가 15만~200만원, 기간 2~3주(크몽 단가 가이드 기준).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81146"/>
            <a:ext cx="2895593" cy="1609721"/>
          </a:xfrm>
          <a:prstGeom prst="roundRect">
            <a:avLst>
              <a:gd name="adj" fmla="val 340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reels-i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600196"/>
            <a:ext cx="2857493" cy="1571621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09892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09892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한 줄 아이디어 + 5단계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505681" y="1504946"/>
            <a:ext cx="4057640" cy="2436425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reels-sty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1" y="1523996"/>
            <a:ext cx="4019540" cy="2398326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524731" y="3760397"/>
            <a:ext cx="108775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572356" y="3760397"/>
            <a:ext cx="10877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표현 · 스타일 선택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029187" y="3638541"/>
            <a:ext cx="4991088" cy="238664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reels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37" y="3657591"/>
            <a:ext cx="4952988" cy="2348542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048237" y="5844208"/>
            <a:ext cx="2356479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095862" y="5844208"/>
            <a:ext cx="23564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배너 영상 · VEO 3.1 / Gemini Omni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Reels Studio · 릴스 스튜디오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05 / 09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VISIBILITY · AI LAB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· GEO Metric Care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기반 SEO + GEO 통합 분석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전통적인 SEO 점검과 AI 검색 최적화 분석을 한 번에 — 메타 태그 최적화 상태까지 점검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점수 3종 진단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동시 산출 — 자사 84 / 95 / 72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80↑ 인용 가능 · 70점대 기본 · 60↓ 개선 필요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진단 범위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· Gemini · Perplexity · 네이버 AI 브리핑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항목별 현재값 · 권장 기준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인용 신뢰도 · 통계 포함 · 스키마 · 엔티티 연결성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529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529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619613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고객은 AI에게 묻고 있는데, 우리 브랜드는 AI 답변에 등장하고 있나요?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8005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AEO·GEO 개선 가이드(2026.09)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33399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9123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제로클릭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9123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오가닉 유입 20~30% 급감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1752596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38320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추천 누락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838320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후보군에서 제외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71793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57517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정보 왜곡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057517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잘못된 정보로 신뢰 하락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48188" y="1504946"/>
            <a:ext cx="4514839" cy="2630878"/>
          </a:xfrm>
          <a:prstGeom prst="roundRect">
            <a:avLst>
              <a:gd name="adj" fmla="val 2085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geo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38" y="1523996"/>
            <a:ext cx="4476739" cy="2592778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667238" y="3954849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14863" y="3954849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URL 입력 → 분석 시작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95936" y="3314692"/>
            <a:ext cx="5372087" cy="2802883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geo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86" y="3333742"/>
            <a:ext cx="5333987" cy="2764783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5714986" y="5936600"/>
            <a:ext cx="2990843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762611" y="5936600"/>
            <a:ext cx="2990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분석 결과 — 자사 진단(종합 84 / SEO 95 / GEO 72)</a:t>
            </a:r>
            <a:endParaRPr lang="en-US" sz="750" dirty="0"/>
          </a:p>
        </p:txBody>
      </p:sp>
      <p:sp>
        <p:nvSpPr>
          <p:cNvPr id="47" name="Text 43"/>
          <p:cNvSpPr txBox="1"/>
          <p:nvPr/>
        </p:nvSpPr>
        <p:spPr>
          <a:xfrm>
            <a:off x="533399" y="5619736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점수는 자체 진단 기준입니다 — 실제 AI 답변 노출·인용률이나 검색순위를 뜻하지 않습니다.</a:t>
            </a:r>
            <a:endParaRPr lang="en-US" sz="700" dirty="0"/>
          </a:p>
        </p:txBody>
      </p:sp>
      <p:sp>
        <p:nvSpPr>
          <p:cNvPr id="48" name="Shape 4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LAB · GEO Metric Care Solution</a:t>
            </a:r>
            <a:endParaRPr lang="en-US" sz="800" dirty="0"/>
          </a:p>
        </p:txBody>
      </p:sp>
      <p:sp>
        <p:nvSpPr>
          <p:cNvPr id="50" name="Text 4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06 / 09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COMMERCE · 05 PERFORMANCE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+ 애드리포트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매출과 광고비 단일 기준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AI 자동 소재 제작 · 실시간 통합 리포트 분석 — AD REPORT · AD MONITOR · COMMERCE HUB · SETTINGS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중 · 카카오쇼핑 승인 대기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28746"/>
            <a:ext cx="3581391" cy="1638296"/>
          </a:xfrm>
          <a:prstGeom prst="roundRect">
            <a:avLst>
              <a:gd name="adj" fmla="val 3349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798" y="1543046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798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1048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81048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7개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90696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85945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수집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1885945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95593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843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수집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2990843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06:30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6748" y="2266944"/>
            <a:ext cx="88772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22" name="Image 0" descr="/home/user/mplanit/ai-solution/assets/png/icon-na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423" y="2319332"/>
            <a:ext cx="104775" cy="10477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57248" y="2266944"/>
            <a:ext cx="67817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1611626" y="2266944"/>
            <a:ext cx="4419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87826" y="2343144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773551" y="2266944"/>
            <a:ext cx="2514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2110735" y="2266944"/>
            <a:ext cx="54863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86935" y="2343144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72659" y="2266944"/>
            <a:ext cx="35813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2716523" y="2266944"/>
            <a:ext cx="54863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92723" y="2343144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878448" y="2266944"/>
            <a:ext cx="35813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322312" y="2266944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398512" y="2343144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484236" y="2266944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666748" y="2533644"/>
            <a:ext cx="74294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42948" y="2609843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8673" y="2533644"/>
            <a:ext cx="55244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1466846" y="2533644"/>
            <a:ext cx="12382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543046" y="2609843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28771" y="2533644"/>
            <a:ext cx="1047747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 (승인 대기)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85798" y="2819393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메뉴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· 매출 · 재고 · 배송 · 광고비 · 설정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33399" y="3238492"/>
            <a:ext cx="3581391" cy="2057395"/>
          </a:xfrm>
          <a:prstGeom prst="roundRect">
            <a:avLst>
              <a:gd name="adj" fmla="val 2667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798" y="3352792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85798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1048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781048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14개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790696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1885945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실적 수집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1885945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895593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990843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유형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2990843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66748" y="4076690"/>
            <a:ext cx="843913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55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3" y="4129077"/>
            <a:ext cx="104775" cy="104775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57248" y="4076690"/>
            <a:ext cx="634363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57" name="Shape 53"/>
          <p:cNvSpPr/>
          <p:nvPr/>
        </p:nvSpPr>
        <p:spPr>
          <a:xfrm>
            <a:off x="1567811" y="4076690"/>
            <a:ext cx="4076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644011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729736" y="4076690"/>
            <a:ext cx="2171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60" name="Shape 56"/>
          <p:cNvSpPr/>
          <p:nvPr/>
        </p:nvSpPr>
        <p:spPr>
          <a:xfrm>
            <a:off x="2032630" y="4076690"/>
            <a:ext cx="4610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2108830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94555" y="4076690"/>
            <a:ext cx="27050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63" name="Shape 59"/>
          <p:cNvSpPr/>
          <p:nvPr/>
        </p:nvSpPr>
        <p:spPr>
          <a:xfrm>
            <a:off x="2550789" y="4076690"/>
            <a:ext cx="83057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2626988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2712713" y="4076690"/>
            <a:ext cx="64007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66" name="Shape 62"/>
          <p:cNvSpPr/>
          <p:nvPr/>
        </p:nvSpPr>
        <p:spPr>
          <a:xfrm>
            <a:off x="666748" y="4343389"/>
            <a:ext cx="733423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42948" y="4419589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28673" y="4343389"/>
            <a:ext cx="54292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69" name="Shape 65"/>
          <p:cNvSpPr/>
          <p:nvPr/>
        </p:nvSpPr>
        <p:spPr>
          <a:xfrm>
            <a:off x="1457321" y="4343389"/>
            <a:ext cx="83819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0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6" y="4395777"/>
            <a:ext cx="104775" cy="104775"/>
          </a:xfrm>
          <a:prstGeom prst="rect">
            <a:avLst/>
          </a:prstGeom>
        </p:spPr>
      </p:pic>
      <p:sp>
        <p:nvSpPr>
          <p:cNvPr id="71" name="Text 66"/>
          <p:cNvSpPr txBox="1"/>
          <p:nvPr/>
        </p:nvSpPr>
        <p:spPr>
          <a:xfrm>
            <a:off x="1647821" y="4343389"/>
            <a:ext cx="62864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2352669" y="4343389"/>
            <a:ext cx="4991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9344" y="4395777"/>
            <a:ext cx="104775" cy="104775"/>
          </a:xfrm>
          <a:prstGeom prst="rect">
            <a:avLst/>
          </a:prstGeom>
        </p:spPr>
      </p:pic>
      <p:sp>
        <p:nvSpPr>
          <p:cNvPr id="74" name="Text 68"/>
          <p:cNvSpPr txBox="1"/>
          <p:nvPr/>
        </p:nvSpPr>
        <p:spPr>
          <a:xfrm>
            <a:off x="2543169" y="4343389"/>
            <a:ext cx="2895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75" name="Shape 69"/>
          <p:cNvSpPr/>
          <p:nvPr/>
        </p:nvSpPr>
        <p:spPr>
          <a:xfrm>
            <a:off x="2908928" y="4343389"/>
            <a:ext cx="4991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6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5603" y="4395777"/>
            <a:ext cx="104775" cy="104775"/>
          </a:xfrm>
          <a:prstGeom prst="rect">
            <a:avLst/>
          </a:prstGeom>
        </p:spPr>
      </p:pic>
      <p:sp>
        <p:nvSpPr>
          <p:cNvPr id="77" name="Text 70"/>
          <p:cNvSpPr txBox="1"/>
          <p:nvPr/>
        </p:nvSpPr>
        <p:spPr>
          <a:xfrm>
            <a:off x="3099427" y="4343389"/>
            <a:ext cx="2895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78" name="Shape 71"/>
          <p:cNvSpPr/>
          <p:nvPr/>
        </p:nvSpPr>
        <p:spPr>
          <a:xfrm>
            <a:off x="666748" y="4610088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742948" y="4686288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828673" y="4610088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81" name="Shape 74"/>
          <p:cNvSpPr/>
          <p:nvPr/>
        </p:nvSpPr>
        <p:spPr>
          <a:xfrm>
            <a:off x="1360167" y="4610088"/>
            <a:ext cx="539114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5"/>
          <p:cNvSpPr/>
          <p:nvPr/>
        </p:nvSpPr>
        <p:spPr>
          <a:xfrm>
            <a:off x="1436366" y="4686288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83" name="Text 76"/>
          <p:cNvSpPr txBox="1"/>
          <p:nvPr/>
        </p:nvSpPr>
        <p:spPr>
          <a:xfrm>
            <a:off x="1522091" y="4610088"/>
            <a:ext cx="34861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84" name="Shape 77"/>
          <p:cNvSpPr/>
          <p:nvPr/>
        </p:nvSpPr>
        <p:spPr>
          <a:xfrm>
            <a:off x="1956430" y="4610088"/>
            <a:ext cx="7848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5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3105" y="4662476"/>
            <a:ext cx="104775" cy="104775"/>
          </a:xfrm>
          <a:prstGeom prst="rect">
            <a:avLst/>
          </a:prstGeom>
        </p:spPr>
      </p:pic>
      <p:sp>
        <p:nvSpPr>
          <p:cNvPr id="86" name="Text 78"/>
          <p:cNvSpPr txBox="1"/>
          <p:nvPr/>
        </p:nvSpPr>
        <p:spPr>
          <a:xfrm>
            <a:off x="2146930" y="4610088"/>
            <a:ext cx="57530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87" name="Shape 79"/>
          <p:cNvSpPr/>
          <p:nvPr/>
        </p:nvSpPr>
        <p:spPr>
          <a:xfrm>
            <a:off x="2798438" y="4610088"/>
            <a:ext cx="4419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Shape 80"/>
          <p:cNvSpPr/>
          <p:nvPr/>
        </p:nvSpPr>
        <p:spPr>
          <a:xfrm>
            <a:off x="2874638" y="4686288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2960363" y="4610088"/>
            <a:ext cx="2514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90" name="Shape 82"/>
          <p:cNvSpPr/>
          <p:nvPr/>
        </p:nvSpPr>
        <p:spPr>
          <a:xfrm>
            <a:off x="3297547" y="4610088"/>
            <a:ext cx="539114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Shape 83"/>
          <p:cNvSpPr/>
          <p:nvPr/>
        </p:nvSpPr>
        <p:spPr>
          <a:xfrm>
            <a:off x="3373747" y="4686288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3459471" y="4610088"/>
            <a:ext cx="34861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93" name="Shape 85"/>
          <p:cNvSpPr/>
          <p:nvPr/>
        </p:nvSpPr>
        <p:spPr>
          <a:xfrm>
            <a:off x="666748" y="4876788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Shape 86"/>
          <p:cNvSpPr/>
          <p:nvPr/>
        </p:nvSpPr>
        <p:spPr>
          <a:xfrm>
            <a:off x="742948" y="4952988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828673" y="4876788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96" name="Text 88"/>
          <p:cNvSpPr txBox="1"/>
          <p:nvPr/>
        </p:nvSpPr>
        <p:spPr>
          <a:xfrm>
            <a:off x="685798" y="5162537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리포트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대시보드 · 목표 현황 · 실시간 현황 · 소재/키워드 분석</a:t>
            </a:r>
            <a:endParaRPr lang="en-US" sz="800" dirty="0"/>
          </a:p>
        </p:txBody>
      </p:sp>
      <p:sp>
        <p:nvSpPr>
          <p:cNvPr id="97" name="Text 89"/>
          <p:cNvSpPr txBox="1"/>
          <p:nvPr/>
        </p:nvSpPr>
        <p:spPr>
          <a:xfrm>
            <a:off x="533399" y="5295887"/>
            <a:ext cx="3581391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실제 캡처(캡처 시점 수치 · 광고주명·금액 마스킹) · 채널별 연동 범위와 집계 주기 상이 · 판매 매출과 광고 기여 성과 구분</a:t>
            </a:r>
            <a:endParaRPr lang="en-US" sz="650" dirty="0"/>
          </a:p>
        </p:txBody>
      </p:sp>
      <p:sp>
        <p:nvSpPr>
          <p:cNvPr id="98" name="Shape 90"/>
          <p:cNvSpPr/>
          <p:nvPr/>
        </p:nvSpPr>
        <p:spPr>
          <a:xfrm>
            <a:off x="4419589" y="1409696"/>
            <a:ext cx="5181587" cy="3149910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99" name="Image 6" descr="/home/user/mplanit/ai-solution/assets/png/adreport-dashboar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8639" y="1428746"/>
            <a:ext cx="5143487" cy="3111810"/>
          </a:xfrm>
          <a:prstGeom prst="rect">
            <a:avLst/>
          </a:prstGeom>
        </p:spPr>
      </p:pic>
      <p:sp>
        <p:nvSpPr>
          <p:cNvPr id="100" name="Shape 91"/>
          <p:cNvSpPr/>
          <p:nvPr/>
        </p:nvSpPr>
        <p:spPr>
          <a:xfrm>
            <a:off x="4438639" y="4378632"/>
            <a:ext cx="207454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1" name="Text 92"/>
          <p:cNvSpPr txBox="1"/>
          <p:nvPr/>
        </p:nvSpPr>
        <p:spPr>
          <a:xfrm>
            <a:off x="4486264" y="4378632"/>
            <a:ext cx="20745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통합 대시보드 — 매체군별 성과 · 목표 진척</a:t>
            </a:r>
            <a:endParaRPr lang="en-US" sz="750" dirty="0"/>
          </a:p>
        </p:txBody>
      </p:sp>
      <p:sp>
        <p:nvSpPr>
          <p:cNvPr id="102" name="Shape 93"/>
          <p:cNvSpPr/>
          <p:nvPr/>
        </p:nvSpPr>
        <p:spPr>
          <a:xfrm>
            <a:off x="7277082" y="3428991"/>
            <a:ext cx="4248139" cy="1879992"/>
          </a:xfrm>
          <a:prstGeom prst="roundRect">
            <a:avLst>
              <a:gd name="adj" fmla="val 291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103" name="Image 7" descr="/home/user/mplanit/ai-solution/assets/png/adreport-go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132" y="3448041"/>
            <a:ext cx="4210039" cy="1841892"/>
          </a:xfrm>
          <a:prstGeom prst="rect">
            <a:avLst/>
          </a:prstGeom>
        </p:spPr>
      </p:pic>
      <p:sp>
        <p:nvSpPr>
          <p:cNvPr id="104" name="Shape 94"/>
          <p:cNvSpPr/>
          <p:nvPr/>
        </p:nvSpPr>
        <p:spPr>
          <a:xfrm>
            <a:off x="7296132" y="5128009"/>
            <a:ext cx="1722116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5" name="Text 95"/>
          <p:cNvSpPr txBox="1"/>
          <p:nvPr/>
        </p:nvSpPr>
        <p:spPr>
          <a:xfrm>
            <a:off x="7343757" y="5128009"/>
            <a:ext cx="1722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목표 현황 — 매체별 목표 대비 실적</a:t>
            </a:r>
            <a:endParaRPr lang="en-US" sz="750" dirty="0"/>
          </a:p>
        </p:txBody>
      </p:sp>
      <p:sp>
        <p:nvSpPr>
          <p:cNvPr id="106" name="Shape 9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7" name="Text 9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Similarweb AI Search Stats 2026 · OpenAI(2026.07) · 크몽 숏폼 단가 가이드 · 엠플랜잇 운영 자료(2026.09)</a:t>
            </a:r>
            <a:endParaRPr lang="en-US" sz="800" dirty="0"/>
          </a:p>
        </p:txBody>
      </p:sp>
      <p:sp>
        <p:nvSpPr>
          <p:cNvPr id="108" name="Text 9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07 / 09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TECH BASE · 데이터 인프라 (AI 솔루션 아님)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· 대량 리포트, 그리고 그 아래 인프라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매체·마켓·전환 데이터를 한 기준으로 모으는 수집·정규화·집계 구조 — 엠플랜잇 자체 구축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Solution · Data Infra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검색광고 자동입찰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목표 기반 입찰 조정 · 시간대 규칙 · 예산 제어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일괄 수집 · 키워드 단위 추출 · 자동 발송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데이터 분석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· 매출 · 전환을 단일 지표 체계로 결합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인프라 구성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· 정규화 · 적재 · 권한 분리 직접 설계·운영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148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581514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솔루션이 올라서는 바닥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7624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데이터를 모으고 맞추는 인프라가 엠플랜잇의 기술 기반입니다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533399" y="5029187"/>
            <a:ext cx="3581391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기능이 아닌 운영 자동화·데이터 기술 영역 · 기능 범위·오픈 일정 내부 확정 후 갱신</a:t>
            </a:r>
            <a:endParaRPr lang="en-US" sz="6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공식 Solution 페이지는 M Ai Platform · MARS로 소개 — MI 명칭·자동입찰은 사내 정보 기준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4438639" y="1447796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91039" y="1562096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파이프라인 — 수집에서 판단까지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9103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103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수집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59103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14 · 마켓 7 API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6219809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315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5315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정규화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35315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매체·채널 기준 통일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7981930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1528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1528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적재 · 집계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11528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일/캠페인/키워드/SKU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9744051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7740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87740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활용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87740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· 입찰 · ROAS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438639" y="2628893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91039" y="2743193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— 목표 기반 반복 조정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91039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91039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목표 설정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4591039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순위 · 예산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6219809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353159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53159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현황 수집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353159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· 노출 · 비용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7981930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115280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15280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입찰 조정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8115280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규칙 기반 자동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9744051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877400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877400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9877400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변경 이력 · 성과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4438639" y="3809990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91039" y="3924290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 — 계정 수와 무관한 산출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39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591039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다계정 수집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4591039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N · 매체별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6807183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940533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940533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집계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6940533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· 캠페인 단위</a:t>
            </a:r>
            <a:endParaRPr lang="en-US" sz="700" dirty="0"/>
          </a:p>
        </p:txBody>
      </p:sp>
      <p:sp>
        <p:nvSpPr>
          <p:cNvPr id="74" name="Text 72"/>
          <p:cNvSpPr txBox="1"/>
          <p:nvPr/>
        </p:nvSpPr>
        <p:spPr>
          <a:xfrm>
            <a:off x="9156677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290027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290027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 발송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9290027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정기 리포트 · 파일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533399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66748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외부 툴 구독 대체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인프라 운영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286239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19589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단절 없음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애드리포트·커머스허브와 같은 기준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8039080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172430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확장 기반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계층만 추가하면 전 솔루션 반영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솔루션 · 데이터 인프라 · 엠플랜잇 자체 기술</a:t>
            </a:r>
            <a:endParaRPr lang="en-US" sz="800" dirty="0"/>
          </a:p>
        </p:txBody>
      </p:sp>
      <p:sp>
        <p:nvSpPr>
          <p:cNvPr id="86" name="Text 84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08 / 09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APPENDIX · 근거와 표기 기준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제공 범위와 표기 기준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과장 없이, 확인된 것만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장표에 쓴 화면·수치·명칭의 출처와, 오해를 막기 위한 표기 원칙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2026.09 기준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47796"/>
            <a:ext cx="5372087" cy="3390892"/>
          </a:xfrm>
          <a:prstGeom prst="roundRect">
            <a:avLst>
              <a:gd name="adj" fmla="val 1348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848" y="1600196"/>
            <a:ext cx="5029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자료 근거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4848" y="1809745"/>
            <a:ext cx="50291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 장표에 쓰인 화면과 수치의 출처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04848" y="2057395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제품 화면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솔루션 소개 PPTX(배너핏 3장 · 릴스 스튜디오 4장 · GEO 2장), AD_report 화면 4종, 커머스허브 캡처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04848" y="2457444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사양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카카오쇼핑 API 서비스소개서(판매 채널 7 · 광고 매체 14 · 수집 주기)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04848" y="2857493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기준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최적화 GEO 가이드(AX본부): 점수 해석 · 3대 리스크 · 개선 우선순위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04848" y="3257542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제공 정보(네이버 자동입찰 · 대량 통합 리포트). 공식 Solution 페이지는 M Ai Platform · MARS로 소개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04848" y="3657591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시장 수치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OpenAI(2026.07) · Similarweb AI Search Stats 2026 · 국내 광고업계 보도 · 크몽 숏폼 단가 가이드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04848" y="4057640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공개 프로젝트 · 파트너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공식 홈페이지 공개 기준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86484" y="1447796"/>
            <a:ext cx="5372087" cy="3390892"/>
          </a:xfrm>
          <a:prstGeom prst="roundRect">
            <a:avLst>
              <a:gd name="adj" fmla="val 1348"/>
            </a:avLst>
          </a:prstGeom>
          <a:solidFill>
            <a:srgbClr val="FFFBF5"/>
          </a:solidFill>
          <a:ln w="9525">
            <a:solidFill>
              <a:srgbClr val="F0E2C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57934" y="1600196"/>
            <a:ext cx="5029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표기 기준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57934" y="1809745"/>
            <a:ext cx="50291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제안·설명 시 지켜야 할 범위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457934" y="2057395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전체 구조도는 서비스 포트폴리오입니다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솔루션 간 자동 통합 아키텍처를 뜻하지 않습니다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457934" y="2457444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점수는 자체 진단 기준입니다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노출·인용률이나 검색순위가 아닙니다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457934" y="2857493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 수치는 캡처 시점 데이터이며 광고주명·금액은 마스킹했습니다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현재 성과가 아닙니다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457934" y="3257542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채널·매체별 연동 범위와 집계 주기가 다릅니다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매출과 광고 기여 성과는 구분합니다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457934" y="3657591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카카오쇼핑(톡스토어)은 연동 승인 대기 상태입니다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457934" y="4057640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기능 범위·오픈 일정, 소상공인용 상품은 확정 전입니다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도입 상담에서 확정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457934" y="4457689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프로젝트 수행 경험과 AI 솔루션 도입 실적은 별개입니다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33399" y="4972038"/>
            <a:ext cx="3638541" cy="342899"/>
          </a:xfrm>
          <a:prstGeom prst="roundRect">
            <a:avLst>
              <a:gd name="adj" fmla="val 16000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6748" y="4972038"/>
            <a:ext cx="33718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주간 10억 명  </a:t>
            </a:r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주간 활성 이용자(OpenAI, 2026.07)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86239" y="4972038"/>
            <a:ext cx="3638541" cy="342899"/>
          </a:xfrm>
          <a:prstGeom prst="roundRect">
            <a:avLst>
              <a:gd name="adj" fmla="val 16000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419589" y="4972038"/>
            <a:ext cx="33718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약 40%  </a:t>
            </a:r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2026년 AI 제작 디지털 광고 비중 전망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039080" y="4972038"/>
            <a:ext cx="3638541" cy="342899"/>
          </a:xfrm>
          <a:prstGeom prst="roundRect">
            <a:avLst>
              <a:gd name="adj" fmla="val 16000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2430" y="4972038"/>
            <a:ext cx="33718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0.8~1.3%  </a:t>
            </a:r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클릭률(구글 약 29%) — Similarweb 2026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533399" y="5429236"/>
            <a:ext cx="11125172" cy="552449"/>
          </a:xfrm>
          <a:prstGeom prst="roundRect">
            <a:avLst>
              <a:gd name="adj" fmla="val 8276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23898" y="5524486"/>
            <a:ext cx="666748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기능·연동·운영 범위는 도입 상담에서 확정합니다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23898" y="5734036"/>
            <a:ext cx="66674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DEE7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기술을 고르고, 브랜드에 맞추고, 실행을 돕습니다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143977" y="5543536"/>
            <a:ext cx="2324094" cy="323849"/>
          </a:xfrm>
          <a:prstGeom prst="roundRect">
            <a:avLst>
              <a:gd name="adj" fmla="val 28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3977" y="5543536"/>
            <a:ext cx="2324094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mplanit@mplanit.co.kr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Appendix · 근거와 표기 기준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09 / 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Mplanit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엠플랜잇 AI 솔루션 소개서</dc:title>
  <dc:subject>PptxGenJS Presentation</dc:subject>
  <dc:creator>Mplanit AIU</dc:creator>
  <cp:lastModifiedBy>Mplanit AIU</cp:lastModifiedBy>
  <cp:revision>1</cp:revision>
  <dcterms:created xsi:type="dcterms:W3CDTF">2026-09-20T15:45:38Z</dcterms:created>
  <dcterms:modified xsi:type="dcterms:W3CDTF">2026-09-20T15:45:38Z</dcterms:modified>
</cp:coreProperties>
</file>